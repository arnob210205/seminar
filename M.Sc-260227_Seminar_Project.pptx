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8" r:id="rId4"/>
    <p:sldId id="258" r:id="rId5"/>
    <p:sldId id="270" r:id="rId6"/>
    <p:sldId id="259" r:id="rId7"/>
    <p:sldId id="272" r:id="rId8"/>
    <p:sldId id="273" r:id="rId9"/>
    <p:sldId id="274" r:id="rId10"/>
    <p:sldId id="261" r:id="rId11"/>
    <p:sldId id="275" r:id="rId12"/>
    <p:sldId id="260" r:id="rId13"/>
    <p:sldId id="262" r:id="rId14"/>
    <p:sldId id="276" r:id="rId15"/>
    <p:sldId id="278" r:id="rId16"/>
    <p:sldId id="279" r:id="rId17"/>
    <p:sldId id="265" r:id="rId18"/>
    <p:sldId id="263" r:id="rId19"/>
    <p:sldId id="271" r:id="rId20"/>
    <p:sldId id="266" r:id="rId21"/>
    <p:sldId id="269" r:id="rId22"/>
    <p:sldId id="267" r:id="rId23"/>
  </p:sldIdLst>
  <p:sldSz cx="18288000" cy="10287000"/>
  <p:notesSz cx="6858000" cy="9144000"/>
  <p:embeddedFontLst>
    <p:embeddedFont>
      <p:font typeface="Vrinda" panose="020B0502040204020203" pitchFamily="34" charset="0"/>
      <p:regular r:id="rId24"/>
      <p:bold r:id="rId25"/>
    </p:embeddedFont>
    <p:embeddedFont>
      <p:font typeface="Cambria" panose="02040503050406030204" pitchFamily="18" charset="0"/>
      <p:regular r:id="rId26"/>
      <p:bold r:id="rId27"/>
      <p:italic r:id="rId28"/>
      <p:boldItalic r:id="rId29"/>
    </p:embeddedFont>
    <p:embeddedFont>
      <p:font typeface="Calibri" panose="020F0502020204030204" pitchFamily="34" charset="0"/>
      <p:regular r:id="rId30"/>
      <p:bold r:id="rId31"/>
      <p:italic r:id="rId32"/>
      <p:boldItalic r:id="rId33"/>
    </p:embeddedFont>
    <p:embeddedFont>
      <p:font typeface="Neo Tech Bold" panose="020B0604020202020204" charset="0"/>
      <p:regular r:id="rId34"/>
    </p:embeddedFont>
    <p:embeddedFont>
      <p:font typeface="Neo Tech" panose="020B0604020202020204"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F3FE"/>
    <a:srgbClr val="03D7ED"/>
    <a:srgbClr val="D4F2FC"/>
    <a:srgbClr val="20BB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2" d="100"/>
          <a:sy n="42" d="100"/>
        </p:scale>
        <p:origin x="78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1D80FC-D442-44E2-89CD-A45412B6B37F}" type="doc">
      <dgm:prSet loTypeId="urn:microsoft.com/office/officeart/2005/8/layout/cycle2" loCatId="cycle" qsTypeId="urn:microsoft.com/office/officeart/2005/8/quickstyle/simple1" qsCatId="simple" csTypeId="urn:microsoft.com/office/officeart/2005/8/colors/accent0_3" csCatId="mainScheme" phldr="1"/>
      <dgm:spPr/>
      <dgm:t>
        <a:bodyPr/>
        <a:lstStyle/>
        <a:p>
          <a:endParaRPr lang="en-US"/>
        </a:p>
      </dgm:t>
    </dgm:pt>
    <dgm:pt modelId="{B4237E20-88E3-4B36-BCA2-6B4F981DF58C}">
      <dgm:prSet phldrT="[Text]" custT="1"/>
      <dgm:spPr>
        <a:solidFill>
          <a:schemeClr val="tx2"/>
        </a:solidFill>
      </dgm:spPr>
      <dgm:t>
        <a:bodyPr/>
        <a:lstStyle/>
        <a:p>
          <a:pPr>
            <a:lnSpc>
              <a:spcPct val="100000"/>
            </a:lnSpc>
          </a:pPr>
          <a:r>
            <a:rPr lang="en-US" sz="1800" b="1" dirty="0" smtClean="0">
              <a:latin typeface="Times New Roman" panose="02020603050405020304" pitchFamily="18" charset="0"/>
              <a:cs typeface="Times New Roman" panose="02020603050405020304" pitchFamily="18" charset="0"/>
            </a:rPr>
            <a:t>Support Vector Machine</a:t>
          </a:r>
          <a:endParaRPr lang="en-US" sz="1800" b="1" dirty="0">
            <a:latin typeface="Times New Roman" panose="02020603050405020304" pitchFamily="18" charset="0"/>
            <a:cs typeface="Times New Roman" panose="02020603050405020304" pitchFamily="18" charset="0"/>
          </a:endParaRPr>
        </a:p>
      </dgm:t>
    </dgm:pt>
    <dgm:pt modelId="{2080579E-7AA8-403D-B150-E86F6CF1F279}" type="parTrans" cxnId="{9B77620F-F977-445E-83AD-C6BFE13187ED}">
      <dgm:prSet/>
      <dgm:spPr/>
      <dgm:t>
        <a:bodyPr/>
        <a:lstStyle/>
        <a:p>
          <a:endParaRPr lang="en-US"/>
        </a:p>
      </dgm:t>
    </dgm:pt>
    <dgm:pt modelId="{5DF660C3-0E4F-4F9E-BEAC-89354C9469BC}" type="sibTrans" cxnId="{9B77620F-F977-445E-83AD-C6BFE13187ED}">
      <dgm:prSet/>
      <dgm:spPr>
        <a:ln>
          <a:solidFill>
            <a:schemeClr val="tx1"/>
          </a:solidFill>
        </a:ln>
      </dgm:spPr>
      <dgm:t>
        <a:bodyPr/>
        <a:lstStyle/>
        <a:p>
          <a:endParaRPr lang="en-US"/>
        </a:p>
      </dgm:t>
    </dgm:pt>
    <dgm:pt modelId="{9B2D1002-0B41-4FCB-8EB2-3E19CA864F06}">
      <dgm:prSet phldrT="[Text]" custT="1"/>
      <dgm:spPr>
        <a:solidFill>
          <a:schemeClr val="tx2"/>
        </a:solidFill>
      </dgm:spPr>
      <dgm:t>
        <a:bodyPr/>
        <a:lstStyle/>
        <a:p>
          <a:r>
            <a:rPr lang="en-US" sz="1900" b="1" dirty="0" smtClean="0">
              <a:latin typeface="Times New Roman" panose="02020603050405020304" pitchFamily="18" charset="0"/>
              <a:cs typeface="Times New Roman" panose="02020603050405020304" pitchFamily="18" charset="0"/>
            </a:rPr>
            <a:t>Random Forest</a:t>
          </a:r>
          <a:endParaRPr lang="en-US" sz="1900" b="1" dirty="0">
            <a:latin typeface="Times New Roman" panose="02020603050405020304" pitchFamily="18" charset="0"/>
            <a:cs typeface="Times New Roman" panose="02020603050405020304" pitchFamily="18" charset="0"/>
          </a:endParaRPr>
        </a:p>
      </dgm:t>
    </dgm:pt>
    <dgm:pt modelId="{D09B2CDC-22A8-4F76-8011-1656A1C97146}" type="parTrans" cxnId="{2F276660-EBA5-4164-AF72-6E148ED08F26}">
      <dgm:prSet/>
      <dgm:spPr/>
      <dgm:t>
        <a:bodyPr/>
        <a:lstStyle/>
        <a:p>
          <a:endParaRPr lang="en-US"/>
        </a:p>
      </dgm:t>
    </dgm:pt>
    <dgm:pt modelId="{6995BF93-1B46-41C2-98DA-EBBDB8585C6D}" type="sibTrans" cxnId="{2F276660-EBA5-4164-AF72-6E148ED08F26}">
      <dgm:prSet/>
      <dgm:spPr>
        <a:ln>
          <a:solidFill>
            <a:schemeClr val="tx1"/>
          </a:solidFill>
        </a:ln>
      </dgm:spPr>
      <dgm:t>
        <a:bodyPr/>
        <a:lstStyle/>
        <a:p>
          <a:endParaRPr lang="en-US" dirty="0"/>
        </a:p>
      </dgm:t>
    </dgm:pt>
    <dgm:pt modelId="{E4AF78A9-E2F4-4BBA-8AC7-B3FA357F21E3}">
      <dgm:prSet phldrT="[Text]" custT="1"/>
      <dgm:spPr>
        <a:solidFill>
          <a:schemeClr val="tx2"/>
        </a:solidFill>
      </dgm:spPr>
      <dgm:t>
        <a:bodyPr/>
        <a:lstStyle/>
        <a:p>
          <a:r>
            <a:rPr lang="en-US" sz="1800" b="1" dirty="0" smtClean="0">
              <a:latin typeface="Times New Roman" panose="02020603050405020304" pitchFamily="18" charset="0"/>
              <a:cs typeface="Times New Roman" panose="02020603050405020304" pitchFamily="18" charset="0"/>
            </a:rPr>
            <a:t>Naive Bayes</a:t>
          </a:r>
          <a:endParaRPr lang="en-US" sz="1800" b="1" dirty="0">
            <a:latin typeface="Times New Roman" panose="02020603050405020304" pitchFamily="18" charset="0"/>
            <a:cs typeface="Times New Roman" panose="02020603050405020304" pitchFamily="18" charset="0"/>
          </a:endParaRPr>
        </a:p>
      </dgm:t>
    </dgm:pt>
    <dgm:pt modelId="{4D4A4B0B-8981-476F-809F-CFF06228AE35}" type="parTrans" cxnId="{E105DC93-2C19-4F1F-AD21-163FC8DFC979}">
      <dgm:prSet/>
      <dgm:spPr/>
      <dgm:t>
        <a:bodyPr/>
        <a:lstStyle/>
        <a:p>
          <a:endParaRPr lang="en-US"/>
        </a:p>
      </dgm:t>
    </dgm:pt>
    <dgm:pt modelId="{F056CA32-138E-4E46-B9A8-D47A21C4990E}" type="sibTrans" cxnId="{E105DC93-2C19-4F1F-AD21-163FC8DFC979}">
      <dgm:prSet/>
      <dgm:spPr>
        <a:ln>
          <a:solidFill>
            <a:schemeClr val="tx1"/>
          </a:solidFill>
        </a:ln>
      </dgm:spPr>
      <dgm:t>
        <a:bodyPr/>
        <a:lstStyle/>
        <a:p>
          <a:endParaRPr lang="en-US"/>
        </a:p>
      </dgm:t>
    </dgm:pt>
    <dgm:pt modelId="{FA77A5BD-C041-4874-AECC-D12E91613E2B}">
      <dgm:prSet phldrT="[Text]" custT="1"/>
      <dgm:spPr>
        <a:solidFill>
          <a:schemeClr val="tx2"/>
        </a:solidFill>
      </dgm:spPr>
      <dgm:t>
        <a:bodyPr/>
        <a:lstStyle/>
        <a:p>
          <a:r>
            <a:rPr lang="en-US" sz="1800" b="1" dirty="0" smtClean="0">
              <a:latin typeface="Times New Roman" panose="02020603050405020304" pitchFamily="18" charset="0"/>
              <a:cs typeface="Times New Roman" panose="02020603050405020304" pitchFamily="18" charset="0"/>
            </a:rPr>
            <a:t>Decision Tree</a:t>
          </a:r>
          <a:endParaRPr lang="en-US" sz="1800" b="1" dirty="0">
            <a:latin typeface="Times New Roman" panose="02020603050405020304" pitchFamily="18" charset="0"/>
            <a:cs typeface="Times New Roman" panose="02020603050405020304" pitchFamily="18" charset="0"/>
          </a:endParaRPr>
        </a:p>
      </dgm:t>
    </dgm:pt>
    <dgm:pt modelId="{C8A9A591-80B5-4657-AC7B-180E856CFB08}" type="parTrans" cxnId="{F335FF03-6428-40EF-BDBD-6D141A544838}">
      <dgm:prSet/>
      <dgm:spPr/>
      <dgm:t>
        <a:bodyPr/>
        <a:lstStyle/>
        <a:p>
          <a:endParaRPr lang="en-US"/>
        </a:p>
      </dgm:t>
    </dgm:pt>
    <dgm:pt modelId="{F27F6D3F-71BF-4ED3-A939-1AE919F0730B}" type="sibTrans" cxnId="{F335FF03-6428-40EF-BDBD-6D141A544838}">
      <dgm:prSet/>
      <dgm:spPr>
        <a:ln>
          <a:solidFill>
            <a:schemeClr val="tx1"/>
          </a:solidFill>
        </a:ln>
      </dgm:spPr>
      <dgm:t>
        <a:bodyPr/>
        <a:lstStyle/>
        <a:p>
          <a:endParaRPr lang="en-US"/>
        </a:p>
      </dgm:t>
    </dgm:pt>
    <dgm:pt modelId="{A8E34314-4449-40B9-8204-8A6D1B786B22}" type="pres">
      <dgm:prSet presAssocID="{871D80FC-D442-44E2-89CD-A45412B6B37F}" presName="cycle" presStyleCnt="0">
        <dgm:presLayoutVars>
          <dgm:dir/>
          <dgm:resizeHandles val="exact"/>
        </dgm:presLayoutVars>
      </dgm:prSet>
      <dgm:spPr/>
      <dgm:t>
        <a:bodyPr/>
        <a:lstStyle/>
        <a:p>
          <a:endParaRPr lang="en-US"/>
        </a:p>
      </dgm:t>
    </dgm:pt>
    <dgm:pt modelId="{CB5CC5A8-F120-4411-9808-8541104A55B9}" type="pres">
      <dgm:prSet presAssocID="{B4237E20-88E3-4B36-BCA2-6B4F981DF58C}" presName="node" presStyleLbl="node1" presStyleIdx="0" presStyleCnt="4" custRadScaleRad="99235" custRadScaleInc="823">
        <dgm:presLayoutVars>
          <dgm:bulletEnabled val="1"/>
        </dgm:presLayoutVars>
      </dgm:prSet>
      <dgm:spPr/>
      <dgm:t>
        <a:bodyPr/>
        <a:lstStyle/>
        <a:p>
          <a:endParaRPr lang="en-US"/>
        </a:p>
      </dgm:t>
    </dgm:pt>
    <dgm:pt modelId="{3A7EADD0-3341-4830-B4FC-11F694D0EE03}" type="pres">
      <dgm:prSet presAssocID="{5DF660C3-0E4F-4F9E-BEAC-89354C9469BC}" presName="sibTrans" presStyleLbl="sibTrans2D1" presStyleIdx="0" presStyleCnt="4"/>
      <dgm:spPr/>
      <dgm:t>
        <a:bodyPr/>
        <a:lstStyle/>
        <a:p>
          <a:endParaRPr lang="en-US"/>
        </a:p>
      </dgm:t>
    </dgm:pt>
    <dgm:pt modelId="{2E9B98EC-E0D3-4B76-A154-46859EACFE95}" type="pres">
      <dgm:prSet presAssocID="{5DF660C3-0E4F-4F9E-BEAC-89354C9469BC}" presName="connectorText" presStyleLbl="sibTrans2D1" presStyleIdx="0" presStyleCnt="4"/>
      <dgm:spPr/>
      <dgm:t>
        <a:bodyPr/>
        <a:lstStyle/>
        <a:p>
          <a:endParaRPr lang="en-US"/>
        </a:p>
      </dgm:t>
    </dgm:pt>
    <dgm:pt modelId="{03E37C0A-9CC8-48A3-BE2C-7E46EFE02C16}" type="pres">
      <dgm:prSet presAssocID="{9B2D1002-0B41-4FCB-8EB2-3E19CA864F06}" presName="node" presStyleLbl="node1" presStyleIdx="1" presStyleCnt="4">
        <dgm:presLayoutVars>
          <dgm:bulletEnabled val="1"/>
        </dgm:presLayoutVars>
      </dgm:prSet>
      <dgm:spPr/>
      <dgm:t>
        <a:bodyPr/>
        <a:lstStyle/>
        <a:p>
          <a:endParaRPr lang="en-US"/>
        </a:p>
      </dgm:t>
    </dgm:pt>
    <dgm:pt modelId="{B3B3EC23-15E1-49C5-BD32-5E1FE16CDAAB}" type="pres">
      <dgm:prSet presAssocID="{6995BF93-1B46-41C2-98DA-EBBDB8585C6D}" presName="sibTrans" presStyleLbl="sibTrans2D1" presStyleIdx="1" presStyleCnt="4"/>
      <dgm:spPr/>
      <dgm:t>
        <a:bodyPr/>
        <a:lstStyle/>
        <a:p>
          <a:endParaRPr lang="en-US"/>
        </a:p>
      </dgm:t>
    </dgm:pt>
    <dgm:pt modelId="{9EF187E9-2481-40A1-92C7-B7051369AB23}" type="pres">
      <dgm:prSet presAssocID="{6995BF93-1B46-41C2-98DA-EBBDB8585C6D}" presName="connectorText" presStyleLbl="sibTrans2D1" presStyleIdx="1" presStyleCnt="4"/>
      <dgm:spPr/>
      <dgm:t>
        <a:bodyPr/>
        <a:lstStyle/>
        <a:p>
          <a:endParaRPr lang="en-US"/>
        </a:p>
      </dgm:t>
    </dgm:pt>
    <dgm:pt modelId="{5273305D-291F-43FD-A150-CADA7EEE5C11}" type="pres">
      <dgm:prSet presAssocID="{E4AF78A9-E2F4-4BBA-8AC7-B3FA357F21E3}" presName="node" presStyleLbl="node1" presStyleIdx="2" presStyleCnt="4">
        <dgm:presLayoutVars>
          <dgm:bulletEnabled val="1"/>
        </dgm:presLayoutVars>
      </dgm:prSet>
      <dgm:spPr/>
      <dgm:t>
        <a:bodyPr/>
        <a:lstStyle/>
        <a:p>
          <a:endParaRPr lang="en-US"/>
        </a:p>
      </dgm:t>
    </dgm:pt>
    <dgm:pt modelId="{EFC1EDEE-380F-4076-9A73-CBF56456FDD0}" type="pres">
      <dgm:prSet presAssocID="{F056CA32-138E-4E46-B9A8-D47A21C4990E}" presName="sibTrans" presStyleLbl="sibTrans2D1" presStyleIdx="2" presStyleCnt="4"/>
      <dgm:spPr/>
      <dgm:t>
        <a:bodyPr/>
        <a:lstStyle/>
        <a:p>
          <a:endParaRPr lang="en-US"/>
        </a:p>
      </dgm:t>
    </dgm:pt>
    <dgm:pt modelId="{39BAB9AB-C70E-4BFE-85C9-9B8F8879DA3C}" type="pres">
      <dgm:prSet presAssocID="{F056CA32-138E-4E46-B9A8-D47A21C4990E}" presName="connectorText" presStyleLbl="sibTrans2D1" presStyleIdx="2" presStyleCnt="4"/>
      <dgm:spPr/>
      <dgm:t>
        <a:bodyPr/>
        <a:lstStyle/>
        <a:p>
          <a:endParaRPr lang="en-US"/>
        </a:p>
      </dgm:t>
    </dgm:pt>
    <dgm:pt modelId="{96A14AB9-F25A-4AAE-B8DD-F6B6661A3094}" type="pres">
      <dgm:prSet presAssocID="{FA77A5BD-C041-4874-AECC-D12E91613E2B}" presName="node" presStyleLbl="node1" presStyleIdx="3" presStyleCnt="4">
        <dgm:presLayoutVars>
          <dgm:bulletEnabled val="1"/>
        </dgm:presLayoutVars>
      </dgm:prSet>
      <dgm:spPr/>
      <dgm:t>
        <a:bodyPr/>
        <a:lstStyle/>
        <a:p>
          <a:endParaRPr lang="en-US"/>
        </a:p>
      </dgm:t>
    </dgm:pt>
    <dgm:pt modelId="{874EBCC2-FD1E-4D71-A7FC-81851DACC160}" type="pres">
      <dgm:prSet presAssocID="{F27F6D3F-71BF-4ED3-A939-1AE919F0730B}" presName="sibTrans" presStyleLbl="sibTrans2D1" presStyleIdx="3" presStyleCnt="4" custLinFactNeighborX="0" custLinFactNeighborY="0"/>
      <dgm:spPr/>
      <dgm:t>
        <a:bodyPr/>
        <a:lstStyle/>
        <a:p>
          <a:endParaRPr lang="en-US"/>
        </a:p>
      </dgm:t>
    </dgm:pt>
    <dgm:pt modelId="{A5DC0779-DDBB-4076-B067-028AD2F74B34}" type="pres">
      <dgm:prSet presAssocID="{F27F6D3F-71BF-4ED3-A939-1AE919F0730B}" presName="connectorText" presStyleLbl="sibTrans2D1" presStyleIdx="3" presStyleCnt="4"/>
      <dgm:spPr/>
      <dgm:t>
        <a:bodyPr/>
        <a:lstStyle/>
        <a:p>
          <a:endParaRPr lang="en-US"/>
        </a:p>
      </dgm:t>
    </dgm:pt>
  </dgm:ptLst>
  <dgm:cxnLst>
    <dgm:cxn modelId="{9B77620F-F977-445E-83AD-C6BFE13187ED}" srcId="{871D80FC-D442-44E2-89CD-A45412B6B37F}" destId="{B4237E20-88E3-4B36-BCA2-6B4F981DF58C}" srcOrd="0" destOrd="0" parTransId="{2080579E-7AA8-403D-B150-E86F6CF1F279}" sibTransId="{5DF660C3-0E4F-4F9E-BEAC-89354C9469BC}"/>
    <dgm:cxn modelId="{C387633B-EC77-4585-B967-72D583ED4FFB}" type="presOf" srcId="{B4237E20-88E3-4B36-BCA2-6B4F981DF58C}" destId="{CB5CC5A8-F120-4411-9808-8541104A55B9}" srcOrd="0" destOrd="0" presId="urn:microsoft.com/office/officeart/2005/8/layout/cycle2"/>
    <dgm:cxn modelId="{34CE1BA8-4988-456C-AF1E-21997B0C85F0}" type="presOf" srcId="{6995BF93-1B46-41C2-98DA-EBBDB8585C6D}" destId="{B3B3EC23-15E1-49C5-BD32-5E1FE16CDAAB}" srcOrd="0" destOrd="0" presId="urn:microsoft.com/office/officeart/2005/8/layout/cycle2"/>
    <dgm:cxn modelId="{5A50854A-51A9-47EF-820F-702B53268271}" type="presOf" srcId="{FA77A5BD-C041-4874-AECC-D12E91613E2B}" destId="{96A14AB9-F25A-4AAE-B8DD-F6B6661A3094}" srcOrd="0" destOrd="0" presId="urn:microsoft.com/office/officeart/2005/8/layout/cycle2"/>
    <dgm:cxn modelId="{955610F6-EFBA-4846-A623-F36218C8DDF2}" type="presOf" srcId="{F27F6D3F-71BF-4ED3-A939-1AE919F0730B}" destId="{874EBCC2-FD1E-4D71-A7FC-81851DACC160}" srcOrd="0" destOrd="0" presId="urn:microsoft.com/office/officeart/2005/8/layout/cycle2"/>
    <dgm:cxn modelId="{2F276660-EBA5-4164-AF72-6E148ED08F26}" srcId="{871D80FC-D442-44E2-89CD-A45412B6B37F}" destId="{9B2D1002-0B41-4FCB-8EB2-3E19CA864F06}" srcOrd="1" destOrd="0" parTransId="{D09B2CDC-22A8-4F76-8011-1656A1C97146}" sibTransId="{6995BF93-1B46-41C2-98DA-EBBDB8585C6D}"/>
    <dgm:cxn modelId="{C7330CE4-278A-44E2-814B-D7B239B4A27F}" type="presOf" srcId="{9B2D1002-0B41-4FCB-8EB2-3E19CA864F06}" destId="{03E37C0A-9CC8-48A3-BE2C-7E46EFE02C16}" srcOrd="0" destOrd="0" presId="urn:microsoft.com/office/officeart/2005/8/layout/cycle2"/>
    <dgm:cxn modelId="{C4275D46-5DCB-4A3D-8F0D-968595208C31}" type="presOf" srcId="{871D80FC-D442-44E2-89CD-A45412B6B37F}" destId="{A8E34314-4449-40B9-8204-8A6D1B786B22}" srcOrd="0" destOrd="0" presId="urn:microsoft.com/office/officeart/2005/8/layout/cycle2"/>
    <dgm:cxn modelId="{CCD9A300-3043-493D-9679-A776BF6DEAD2}" type="presOf" srcId="{F056CA32-138E-4E46-B9A8-D47A21C4990E}" destId="{EFC1EDEE-380F-4076-9A73-CBF56456FDD0}" srcOrd="0" destOrd="0" presId="urn:microsoft.com/office/officeart/2005/8/layout/cycle2"/>
    <dgm:cxn modelId="{6CD99A76-6BF7-4975-BA58-87E22CE36871}" type="presOf" srcId="{5DF660C3-0E4F-4F9E-BEAC-89354C9469BC}" destId="{2E9B98EC-E0D3-4B76-A154-46859EACFE95}" srcOrd="1" destOrd="0" presId="urn:microsoft.com/office/officeart/2005/8/layout/cycle2"/>
    <dgm:cxn modelId="{6DC53257-5827-478E-8FE9-AC5AC2704087}" type="presOf" srcId="{F27F6D3F-71BF-4ED3-A939-1AE919F0730B}" destId="{A5DC0779-DDBB-4076-B067-028AD2F74B34}" srcOrd="1" destOrd="0" presId="urn:microsoft.com/office/officeart/2005/8/layout/cycle2"/>
    <dgm:cxn modelId="{E105DC93-2C19-4F1F-AD21-163FC8DFC979}" srcId="{871D80FC-D442-44E2-89CD-A45412B6B37F}" destId="{E4AF78A9-E2F4-4BBA-8AC7-B3FA357F21E3}" srcOrd="2" destOrd="0" parTransId="{4D4A4B0B-8981-476F-809F-CFF06228AE35}" sibTransId="{F056CA32-138E-4E46-B9A8-D47A21C4990E}"/>
    <dgm:cxn modelId="{07BD8722-10A6-4FA5-84EB-B9B9198093C9}" type="presOf" srcId="{E4AF78A9-E2F4-4BBA-8AC7-B3FA357F21E3}" destId="{5273305D-291F-43FD-A150-CADA7EEE5C11}" srcOrd="0" destOrd="0" presId="urn:microsoft.com/office/officeart/2005/8/layout/cycle2"/>
    <dgm:cxn modelId="{DFF67428-6C90-4585-A6C6-D1F14E90FA6A}" type="presOf" srcId="{5DF660C3-0E4F-4F9E-BEAC-89354C9469BC}" destId="{3A7EADD0-3341-4830-B4FC-11F694D0EE03}" srcOrd="0" destOrd="0" presId="urn:microsoft.com/office/officeart/2005/8/layout/cycle2"/>
    <dgm:cxn modelId="{2FB514F8-8E28-425B-AED8-36AE70B23E96}" type="presOf" srcId="{6995BF93-1B46-41C2-98DA-EBBDB8585C6D}" destId="{9EF187E9-2481-40A1-92C7-B7051369AB23}" srcOrd="1" destOrd="0" presId="urn:microsoft.com/office/officeart/2005/8/layout/cycle2"/>
    <dgm:cxn modelId="{F335FF03-6428-40EF-BDBD-6D141A544838}" srcId="{871D80FC-D442-44E2-89CD-A45412B6B37F}" destId="{FA77A5BD-C041-4874-AECC-D12E91613E2B}" srcOrd="3" destOrd="0" parTransId="{C8A9A591-80B5-4657-AC7B-180E856CFB08}" sibTransId="{F27F6D3F-71BF-4ED3-A939-1AE919F0730B}"/>
    <dgm:cxn modelId="{872F4A5D-282E-4737-A612-A405BDE55924}" type="presOf" srcId="{F056CA32-138E-4E46-B9A8-D47A21C4990E}" destId="{39BAB9AB-C70E-4BFE-85C9-9B8F8879DA3C}" srcOrd="1" destOrd="0" presId="urn:microsoft.com/office/officeart/2005/8/layout/cycle2"/>
    <dgm:cxn modelId="{576FB513-D256-4B75-84F3-802D66AC3DBE}" type="presParOf" srcId="{A8E34314-4449-40B9-8204-8A6D1B786B22}" destId="{CB5CC5A8-F120-4411-9808-8541104A55B9}" srcOrd="0" destOrd="0" presId="urn:microsoft.com/office/officeart/2005/8/layout/cycle2"/>
    <dgm:cxn modelId="{4117EFAF-7107-4102-865C-A03F2E4F39C2}" type="presParOf" srcId="{A8E34314-4449-40B9-8204-8A6D1B786B22}" destId="{3A7EADD0-3341-4830-B4FC-11F694D0EE03}" srcOrd="1" destOrd="0" presId="urn:microsoft.com/office/officeart/2005/8/layout/cycle2"/>
    <dgm:cxn modelId="{9789F0D6-416F-4756-98E6-31A0BEE5E0A7}" type="presParOf" srcId="{3A7EADD0-3341-4830-B4FC-11F694D0EE03}" destId="{2E9B98EC-E0D3-4B76-A154-46859EACFE95}" srcOrd="0" destOrd="0" presId="urn:microsoft.com/office/officeart/2005/8/layout/cycle2"/>
    <dgm:cxn modelId="{9C6CE746-39AD-4C7F-B2AD-9288CCC9E335}" type="presParOf" srcId="{A8E34314-4449-40B9-8204-8A6D1B786B22}" destId="{03E37C0A-9CC8-48A3-BE2C-7E46EFE02C16}" srcOrd="2" destOrd="0" presId="urn:microsoft.com/office/officeart/2005/8/layout/cycle2"/>
    <dgm:cxn modelId="{66B01451-293D-4D61-961A-BB9BBC769671}" type="presParOf" srcId="{A8E34314-4449-40B9-8204-8A6D1B786B22}" destId="{B3B3EC23-15E1-49C5-BD32-5E1FE16CDAAB}" srcOrd="3" destOrd="0" presId="urn:microsoft.com/office/officeart/2005/8/layout/cycle2"/>
    <dgm:cxn modelId="{1F17F058-47B7-4D21-96A2-46E4E8D97D13}" type="presParOf" srcId="{B3B3EC23-15E1-49C5-BD32-5E1FE16CDAAB}" destId="{9EF187E9-2481-40A1-92C7-B7051369AB23}" srcOrd="0" destOrd="0" presId="urn:microsoft.com/office/officeart/2005/8/layout/cycle2"/>
    <dgm:cxn modelId="{8C8F4A53-EB8E-4A96-A351-7403654F7E8D}" type="presParOf" srcId="{A8E34314-4449-40B9-8204-8A6D1B786B22}" destId="{5273305D-291F-43FD-A150-CADA7EEE5C11}" srcOrd="4" destOrd="0" presId="urn:microsoft.com/office/officeart/2005/8/layout/cycle2"/>
    <dgm:cxn modelId="{1FE6D43D-D831-4941-A45F-A96AABBC1CCC}" type="presParOf" srcId="{A8E34314-4449-40B9-8204-8A6D1B786B22}" destId="{EFC1EDEE-380F-4076-9A73-CBF56456FDD0}" srcOrd="5" destOrd="0" presId="urn:microsoft.com/office/officeart/2005/8/layout/cycle2"/>
    <dgm:cxn modelId="{8DF630C4-FFDB-4064-82D4-1D6D1AF08AAD}" type="presParOf" srcId="{EFC1EDEE-380F-4076-9A73-CBF56456FDD0}" destId="{39BAB9AB-C70E-4BFE-85C9-9B8F8879DA3C}" srcOrd="0" destOrd="0" presId="urn:microsoft.com/office/officeart/2005/8/layout/cycle2"/>
    <dgm:cxn modelId="{2DEBF95D-CFFC-4A39-985B-26DAEE5CDD59}" type="presParOf" srcId="{A8E34314-4449-40B9-8204-8A6D1B786B22}" destId="{96A14AB9-F25A-4AAE-B8DD-F6B6661A3094}" srcOrd="6" destOrd="0" presId="urn:microsoft.com/office/officeart/2005/8/layout/cycle2"/>
    <dgm:cxn modelId="{69979CFC-7140-42D7-9A37-6341523CA92C}" type="presParOf" srcId="{A8E34314-4449-40B9-8204-8A6D1B786B22}" destId="{874EBCC2-FD1E-4D71-A7FC-81851DACC160}" srcOrd="7" destOrd="0" presId="urn:microsoft.com/office/officeart/2005/8/layout/cycle2"/>
    <dgm:cxn modelId="{6A233177-FA6D-4FBE-B876-0435CF28D81C}" type="presParOf" srcId="{874EBCC2-FD1E-4D71-A7FC-81851DACC160}" destId="{A5DC0779-DDBB-4076-B067-028AD2F74B34}" srcOrd="0" destOrd="0" presId="urn:microsoft.com/office/officeart/2005/8/layout/cycle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00767E-7AE5-440A-A60D-78CDD7B103CC}"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57C109E9-86F9-4BB9-B9BA-92A606F520DE}">
      <dgm:prSet phldrT="[Text]" custT="1"/>
      <dgm:spPr>
        <a:solidFill>
          <a:schemeClr val="tx2"/>
        </a:solidFill>
      </dgm:spPr>
      <dgm:t>
        <a:bodyPr/>
        <a:lstStyle/>
        <a:p>
          <a:r>
            <a:rPr lang="en-US" sz="1800" b="1" dirty="0" smtClean="0">
              <a:latin typeface="Times New Roman" panose="02020603050405020304" pitchFamily="18" charset="0"/>
              <a:cs typeface="Times New Roman" panose="02020603050405020304" pitchFamily="18" charset="0"/>
            </a:rPr>
            <a:t>KNN Clustering</a:t>
          </a:r>
          <a:endParaRPr lang="en-US" sz="1800" b="1" dirty="0">
            <a:latin typeface="Times New Roman" panose="02020603050405020304" pitchFamily="18" charset="0"/>
            <a:cs typeface="Times New Roman" panose="02020603050405020304" pitchFamily="18" charset="0"/>
          </a:endParaRPr>
        </a:p>
      </dgm:t>
    </dgm:pt>
    <dgm:pt modelId="{85314717-A9C9-432F-AECA-23BF60A653EC}" type="parTrans" cxnId="{8564BF0A-B2E5-4722-BD54-250E99596B95}">
      <dgm:prSet/>
      <dgm:spPr/>
      <dgm:t>
        <a:bodyPr/>
        <a:lstStyle/>
        <a:p>
          <a:endParaRPr lang="en-US"/>
        </a:p>
      </dgm:t>
    </dgm:pt>
    <dgm:pt modelId="{8339BB38-9BCF-471E-869F-8B095A2A7427}" type="sibTrans" cxnId="{8564BF0A-B2E5-4722-BD54-250E99596B95}">
      <dgm:prSet/>
      <dgm:spPr/>
      <dgm:t>
        <a:bodyPr/>
        <a:lstStyle/>
        <a:p>
          <a:endParaRPr lang="en-US"/>
        </a:p>
      </dgm:t>
    </dgm:pt>
    <dgm:pt modelId="{FF16797B-69C0-4D23-AAC9-4969C374814E}">
      <dgm:prSet custT="1"/>
      <dgm:spPr>
        <a:solidFill>
          <a:schemeClr val="tx2"/>
        </a:solidFill>
      </dgm:spPr>
      <dgm:t>
        <a:bodyPr/>
        <a:lstStyle/>
        <a:p>
          <a:r>
            <a:rPr lang="en-US" sz="1800" b="1" dirty="0" smtClean="0">
              <a:latin typeface="Times New Roman" panose="02020603050405020304" pitchFamily="18" charset="0"/>
              <a:cs typeface="Times New Roman" panose="02020603050405020304" pitchFamily="18" charset="0"/>
            </a:rPr>
            <a:t>Anomaly Detection</a:t>
          </a:r>
          <a:endParaRPr lang="en-US" sz="1800" b="1" dirty="0">
            <a:latin typeface="Times New Roman" panose="02020603050405020304" pitchFamily="18" charset="0"/>
            <a:cs typeface="Times New Roman" panose="02020603050405020304" pitchFamily="18" charset="0"/>
          </a:endParaRPr>
        </a:p>
      </dgm:t>
    </dgm:pt>
    <dgm:pt modelId="{F11E8E98-3F0B-40D3-A0C0-3E7EA8E92221}" type="parTrans" cxnId="{7EA7BF7F-ED3F-4543-8A02-B1C3985B8A45}">
      <dgm:prSet/>
      <dgm:spPr/>
      <dgm:t>
        <a:bodyPr/>
        <a:lstStyle/>
        <a:p>
          <a:endParaRPr lang="en-US"/>
        </a:p>
      </dgm:t>
    </dgm:pt>
    <dgm:pt modelId="{A83C3B36-3BBE-4A75-B1AF-61945A132C41}" type="sibTrans" cxnId="{7EA7BF7F-ED3F-4543-8A02-B1C3985B8A45}">
      <dgm:prSet/>
      <dgm:spPr/>
      <dgm:t>
        <a:bodyPr/>
        <a:lstStyle/>
        <a:p>
          <a:endParaRPr lang="en-US"/>
        </a:p>
      </dgm:t>
    </dgm:pt>
    <dgm:pt modelId="{5D08238B-B5A8-44DC-BE52-1C1013447957}" type="pres">
      <dgm:prSet presAssocID="{6900767E-7AE5-440A-A60D-78CDD7B103CC}" presName="Name0" presStyleCnt="0">
        <dgm:presLayoutVars>
          <dgm:dir/>
          <dgm:resizeHandles val="exact"/>
        </dgm:presLayoutVars>
      </dgm:prSet>
      <dgm:spPr/>
      <dgm:t>
        <a:bodyPr/>
        <a:lstStyle/>
        <a:p>
          <a:endParaRPr lang="en-US"/>
        </a:p>
      </dgm:t>
    </dgm:pt>
    <dgm:pt modelId="{DA85C08F-D0D3-44E9-90FD-737595FFCEF0}" type="pres">
      <dgm:prSet presAssocID="{6900767E-7AE5-440A-A60D-78CDD7B103CC}" presName="node1" presStyleLbl="node1" presStyleIdx="0" presStyleCnt="2">
        <dgm:presLayoutVars>
          <dgm:bulletEnabled val="1"/>
        </dgm:presLayoutVars>
      </dgm:prSet>
      <dgm:spPr/>
      <dgm:t>
        <a:bodyPr/>
        <a:lstStyle/>
        <a:p>
          <a:endParaRPr lang="en-US"/>
        </a:p>
      </dgm:t>
    </dgm:pt>
    <dgm:pt modelId="{F7C17B35-E777-46FD-967F-4F5ECF7A9D22}" type="pres">
      <dgm:prSet presAssocID="{6900767E-7AE5-440A-A60D-78CDD7B103CC}" presName="sibTrans" presStyleLbl="bgShp" presStyleIdx="0" presStyleCnt="1"/>
      <dgm:spPr/>
      <dgm:t>
        <a:bodyPr/>
        <a:lstStyle/>
        <a:p>
          <a:endParaRPr lang="en-US"/>
        </a:p>
      </dgm:t>
    </dgm:pt>
    <dgm:pt modelId="{D35ABB1A-C519-4C97-93C5-B622DBF07B9C}" type="pres">
      <dgm:prSet presAssocID="{6900767E-7AE5-440A-A60D-78CDD7B103CC}" presName="node2" presStyleLbl="node1" presStyleIdx="1" presStyleCnt="2">
        <dgm:presLayoutVars>
          <dgm:bulletEnabled val="1"/>
        </dgm:presLayoutVars>
      </dgm:prSet>
      <dgm:spPr/>
      <dgm:t>
        <a:bodyPr/>
        <a:lstStyle/>
        <a:p>
          <a:endParaRPr lang="en-US"/>
        </a:p>
      </dgm:t>
    </dgm:pt>
    <dgm:pt modelId="{3DDAD21A-B052-4F6F-93FD-3B7B01933FE0}" type="pres">
      <dgm:prSet presAssocID="{6900767E-7AE5-440A-A60D-78CDD7B103CC}" presName="sp1" presStyleCnt="0"/>
      <dgm:spPr/>
    </dgm:pt>
    <dgm:pt modelId="{6AB24AEC-61AF-47BA-A408-4F12761D2FB4}" type="pres">
      <dgm:prSet presAssocID="{6900767E-7AE5-440A-A60D-78CDD7B103CC}" presName="sp2" presStyleCnt="0"/>
      <dgm:spPr/>
    </dgm:pt>
  </dgm:ptLst>
  <dgm:cxnLst>
    <dgm:cxn modelId="{1E4637BD-F838-41B6-8BC4-F6529505AA42}" type="presOf" srcId="{FF16797B-69C0-4D23-AAC9-4969C374814E}" destId="{D35ABB1A-C519-4C97-93C5-B622DBF07B9C}" srcOrd="0" destOrd="0" presId="urn:microsoft.com/office/officeart/2005/8/layout/cycle3"/>
    <dgm:cxn modelId="{4D30BDB4-6654-40CD-8BFD-AE79567D9206}" type="presOf" srcId="{8339BB38-9BCF-471E-869F-8B095A2A7427}" destId="{F7C17B35-E777-46FD-967F-4F5ECF7A9D22}" srcOrd="0" destOrd="0" presId="urn:microsoft.com/office/officeart/2005/8/layout/cycle3"/>
    <dgm:cxn modelId="{E22FEEC6-AEC2-48CE-A4F8-934A2F705943}" type="presOf" srcId="{57C109E9-86F9-4BB9-B9BA-92A606F520DE}" destId="{DA85C08F-D0D3-44E9-90FD-737595FFCEF0}" srcOrd="0" destOrd="0" presId="urn:microsoft.com/office/officeart/2005/8/layout/cycle3"/>
    <dgm:cxn modelId="{7EA7BF7F-ED3F-4543-8A02-B1C3985B8A45}" srcId="{6900767E-7AE5-440A-A60D-78CDD7B103CC}" destId="{FF16797B-69C0-4D23-AAC9-4969C374814E}" srcOrd="1" destOrd="0" parTransId="{F11E8E98-3F0B-40D3-A0C0-3E7EA8E92221}" sibTransId="{A83C3B36-3BBE-4A75-B1AF-61945A132C41}"/>
    <dgm:cxn modelId="{8564BF0A-B2E5-4722-BD54-250E99596B95}" srcId="{6900767E-7AE5-440A-A60D-78CDD7B103CC}" destId="{57C109E9-86F9-4BB9-B9BA-92A606F520DE}" srcOrd="0" destOrd="0" parTransId="{85314717-A9C9-432F-AECA-23BF60A653EC}" sibTransId="{8339BB38-9BCF-471E-869F-8B095A2A7427}"/>
    <dgm:cxn modelId="{72E72CBE-3230-49D0-ACA6-D87C31B82B08}" type="presOf" srcId="{6900767E-7AE5-440A-A60D-78CDD7B103CC}" destId="{5D08238B-B5A8-44DC-BE52-1C1013447957}" srcOrd="0" destOrd="0" presId="urn:microsoft.com/office/officeart/2005/8/layout/cycle3"/>
    <dgm:cxn modelId="{6DEF5CE7-0D4C-46DF-9400-762EF3E29F3C}" type="presParOf" srcId="{5D08238B-B5A8-44DC-BE52-1C1013447957}" destId="{DA85C08F-D0D3-44E9-90FD-737595FFCEF0}" srcOrd="0" destOrd="0" presId="urn:microsoft.com/office/officeart/2005/8/layout/cycle3"/>
    <dgm:cxn modelId="{ACFD00A3-AAC3-43DA-946D-C24AA6C90A43}" type="presParOf" srcId="{5D08238B-B5A8-44DC-BE52-1C1013447957}" destId="{F7C17B35-E777-46FD-967F-4F5ECF7A9D22}" srcOrd="1" destOrd="0" presId="urn:microsoft.com/office/officeart/2005/8/layout/cycle3"/>
    <dgm:cxn modelId="{2BCE90B0-735D-4A27-909F-7C2DB73484CF}" type="presParOf" srcId="{5D08238B-B5A8-44DC-BE52-1C1013447957}" destId="{D35ABB1A-C519-4C97-93C5-B622DBF07B9C}" srcOrd="2" destOrd="0" presId="urn:microsoft.com/office/officeart/2005/8/layout/cycle3"/>
    <dgm:cxn modelId="{11AAEEFF-F8F5-445C-A064-9C246C26BCA0}" type="presParOf" srcId="{5D08238B-B5A8-44DC-BE52-1C1013447957}" destId="{3DDAD21A-B052-4F6F-93FD-3B7B01933FE0}" srcOrd="3" destOrd="0" presId="urn:microsoft.com/office/officeart/2005/8/layout/cycle3"/>
    <dgm:cxn modelId="{C8C78F62-7537-4710-A298-5EC731B1654C}" type="presParOf" srcId="{5D08238B-B5A8-44DC-BE52-1C1013447957}" destId="{6AB24AEC-61AF-47BA-A408-4F12761D2FB4}" srcOrd="4" destOrd="0" presId="urn:microsoft.com/office/officeart/2005/8/layout/cycle3"/>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2BE881-07BD-4B9A-96AD-09CD5B7C7B9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CE98F0F-3976-4360-8766-CC3BCC653364}">
      <dgm:prSet phldrT="[Text]" custT="1"/>
      <dgm:spPr/>
      <dgm:t>
        <a:bodyPr/>
        <a:lstStyle/>
        <a:p>
          <a:pPr algn="ctr">
            <a:lnSpc>
              <a:spcPct val="100000"/>
            </a:lnSpc>
          </a:pPr>
          <a:r>
            <a:rPr lang="en-US" sz="3500" b="0" dirty="0" smtClean="0">
              <a:solidFill>
                <a:srgbClr val="00B0F0"/>
              </a:solidFill>
              <a:latin typeface="Times New Roman" panose="02020603050405020304" pitchFamily="18" charset="0"/>
              <a:cs typeface="Times New Roman" panose="02020603050405020304" pitchFamily="18" charset="0"/>
            </a:rPr>
            <a:t>CNN = Convolutional Neural Networks </a:t>
          </a:r>
          <a:endParaRPr lang="en-US" sz="3500" b="0" dirty="0">
            <a:solidFill>
              <a:srgbClr val="00B0F0"/>
            </a:solidFill>
            <a:latin typeface="Times New Roman" panose="02020603050405020304" pitchFamily="18" charset="0"/>
            <a:cs typeface="Times New Roman" panose="02020603050405020304" pitchFamily="18" charset="0"/>
          </a:endParaRPr>
        </a:p>
      </dgm:t>
    </dgm:pt>
    <dgm:pt modelId="{2C3423AE-3D92-4841-BE93-6089808F69D9}" type="parTrans" cxnId="{E9BCB4E9-7E87-4F49-856C-72676C0E76C7}">
      <dgm:prSet/>
      <dgm:spPr/>
      <dgm:t>
        <a:bodyPr/>
        <a:lstStyle/>
        <a:p>
          <a:endParaRPr lang="en-US"/>
        </a:p>
      </dgm:t>
    </dgm:pt>
    <dgm:pt modelId="{9DB2D15A-2CDA-4FE0-B151-BDB85C3BC560}" type="sibTrans" cxnId="{E9BCB4E9-7E87-4F49-856C-72676C0E76C7}">
      <dgm:prSet/>
      <dgm:spPr/>
      <dgm:t>
        <a:bodyPr/>
        <a:lstStyle/>
        <a:p>
          <a:endParaRPr lang="en-US"/>
        </a:p>
      </dgm:t>
    </dgm:pt>
    <dgm:pt modelId="{859AA6BB-CF83-4A5B-9E96-D1CB77A28528}">
      <dgm:prSet phldrT="[Text]" custT="1"/>
      <dgm:spPr/>
      <dgm:t>
        <a:bodyPr/>
        <a:lstStyle/>
        <a:p>
          <a:pPr algn="ctr">
            <a:lnSpc>
              <a:spcPct val="100000"/>
            </a:lnSpc>
          </a:pPr>
          <a:r>
            <a:rPr lang="en-US" sz="3500" dirty="0" smtClean="0">
              <a:solidFill>
                <a:srgbClr val="00B0F0"/>
              </a:solidFill>
              <a:latin typeface="Times New Roman" panose="02020603050405020304" pitchFamily="18" charset="0"/>
              <a:cs typeface="Times New Roman" panose="02020603050405020304" pitchFamily="18" charset="0"/>
            </a:rPr>
            <a:t>RNN = Recurrent Neural Network</a:t>
          </a:r>
          <a:endParaRPr lang="en-US" sz="3500" dirty="0">
            <a:solidFill>
              <a:srgbClr val="00B0F0"/>
            </a:solidFill>
            <a:latin typeface="Times New Roman" panose="02020603050405020304" pitchFamily="18" charset="0"/>
            <a:cs typeface="Times New Roman" panose="02020603050405020304" pitchFamily="18" charset="0"/>
          </a:endParaRPr>
        </a:p>
      </dgm:t>
    </dgm:pt>
    <dgm:pt modelId="{F6429F48-469A-48CC-A73B-27F1112F5EEB}" type="parTrans" cxnId="{B2159E29-BA85-4578-9503-978DE60FF85B}">
      <dgm:prSet/>
      <dgm:spPr/>
      <dgm:t>
        <a:bodyPr/>
        <a:lstStyle/>
        <a:p>
          <a:endParaRPr lang="en-US"/>
        </a:p>
      </dgm:t>
    </dgm:pt>
    <dgm:pt modelId="{D1872F76-3733-44D7-A9C0-24B890CB7DB6}" type="sibTrans" cxnId="{B2159E29-BA85-4578-9503-978DE60FF85B}">
      <dgm:prSet/>
      <dgm:spPr/>
      <dgm:t>
        <a:bodyPr/>
        <a:lstStyle/>
        <a:p>
          <a:endParaRPr lang="en-US"/>
        </a:p>
      </dgm:t>
    </dgm:pt>
    <dgm:pt modelId="{06E02A08-DC9E-4822-9381-B91DD2993E5F}">
      <dgm:prSet phldrT="[Text]" custT="1"/>
      <dgm:spPr/>
      <dgm:t>
        <a:bodyPr/>
        <a:lstStyle/>
        <a:p>
          <a:pPr algn="ctr">
            <a:lnSpc>
              <a:spcPct val="100000"/>
            </a:lnSpc>
          </a:pPr>
          <a:r>
            <a:rPr lang="en-US" sz="3500" dirty="0" smtClean="0">
              <a:solidFill>
                <a:srgbClr val="00B0F0"/>
              </a:solidFill>
              <a:latin typeface="Times New Roman" panose="02020603050405020304" pitchFamily="18" charset="0"/>
              <a:cs typeface="Times New Roman" panose="02020603050405020304" pitchFamily="18" charset="0"/>
            </a:rPr>
            <a:t>LSTM = Long Short-Term Memory</a:t>
          </a:r>
          <a:endParaRPr lang="en-US" sz="3500" dirty="0">
            <a:solidFill>
              <a:srgbClr val="00B0F0"/>
            </a:solidFill>
            <a:latin typeface="Times New Roman" panose="02020603050405020304" pitchFamily="18" charset="0"/>
            <a:cs typeface="Times New Roman" panose="02020603050405020304" pitchFamily="18" charset="0"/>
          </a:endParaRPr>
        </a:p>
      </dgm:t>
    </dgm:pt>
    <dgm:pt modelId="{1248EE5C-C40A-4DD1-9001-C124D80CD70A}" type="parTrans" cxnId="{77809AC1-2973-4331-855B-020FB3DB699C}">
      <dgm:prSet/>
      <dgm:spPr/>
      <dgm:t>
        <a:bodyPr/>
        <a:lstStyle/>
        <a:p>
          <a:endParaRPr lang="en-US"/>
        </a:p>
      </dgm:t>
    </dgm:pt>
    <dgm:pt modelId="{A6323AEA-921A-4E9A-8E13-2DF1D4A04017}" type="sibTrans" cxnId="{77809AC1-2973-4331-855B-020FB3DB699C}">
      <dgm:prSet/>
      <dgm:spPr/>
      <dgm:t>
        <a:bodyPr/>
        <a:lstStyle/>
        <a:p>
          <a:endParaRPr lang="en-US"/>
        </a:p>
      </dgm:t>
    </dgm:pt>
    <dgm:pt modelId="{1337DA8E-1B2A-463F-9A6D-46FDF8EFE024}">
      <dgm:prSet phldrT="[Text]" custT="1"/>
      <dgm:spPr/>
      <dgm:t>
        <a:bodyPr/>
        <a:lstStyle/>
        <a:p>
          <a:pPr algn="ctr"/>
          <a:r>
            <a:rPr lang="en-US" sz="3500" dirty="0" smtClean="0">
              <a:solidFill>
                <a:srgbClr val="00B0F0"/>
              </a:solidFill>
              <a:latin typeface="Times New Roman" panose="02020603050405020304" pitchFamily="18" charset="0"/>
              <a:cs typeface="Times New Roman" panose="02020603050405020304" pitchFamily="18" charset="0"/>
            </a:rPr>
            <a:t>GAN = Generative Adversarial Network</a:t>
          </a:r>
          <a:endParaRPr lang="en-US" sz="3500" dirty="0">
            <a:solidFill>
              <a:srgbClr val="00B0F0"/>
            </a:solidFill>
            <a:latin typeface="Times New Roman" panose="02020603050405020304" pitchFamily="18" charset="0"/>
            <a:cs typeface="Times New Roman" panose="02020603050405020304" pitchFamily="18" charset="0"/>
          </a:endParaRPr>
        </a:p>
      </dgm:t>
    </dgm:pt>
    <dgm:pt modelId="{03B2F190-D7A4-4AAE-97FC-E6D73F32041C}" type="parTrans" cxnId="{9386AECC-7ABE-45DD-8BDD-B1B65D713871}">
      <dgm:prSet/>
      <dgm:spPr/>
      <dgm:t>
        <a:bodyPr/>
        <a:lstStyle/>
        <a:p>
          <a:endParaRPr lang="en-US"/>
        </a:p>
      </dgm:t>
    </dgm:pt>
    <dgm:pt modelId="{960382A3-07CE-45DC-8BDE-D6A39368C718}" type="sibTrans" cxnId="{9386AECC-7ABE-45DD-8BDD-B1B65D713871}">
      <dgm:prSet/>
      <dgm:spPr/>
      <dgm:t>
        <a:bodyPr/>
        <a:lstStyle/>
        <a:p>
          <a:endParaRPr lang="en-US"/>
        </a:p>
      </dgm:t>
    </dgm:pt>
    <dgm:pt modelId="{32CD721A-53EA-40DE-872F-2FBD795598B6}" type="pres">
      <dgm:prSet presAssocID="{482BE881-07BD-4B9A-96AD-09CD5B7C7B9F}" presName="vert0" presStyleCnt="0">
        <dgm:presLayoutVars>
          <dgm:dir/>
          <dgm:animOne val="branch"/>
          <dgm:animLvl val="lvl"/>
        </dgm:presLayoutVars>
      </dgm:prSet>
      <dgm:spPr/>
      <dgm:t>
        <a:bodyPr/>
        <a:lstStyle/>
        <a:p>
          <a:endParaRPr lang="en-US"/>
        </a:p>
      </dgm:t>
    </dgm:pt>
    <dgm:pt modelId="{FB4AF44F-58B5-4055-9C19-CC1054138684}" type="pres">
      <dgm:prSet presAssocID="{FCE98F0F-3976-4360-8766-CC3BCC653364}" presName="thickLine" presStyleLbl="alignNode1" presStyleIdx="0" presStyleCnt="4"/>
      <dgm:spPr/>
    </dgm:pt>
    <dgm:pt modelId="{9C960809-34F2-474D-9834-85A245483D42}" type="pres">
      <dgm:prSet presAssocID="{FCE98F0F-3976-4360-8766-CC3BCC653364}" presName="horz1" presStyleCnt="0"/>
      <dgm:spPr/>
    </dgm:pt>
    <dgm:pt modelId="{38DDA66B-8D7D-4291-9AF4-300E1993EFA0}" type="pres">
      <dgm:prSet presAssocID="{FCE98F0F-3976-4360-8766-CC3BCC653364}" presName="tx1" presStyleLbl="revTx" presStyleIdx="0" presStyleCnt="4"/>
      <dgm:spPr/>
      <dgm:t>
        <a:bodyPr/>
        <a:lstStyle/>
        <a:p>
          <a:endParaRPr lang="en-US"/>
        </a:p>
      </dgm:t>
    </dgm:pt>
    <dgm:pt modelId="{7A2FBCD0-C1C8-49EE-A99D-EC657989B5F1}" type="pres">
      <dgm:prSet presAssocID="{FCE98F0F-3976-4360-8766-CC3BCC653364}" presName="vert1" presStyleCnt="0"/>
      <dgm:spPr/>
    </dgm:pt>
    <dgm:pt modelId="{543DF3D7-104F-4AC9-991C-0408F4821BC8}" type="pres">
      <dgm:prSet presAssocID="{859AA6BB-CF83-4A5B-9E96-D1CB77A28528}" presName="thickLine" presStyleLbl="alignNode1" presStyleIdx="1" presStyleCnt="4" custLinFactNeighborX="-96" custLinFactNeighborY="-21006"/>
      <dgm:spPr/>
    </dgm:pt>
    <dgm:pt modelId="{6C24B183-6D9D-40C2-A5C4-844492B2DD7B}" type="pres">
      <dgm:prSet presAssocID="{859AA6BB-CF83-4A5B-9E96-D1CB77A28528}" presName="horz1" presStyleCnt="0"/>
      <dgm:spPr/>
    </dgm:pt>
    <dgm:pt modelId="{DBD050FA-54BD-4B72-9430-8D44B2D53C72}" type="pres">
      <dgm:prSet presAssocID="{859AA6BB-CF83-4A5B-9E96-D1CB77A28528}" presName="tx1" presStyleLbl="revTx" presStyleIdx="1" presStyleCnt="4" custLinFactNeighborY="-21078"/>
      <dgm:spPr/>
      <dgm:t>
        <a:bodyPr/>
        <a:lstStyle/>
        <a:p>
          <a:endParaRPr lang="en-US"/>
        </a:p>
      </dgm:t>
    </dgm:pt>
    <dgm:pt modelId="{D05D9B45-27DE-463A-BF37-69A91C07B632}" type="pres">
      <dgm:prSet presAssocID="{859AA6BB-CF83-4A5B-9E96-D1CB77A28528}" presName="vert1" presStyleCnt="0"/>
      <dgm:spPr/>
    </dgm:pt>
    <dgm:pt modelId="{2A3D04EF-5B44-4B61-AF84-2A71460CDBFD}" type="pres">
      <dgm:prSet presAssocID="{06E02A08-DC9E-4822-9381-B91DD2993E5F}" presName="thickLine" presStyleLbl="alignNode1" presStyleIdx="2" presStyleCnt="4" custLinFactNeighborY="-65689"/>
      <dgm:spPr/>
    </dgm:pt>
    <dgm:pt modelId="{BF518E02-7062-488F-83B0-E865F6D42604}" type="pres">
      <dgm:prSet presAssocID="{06E02A08-DC9E-4822-9381-B91DD2993E5F}" presName="horz1" presStyleCnt="0"/>
      <dgm:spPr/>
    </dgm:pt>
    <dgm:pt modelId="{D2F7D736-E6F4-43FD-B35D-DE3B4088DB86}" type="pres">
      <dgm:prSet presAssocID="{06E02A08-DC9E-4822-9381-B91DD2993E5F}" presName="tx1" presStyleLbl="revTx" presStyleIdx="2" presStyleCnt="4" custScaleY="66444" custLinFactNeighborY="-44190"/>
      <dgm:spPr/>
      <dgm:t>
        <a:bodyPr/>
        <a:lstStyle/>
        <a:p>
          <a:endParaRPr lang="en-US"/>
        </a:p>
      </dgm:t>
    </dgm:pt>
    <dgm:pt modelId="{0A1EE784-801F-4584-B902-8DE60C49C4A4}" type="pres">
      <dgm:prSet presAssocID="{06E02A08-DC9E-4822-9381-B91DD2993E5F}" presName="vert1" presStyleCnt="0"/>
      <dgm:spPr/>
    </dgm:pt>
    <dgm:pt modelId="{F27D643F-12BC-4582-A0FD-514FA23EF0A2}" type="pres">
      <dgm:prSet presAssocID="{1337DA8E-1B2A-463F-9A6D-46FDF8EFE024}" presName="thickLine" presStyleLbl="alignNode1" presStyleIdx="3" presStyleCnt="4" custLinFactNeighborX="-96" custLinFactNeighborY="-34225"/>
      <dgm:spPr/>
    </dgm:pt>
    <dgm:pt modelId="{722D502E-E5FC-4542-9864-94D416F6BD6C}" type="pres">
      <dgm:prSet presAssocID="{1337DA8E-1B2A-463F-9A6D-46FDF8EFE024}" presName="horz1" presStyleCnt="0"/>
      <dgm:spPr/>
    </dgm:pt>
    <dgm:pt modelId="{ECE02942-18A2-4886-9446-FCE9C8BAF4BE}" type="pres">
      <dgm:prSet presAssocID="{1337DA8E-1B2A-463F-9A6D-46FDF8EFE024}" presName="tx1" presStyleLbl="revTx" presStyleIdx="3" presStyleCnt="4" custLinFactNeighborX="-96" custLinFactNeighborY="-34225"/>
      <dgm:spPr/>
      <dgm:t>
        <a:bodyPr/>
        <a:lstStyle/>
        <a:p>
          <a:endParaRPr lang="en-US"/>
        </a:p>
      </dgm:t>
    </dgm:pt>
    <dgm:pt modelId="{7D0AE8FE-5243-4504-BCF2-62AC7973B71D}" type="pres">
      <dgm:prSet presAssocID="{1337DA8E-1B2A-463F-9A6D-46FDF8EFE024}" presName="vert1" presStyleCnt="0"/>
      <dgm:spPr/>
    </dgm:pt>
  </dgm:ptLst>
  <dgm:cxnLst>
    <dgm:cxn modelId="{E98859E0-343D-4816-8981-254103C745EE}" type="presOf" srcId="{06E02A08-DC9E-4822-9381-B91DD2993E5F}" destId="{D2F7D736-E6F4-43FD-B35D-DE3B4088DB86}" srcOrd="0" destOrd="0" presId="urn:microsoft.com/office/officeart/2008/layout/LinedList"/>
    <dgm:cxn modelId="{9386AECC-7ABE-45DD-8BDD-B1B65D713871}" srcId="{482BE881-07BD-4B9A-96AD-09CD5B7C7B9F}" destId="{1337DA8E-1B2A-463F-9A6D-46FDF8EFE024}" srcOrd="3" destOrd="0" parTransId="{03B2F190-D7A4-4AAE-97FC-E6D73F32041C}" sibTransId="{960382A3-07CE-45DC-8BDE-D6A39368C718}"/>
    <dgm:cxn modelId="{77809AC1-2973-4331-855B-020FB3DB699C}" srcId="{482BE881-07BD-4B9A-96AD-09CD5B7C7B9F}" destId="{06E02A08-DC9E-4822-9381-B91DD2993E5F}" srcOrd="2" destOrd="0" parTransId="{1248EE5C-C40A-4DD1-9001-C124D80CD70A}" sibTransId="{A6323AEA-921A-4E9A-8E13-2DF1D4A04017}"/>
    <dgm:cxn modelId="{E9BCB4E9-7E87-4F49-856C-72676C0E76C7}" srcId="{482BE881-07BD-4B9A-96AD-09CD5B7C7B9F}" destId="{FCE98F0F-3976-4360-8766-CC3BCC653364}" srcOrd="0" destOrd="0" parTransId="{2C3423AE-3D92-4841-BE93-6089808F69D9}" sibTransId="{9DB2D15A-2CDA-4FE0-B151-BDB85C3BC560}"/>
    <dgm:cxn modelId="{AB438947-E2EA-47E0-9722-10C395167094}" type="presOf" srcId="{859AA6BB-CF83-4A5B-9E96-D1CB77A28528}" destId="{DBD050FA-54BD-4B72-9430-8D44B2D53C72}" srcOrd="0" destOrd="0" presId="urn:microsoft.com/office/officeart/2008/layout/LinedList"/>
    <dgm:cxn modelId="{E209D6C5-CA18-433A-9A79-2B00A28A3ADC}" type="presOf" srcId="{1337DA8E-1B2A-463F-9A6D-46FDF8EFE024}" destId="{ECE02942-18A2-4886-9446-FCE9C8BAF4BE}" srcOrd="0" destOrd="0" presId="urn:microsoft.com/office/officeart/2008/layout/LinedList"/>
    <dgm:cxn modelId="{2EAF7EAC-6744-438D-9CB0-B4EE18E8A854}" type="presOf" srcId="{482BE881-07BD-4B9A-96AD-09CD5B7C7B9F}" destId="{32CD721A-53EA-40DE-872F-2FBD795598B6}" srcOrd="0" destOrd="0" presId="urn:microsoft.com/office/officeart/2008/layout/LinedList"/>
    <dgm:cxn modelId="{B2159E29-BA85-4578-9503-978DE60FF85B}" srcId="{482BE881-07BD-4B9A-96AD-09CD5B7C7B9F}" destId="{859AA6BB-CF83-4A5B-9E96-D1CB77A28528}" srcOrd="1" destOrd="0" parTransId="{F6429F48-469A-48CC-A73B-27F1112F5EEB}" sibTransId="{D1872F76-3733-44D7-A9C0-24B890CB7DB6}"/>
    <dgm:cxn modelId="{77125089-C2FC-4CDE-9439-8E4737A3AE25}" type="presOf" srcId="{FCE98F0F-3976-4360-8766-CC3BCC653364}" destId="{38DDA66B-8D7D-4291-9AF4-300E1993EFA0}" srcOrd="0" destOrd="0" presId="urn:microsoft.com/office/officeart/2008/layout/LinedList"/>
    <dgm:cxn modelId="{4E8E58B5-939E-4E17-B98E-C6C17D0DEE89}" type="presParOf" srcId="{32CD721A-53EA-40DE-872F-2FBD795598B6}" destId="{FB4AF44F-58B5-4055-9C19-CC1054138684}" srcOrd="0" destOrd="0" presId="urn:microsoft.com/office/officeart/2008/layout/LinedList"/>
    <dgm:cxn modelId="{5964C249-824A-4B33-B0D3-123C752E48BC}" type="presParOf" srcId="{32CD721A-53EA-40DE-872F-2FBD795598B6}" destId="{9C960809-34F2-474D-9834-85A245483D42}" srcOrd="1" destOrd="0" presId="urn:microsoft.com/office/officeart/2008/layout/LinedList"/>
    <dgm:cxn modelId="{352EE83B-A254-43C3-9EE2-1AC57F83BE78}" type="presParOf" srcId="{9C960809-34F2-474D-9834-85A245483D42}" destId="{38DDA66B-8D7D-4291-9AF4-300E1993EFA0}" srcOrd="0" destOrd="0" presId="urn:microsoft.com/office/officeart/2008/layout/LinedList"/>
    <dgm:cxn modelId="{9A695F65-C34E-4D70-B58E-C59E0C823C21}" type="presParOf" srcId="{9C960809-34F2-474D-9834-85A245483D42}" destId="{7A2FBCD0-C1C8-49EE-A99D-EC657989B5F1}" srcOrd="1" destOrd="0" presId="urn:microsoft.com/office/officeart/2008/layout/LinedList"/>
    <dgm:cxn modelId="{4CB0D926-0F4D-4832-9EA7-8E34F92FC989}" type="presParOf" srcId="{32CD721A-53EA-40DE-872F-2FBD795598B6}" destId="{543DF3D7-104F-4AC9-991C-0408F4821BC8}" srcOrd="2" destOrd="0" presId="urn:microsoft.com/office/officeart/2008/layout/LinedList"/>
    <dgm:cxn modelId="{0909FCBD-4291-4F4C-9A7F-0BFE4D41C008}" type="presParOf" srcId="{32CD721A-53EA-40DE-872F-2FBD795598B6}" destId="{6C24B183-6D9D-40C2-A5C4-844492B2DD7B}" srcOrd="3" destOrd="0" presId="urn:microsoft.com/office/officeart/2008/layout/LinedList"/>
    <dgm:cxn modelId="{3AF7AFA8-024D-43AE-864D-2C310E4F3C84}" type="presParOf" srcId="{6C24B183-6D9D-40C2-A5C4-844492B2DD7B}" destId="{DBD050FA-54BD-4B72-9430-8D44B2D53C72}" srcOrd="0" destOrd="0" presId="urn:microsoft.com/office/officeart/2008/layout/LinedList"/>
    <dgm:cxn modelId="{72730B38-CAF3-4593-B94C-BDD3EE78F59E}" type="presParOf" srcId="{6C24B183-6D9D-40C2-A5C4-844492B2DD7B}" destId="{D05D9B45-27DE-463A-BF37-69A91C07B632}" srcOrd="1" destOrd="0" presId="urn:microsoft.com/office/officeart/2008/layout/LinedList"/>
    <dgm:cxn modelId="{F1E868AC-99AE-4E5D-9F5A-B4A1F9D0B2B1}" type="presParOf" srcId="{32CD721A-53EA-40DE-872F-2FBD795598B6}" destId="{2A3D04EF-5B44-4B61-AF84-2A71460CDBFD}" srcOrd="4" destOrd="0" presId="urn:microsoft.com/office/officeart/2008/layout/LinedList"/>
    <dgm:cxn modelId="{2901D5AC-CC3A-4239-883A-BF6EF3E392B8}" type="presParOf" srcId="{32CD721A-53EA-40DE-872F-2FBD795598B6}" destId="{BF518E02-7062-488F-83B0-E865F6D42604}" srcOrd="5" destOrd="0" presId="urn:microsoft.com/office/officeart/2008/layout/LinedList"/>
    <dgm:cxn modelId="{D7DD6E47-E844-46DF-A367-1E192B6885DA}" type="presParOf" srcId="{BF518E02-7062-488F-83B0-E865F6D42604}" destId="{D2F7D736-E6F4-43FD-B35D-DE3B4088DB86}" srcOrd="0" destOrd="0" presId="urn:microsoft.com/office/officeart/2008/layout/LinedList"/>
    <dgm:cxn modelId="{4E14E1C8-BF4F-40F3-BE2D-C47E8A252521}" type="presParOf" srcId="{BF518E02-7062-488F-83B0-E865F6D42604}" destId="{0A1EE784-801F-4584-B902-8DE60C49C4A4}" srcOrd="1" destOrd="0" presId="urn:microsoft.com/office/officeart/2008/layout/LinedList"/>
    <dgm:cxn modelId="{9C90109E-DC2A-4A90-8D05-2DE226E87246}" type="presParOf" srcId="{32CD721A-53EA-40DE-872F-2FBD795598B6}" destId="{F27D643F-12BC-4582-A0FD-514FA23EF0A2}" srcOrd="6" destOrd="0" presId="urn:microsoft.com/office/officeart/2008/layout/LinedList"/>
    <dgm:cxn modelId="{FAD96042-BA89-4460-9D2D-AFC2BFC87432}" type="presParOf" srcId="{32CD721A-53EA-40DE-872F-2FBD795598B6}" destId="{722D502E-E5FC-4542-9864-94D416F6BD6C}" srcOrd="7" destOrd="0" presId="urn:microsoft.com/office/officeart/2008/layout/LinedList"/>
    <dgm:cxn modelId="{600C214A-43A1-4B0D-AA20-8C5B30D92ABA}" type="presParOf" srcId="{722D502E-E5FC-4542-9864-94D416F6BD6C}" destId="{ECE02942-18A2-4886-9446-FCE9C8BAF4BE}" srcOrd="0" destOrd="0" presId="urn:microsoft.com/office/officeart/2008/layout/LinedList"/>
    <dgm:cxn modelId="{902DF806-8671-4113-959B-3BBAE2DF1C7D}" type="presParOf" srcId="{722D502E-E5FC-4542-9864-94D416F6BD6C}" destId="{7D0AE8FE-5243-4504-BCF2-62AC7973B71D}" srcOrd="1" destOrd="0" presId="urn:microsoft.com/office/officeart/2008/layout/Lined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B05544F-5739-4B11-A8FA-6C02A853BEAB}" type="doc">
      <dgm:prSet loTypeId="urn:microsoft.com/office/officeart/2005/8/layout/process1" loCatId="process" qsTypeId="urn:microsoft.com/office/officeart/2005/8/quickstyle/simple5" qsCatId="simple" csTypeId="urn:microsoft.com/office/officeart/2005/8/colors/accent0_3" csCatId="mainScheme" phldr="1"/>
      <dgm:spPr/>
    </dgm:pt>
    <dgm:pt modelId="{8C62A7F6-428E-47F4-9518-FA61FDF5419D}">
      <dgm:prSet phldrT="[Text]"/>
      <dgm:spPr/>
      <dgm:t>
        <a:bodyPr/>
        <a:lstStyle/>
        <a:p>
          <a:r>
            <a:rPr lang="en-US" dirty="0" smtClean="0"/>
            <a:t>Input Data</a:t>
          </a:r>
          <a:endParaRPr lang="en-US" dirty="0"/>
        </a:p>
      </dgm:t>
    </dgm:pt>
    <dgm:pt modelId="{368D8590-D96C-4EF6-AA6D-E3ABAD70233E}" type="parTrans" cxnId="{C947C102-9E13-44E2-A339-C29AEF06F46E}">
      <dgm:prSet/>
      <dgm:spPr/>
      <dgm:t>
        <a:bodyPr/>
        <a:lstStyle/>
        <a:p>
          <a:endParaRPr lang="en-US"/>
        </a:p>
      </dgm:t>
    </dgm:pt>
    <dgm:pt modelId="{58FFF7DB-F428-4775-A6C4-B449F39E3EFD}" type="sibTrans" cxnId="{C947C102-9E13-44E2-A339-C29AEF06F46E}">
      <dgm:prSet/>
      <dgm:spPr/>
      <dgm:t>
        <a:bodyPr/>
        <a:lstStyle/>
        <a:p>
          <a:endParaRPr lang="en-US"/>
        </a:p>
      </dgm:t>
    </dgm:pt>
    <dgm:pt modelId="{974C53A5-C27D-46A4-AA37-9E75EEAEADD3}">
      <dgm:prSet phldrT="[Text]"/>
      <dgm:spPr/>
      <dgm:t>
        <a:bodyPr/>
        <a:lstStyle/>
        <a:p>
          <a:r>
            <a:rPr lang="en-US" dirty="0" smtClean="0"/>
            <a:t>Data Preprocessing</a:t>
          </a:r>
          <a:endParaRPr lang="en-US" dirty="0"/>
        </a:p>
      </dgm:t>
    </dgm:pt>
    <dgm:pt modelId="{1D41A26D-1651-4CA0-AAE4-071DF8FABD24}" type="parTrans" cxnId="{177F4B46-CC83-4D0B-B7A3-E014C5858F79}">
      <dgm:prSet/>
      <dgm:spPr/>
      <dgm:t>
        <a:bodyPr/>
        <a:lstStyle/>
        <a:p>
          <a:endParaRPr lang="en-US"/>
        </a:p>
      </dgm:t>
    </dgm:pt>
    <dgm:pt modelId="{144F82BA-E8D5-44EC-B4C7-4E32CBE90919}" type="sibTrans" cxnId="{177F4B46-CC83-4D0B-B7A3-E014C5858F79}">
      <dgm:prSet/>
      <dgm:spPr/>
      <dgm:t>
        <a:bodyPr/>
        <a:lstStyle/>
        <a:p>
          <a:endParaRPr lang="en-US"/>
        </a:p>
      </dgm:t>
    </dgm:pt>
    <dgm:pt modelId="{F9EF9C7C-51D1-42B6-BC19-A1B6A12EFEFB}">
      <dgm:prSet phldrT="[Text]"/>
      <dgm:spPr/>
      <dgm:t>
        <a:bodyPr/>
        <a:lstStyle/>
        <a:p>
          <a:r>
            <a:rPr lang="en-US" dirty="0" smtClean="0"/>
            <a:t>Response Action</a:t>
          </a:r>
          <a:endParaRPr lang="en-US" dirty="0"/>
        </a:p>
      </dgm:t>
    </dgm:pt>
    <dgm:pt modelId="{64C52806-5767-4D69-A72B-9E183C344B63}" type="parTrans" cxnId="{9CF44E9B-D89F-4D7F-956D-D408C41BDEAB}">
      <dgm:prSet/>
      <dgm:spPr/>
      <dgm:t>
        <a:bodyPr/>
        <a:lstStyle/>
        <a:p>
          <a:endParaRPr lang="en-US"/>
        </a:p>
      </dgm:t>
    </dgm:pt>
    <dgm:pt modelId="{13B2EF1A-3259-43CD-928B-9EB906D369B3}" type="sibTrans" cxnId="{9CF44E9B-D89F-4D7F-956D-D408C41BDEAB}">
      <dgm:prSet/>
      <dgm:spPr/>
      <dgm:t>
        <a:bodyPr/>
        <a:lstStyle/>
        <a:p>
          <a:endParaRPr lang="en-US"/>
        </a:p>
      </dgm:t>
    </dgm:pt>
    <dgm:pt modelId="{09F52506-35AF-4DEE-A75A-6F7AA5ADAD2A}">
      <dgm:prSet/>
      <dgm:spPr/>
      <dgm:t>
        <a:bodyPr/>
        <a:lstStyle/>
        <a:p>
          <a:r>
            <a:rPr lang="en-US" dirty="0" smtClean="0"/>
            <a:t>Feature Extraction</a:t>
          </a:r>
          <a:endParaRPr lang="en-US" dirty="0"/>
        </a:p>
      </dgm:t>
    </dgm:pt>
    <dgm:pt modelId="{84861BAB-1615-4FB0-9826-E74724724D12}" type="parTrans" cxnId="{23CAF3EA-9B6B-4224-AECD-CDB723CD3C92}">
      <dgm:prSet/>
      <dgm:spPr/>
      <dgm:t>
        <a:bodyPr/>
        <a:lstStyle/>
        <a:p>
          <a:endParaRPr lang="en-US"/>
        </a:p>
      </dgm:t>
    </dgm:pt>
    <dgm:pt modelId="{39EC0C71-41C7-4F97-9F0A-0776F05610DF}" type="sibTrans" cxnId="{23CAF3EA-9B6B-4224-AECD-CDB723CD3C92}">
      <dgm:prSet/>
      <dgm:spPr/>
      <dgm:t>
        <a:bodyPr/>
        <a:lstStyle/>
        <a:p>
          <a:endParaRPr lang="en-US"/>
        </a:p>
      </dgm:t>
    </dgm:pt>
    <dgm:pt modelId="{BC16839A-1B41-4C57-B6A7-E591F4BF785D}">
      <dgm:prSet/>
      <dgm:spPr/>
      <dgm:t>
        <a:bodyPr/>
        <a:lstStyle/>
        <a:p>
          <a:r>
            <a:rPr lang="en-US" dirty="0" smtClean="0"/>
            <a:t>ML + DL Model</a:t>
          </a:r>
          <a:endParaRPr lang="en-US" dirty="0"/>
        </a:p>
      </dgm:t>
    </dgm:pt>
    <dgm:pt modelId="{B55846B8-7D57-460C-BC98-9CFFEBDACFBF}" type="parTrans" cxnId="{57816EBD-E684-4182-8080-660258F635B3}">
      <dgm:prSet/>
      <dgm:spPr/>
      <dgm:t>
        <a:bodyPr/>
        <a:lstStyle/>
        <a:p>
          <a:endParaRPr lang="en-US"/>
        </a:p>
      </dgm:t>
    </dgm:pt>
    <dgm:pt modelId="{421971BD-15FC-48AB-857A-9C355E9CBA3D}" type="sibTrans" cxnId="{57816EBD-E684-4182-8080-660258F635B3}">
      <dgm:prSet/>
      <dgm:spPr/>
      <dgm:t>
        <a:bodyPr/>
        <a:lstStyle/>
        <a:p>
          <a:endParaRPr lang="en-US"/>
        </a:p>
      </dgm:t>
    </dgm:pt>
    <dgm:pt modelId="{76BD9494-8E3E-41B2-A019-E822910B3E7A}">
      <dgm:prSet/>
      <dgm:spPr/>
      <dgm:t>
        <a:bodyPr/>
        <a:lstStyle/>
        <a:p>
          <a:r>
            <a:rPr lang="en-US" dirty="0" smtClean="0"/>
            <a:t>Detect Engine</a:t>
          </a:r>
          <a:endParaRPr lang="en-US" dirty="0"/>
        </a:p>
      </dgm:t>
    </dgm:pt>
    <dgm:pt modelId="{D6675ACB-AD8E-42B5-8FF1-51A073E967F9}" type="parTrans" cxnId="{8D9B152E-0413-4B17-AB79-3AD0D0C69670}">
      <dgm:prSet/>
      <dgm:spPr/>
      <dgm:t>
        <a:bodyPr/>
        <a:lstStyle/>
        <a:p>
          <a:endParaRPr lang="en-US"/>
        </a:p>
      </dgm:t>
    </dgm:pt>
    <dgm:pt modelId="{59F06F23-FB46-4591-A733-B55D54B125FF}" type="sibTrans" cxnId="{8D9B152E-0413-4B17-AB79-3AD0D0C69670}">
      <dgm:prSet/>
      <dgm:spPr/>
      <dgm:t>
        <a:bodyPr/>
        <a:lstStyle/>
        <a:p>
          <a:endParaRPr lang="en-US"/>
        </a:p>
      </dgm:t>
    </dgm:pt>
    <dgm:pt modelId="{706D10D4-FE32-42A6-BE34-C5054570B90F}" type="pres">
      <dgm:prSet presAssocID="{BB05544F-5739-4B11-A8FA-6C02A853BEAB}" presName="Name0" presStyleCnt="0">
        <dgm:presLayoutVars>
          <dgm:dir/>
          <dgm:resizeHandles val="exact"/>
        </dgm:presLayoutVars>
      </dgm:prSet>
      <dgm:spPr/>
    </dgm:pt>
    <dgm:pt modelId="{6764B02B-4EA1-4469-B5F7-83D2B004A78B}" type="pres">
      <dgm:prSet presAssocID="{8C62A7F6-428E-47F4-9518-FA61FDF5419D}" presName="node" presStyleLbl="node1" presStyleIdx="0" presStyleCnt="6">
        <dgm:presLayoutVars>
          <dgm:bulletEnabled val="1"/>
        </dgm:presLayoutVars>
      </dgm:prSet>
      <dgm:spPr/>
      <dgm:t>
        <a:bodyPr/>
        <a:lstStyle/>
        <a:p>
          <a:endParaRPr lang="en-US"/>
        </a:p>
      </dgm:t>
    </dgm:pt>
    <dgm:pt modelId="{956BD040-81A9-4DC2-A38A-CCBE0C7125E1}" type="pres">
      <dgm:prSet presAssocID="{58FFF7DB-F428-4775-A6C4-B449F39E3EFD}" presName="sibTrans" presStyleLbl="sibTrans2D1" presStyleIdx="0" presStyleCnt="5"/>
      <dgm:spPr/>
      <dgm:t>
        <a:bodyPr/>
        <a:lstStyle/>
        <a:p>
          <a:endParaRPr lang="en-US"/>
        </a:p>
      </dgm:t>
    </dgm:pt>
    <dgm:pt modelId="{CE9FC913-0E08-41F8-8C0E-91DDB45E4B7B}" type="pres">
      <dgm:prSet presAssocID="{58FFF7DB-F428-4775-A6C4-B449F39E3EFD}" presName="connectorText" presStyleLbl="sibTrans2D1" presStyleIdx="0" presStyleCnt="5"/>
      <dgm:spPr/>
      <dgm:t>
        <a:bodyPr/>
        <a:lstStyle/>
        <a:p>
          <a:endParaRPr lang="en-US"/>
        </a:p>
      </dgm:t>
    </dgm:pt>
    <dgm:pt modelId="{14781B9E-0539-430C-943B-DC66956E07B8}" type="pres">
      <dgm:prSet presAssocID="{974C53A5-C27D-46A4-AA37-9E75EEAEADD3}" presName="node" presStyleLbl="node1" presStyleIdx="1" presStyleCnt="6">
        <dgm:presLayoutVars>
          <dgm:bulletEnabled val="1"/>
        </dgm:presLayoutVars>
      </dgm:prSet>
      <dgm:spPr/>
      <dgm:t>
        <a:bodyPr/>
        <a:lstStyle/>
        <a:p>
          <a:endParaRPr lang="en-US"/>
        </a:p>
      </dgm:t>
    </dgm:pt>
    <dgm:pt modelId="{FC9C026D-E4CF-46E8-8679-04F2F34564EE}" type="pres">
      <dgm:prSet presAssocID="{144F82BA-E8D5-44EC-B4C7-4E32CBE90919}" presName="sibTrans" presStyleLbl="sibTrans2D1" presStyleIdx="1" presStyleCnt="5"/>
      <dgm:spPr/>
      <dgm:t>
        <a:bodyPr/>
        <a:lstStyle/>
        <a:p>
          <a:endParaRPr lang="en-US"/>
        </a:p>
      </dgm:t>
    </dgm:pt>
    <dgm:pt modelId="{14510DA9-4C8F-45C5-9535-D39EBE5A7546}" type="pres">
      <dgm:prSet presAssocID="{144F82BA-E8D5-44EC-B4C7-4E32CBE90919}" presName="connectorText" presStyleLbl="sibTrans2D1" presStyleIdx="1" presStyleCnt="5"/>
      <dgm:spPr/>
      <dgm:t>
        <a:bodyPr/>
        <a:lstStyle/>
        <a:p>
          <a:endParaRPr lang="en-US"/>
        </a:p>
      </dgm:t>
    </dgm:pt>
    <dgm:pt modelId="{84C56413-9803-44E6-B115-31CA872C432A}" type="pres">
      <dgm:prSet presAssocID="{09F52506-35AF-4DEE-A75A-6F7AA5ADAD2A}" presName="node" presStyleLbl="node1" presStyleIdx="2" presStyleCnt="6">
        <dgm:presLayoutVars>
          <dgm:bulletEnabled val="1"/>
        </dgm:presLayoutVars>
      </dgm:prSet>
      <dgm:spPr/>
      <dgm:t>
        <a:bodyPr/>
        <a:lstStyle/>
        <a:p>
          <a:endParaRPr lang="en-US"/>
        </a:p>
      </dgm:t>
    </dgm:pt>
    <dgm:pt modelId="{E8FDF395-58E6-4AA2-AFFE-2D4ED596B420}" type="pres">
      <dgm:prSet presAssocID="{39EC0C71-41C7-4F97-9F0A-0776F05610DF}" presName="sibTrans" presStyleLbl="sibTrans2D1" presStyleIdx="2" presStyleCnt="5"/>
      <dgm:spPr/>
      <dgm:t>
        <a:bodyPr/>
        <a:lstStyle/>
        <a:p>
          <a:endParaRPr lang="en-US"/>
        </a:p>
      </dgm:t>
    </dgm:pt>
    <dgm:pt modelId="{4FA74393-8201-4AE7-9A60-253D4CF2AE80}" type="pres">
      <dgm:prSet presAssocID="{39EC0C71-41C7-4F97-9F0A-0776F05610DF}" presName="connectorText" presStyleLbl="sibTrans2D1" presStyleIdx="2" presStyleCnt="5"/>
      <dgm:spPr/>
      <dgm:t>
        <a:bodyPr/>
        <a:lstStyle/>
        <a:p>
          <a:endParaRPr lang="en-US"/>
        </a:p>
      </dgm:t>
    </dgm:pt>
    <dgm:pt modelId="{73F2BEB7-0DE8-4E43-A9EE-6198E120B437}" type="pres">
      <dgm:prSet presAssocID="{BC16839A-1B41-4C57-B6A7-E591F4BF785D}" presName="node" presStyleLbl="node1" presStyleIdx="3" presStyleCnt="6">
        <dgm:presLayoutVars>
          <dgm:bulletEnabled val="1"/>
        </dgm:presLayoutVars>
      </dgm:prSet>
      <dgm:spPr/>
      <dgm:t>
        <a:bodyPr/>
        <a:lstStyle/>
        <a:p>
          <a:endParaRPr lang="en-US"/>
        </a:p>
      </dgm:t>
    </dgm:pt>
    <dgm:pt modelId="{B3702A3F-CEA6-496C-81D5-DB82A047BC2B}" type="pres">
      <dgm:prSet presAssocID="{421971BD-15FC-48AB-857A-9C355E9CBA3D}" presName="sibTrans" presStyleLbl="sibTrans2D1" presStyleIdx="3" presStyleCnt="5"/>
      <dgm:spPr/>
      <dgm:t>
        <a:bodyPr/>
        <a:lstStyle/>
        <a:p>
          <a:endParaRPr lang="en-US"/>
        </a:p>
      </dgm:t>
    </dgm:pt>
    <dgm:pt modelId="{952A458F-2473-47F8-ADB2-77070DC60EC5}" type="pres">
      <dgm:prSet presAssocID="{421971BD-15FC-48AB-857A-9C355E9CBA3D}" presName="connectorText" presStyleLbl="sibTrans2D1" presStyleIdx="3" presStyleCnt="5"/>
      <dgm:spPr/>
      <dgm:t>
        <a:bodyPr/>
        <a:lstStyle/>
        <a:p>
          <a:endParaRPr lang="en-US"/>
        </a:p>
      </dgm:t>
    </dgm:pt>
    <dgm:pt modelId="{20EA4101-3821-47C1-98C5-C72809775372}" type="pres">
      <dgm:prSet presAssocID="{76BD9494-8E3E-41B2-A019-E822910B3E7A}" presName="node" presStyleLbl="node1" presStyleIdx="4" presStyleCnt="6">
        <dgm:presLayoutVars>
          <dgm:bulletEnabled val="1"/>
        </dgm:presLayoutVars>
      </dgm:prSet>
      <dgm:spPr/>
      <dgm:t>
        <a:bodyPr/>
        <a:lstStyle/>
        <a:p>
          <a:endParaRPr lang="en-US"/>
        </a:p>
      </dgm:t>
    </dgm:pt>
    <dgm:pt modelId="{4B8EA996-759C-4D32-B31F-6E3C7223DD20}" type="pres">
      <dgm:prSet presAssocID="{59F06F23-FB46-4591-A733-B55D54B125FF}" presName="sibTrans" presStyleLbl="sibTrans2D1" presStyleIdx="4" presStyleCnt="5"/>
      <dgm:spPr/>
      <dgm:t>
        <a:bodyPr/>
        <a:lstStyle/>
        <a:p>
          <a:endParaRPr lang="en-US"/>
        </a:p>
      </dgm:t>
    </dgm:pt>
    <dgm:pt modelId="{170F8915-B9C3-4711-AB01-25F134E6F333}" type="pres">
      <dgm:prSet presAssocID="{59F06F23-FB46-4591-A733-B55D54B125FF}" presName="connectorText" presStyleLbl="sibTrans2D1" presStyleIdx="4" presStyleCnt="5"/>
      <dgm:spPr/>
      <dgm:t>
        <a:bodyPr/>
        <a:lstStyle/>
        <a:p>
          <a:endParaRPr lang="en-US"/>
        </a:p>
      </dgm:t>
    </dgm:pt>
    <dgm:pt modelId="{C2533EB1-23BD-4F14-9A7D-2F8D2DA09604}" type="pres">
      <dgm:prSet presAssocID="{F9EF9C7C-51D1-42B6-BC19-A1B6A12EFEFB}" presName="node" presStyleLbl="node1" presStyleIdx="5" presStyleCnt="6">
        <dgm:presLayoutVars>
          <dgm:bulletEnabled val="1"/>
        </dgm:presLayoutVars>
      </dgm:prSet>
      <dgm:spPr/>
      <dgm:t>
        <a:bodyPr/>
        <a:lstStyle/>
        <a:p>
          <a:endParaRPr lang="en-US"/>
        </a:p>
      </dgm:t>
    </dgm:pt>
  </dgm:ptLst>
  <dgm:cxnLst>
    <dgm:cxn modelId="{9CF44E9B-D89F-4D7F-956D-D408C41BDEAB}" srcId="{BB05544F-5739-4B11-A8FA-6C02A853BEAB}" destId="{F9EF9C7C-51D1-42B6-BC19-A1B6A12EFEFB}" srcOrd="5" destOrd="0" parTransId="{64C52806-5767-4D69-A72B-9E183C344B63}" sibTransId="{13B2EF1A-3259-43CD-928B-9EB906D369B3}"/>
    <dgm:cxn modelId="{BD1A88A5-BB6C-4B08-9A0C-9EBED70D0E9B}" type="presOf" srcId="{59F06F23-FB46-4591-A733-B55D54B125FF}" destId="{170F8915-B9C3-4711-AB01-25F134E6F333}" srcOrd="1" destOrd="0" presId="urn:microsoft.com/office/officeart/2005/8/layout/process1"/>
    <dgm:cxn modelId="{177F4B46-CC83-4D0B-B7A3-E014C5858F79}" srcId="{BB05544F-5739-4B11-A8FA-6C02A853BEAB}" destId="{974C53A5-C27D-46A4-AA37-9E75EEAEADD3}" srcOrd="1" destOrd="0" parTransId="{1D41A26D-1651-4CA0-AAE4-071DF8FABD24}" sibTransId="{144F82BA-E8D5-44EC-B4C7-4E32CBE90919}"/>
    <dgm:cxn modelId="{6B9D66B1-6B12-44C7-AF74-2A8D51653B5E}" type="presOf" srcId="{76BD9494-8E3E-41B2-A019-E822910B3E7A}" destId="{20EA4101-3821-47C1-98C5-C72809775372}" srcOrd="0" destOrd="0" presId="urn:microsoft.com/office/officeart/2005/8/layout/process1"/>
    <dgm:cxn modelId="{C947C102-9E13-44E2-A339-C29AEF06F46E}" srcId="{BB05544F-5739-4B11-A8FA-6C02A853BEAB}" destId="{8C62A7F6-428E-47F4-9518-FA61FDF5419D}" srcOrd="0" destOrd="0" parTransId="{368D8590-D96C-4EF6-AA6D-E3ABAD70233E}" sibTransId="{58FFF7DB-F428-4775-A6C4-B449F39E3EFD}"/>
    <dgm:cxn modelId="{23CAF3EA-9B6B-4224-AECD-CDB723CD3C92}" srcId="{BB05544F-5739-4B11-A8FA-6C02A853BEAB}" destId="{09F52506-35AF-4DEE-A75A-6F7AA5ADAD2A}" srcOrd="2" destOrd="0" parTransId="{84861BAB-1615-4FB0-9826-E74724724D12}" sibTransId="{39EC0C71-41C7-4F97-9F0A-0776F05610DF}"/>
    <dgm:cxn modelId="{5C4CA356-7D6B-4989-AFB3-E3C1F44748A6}" type="presOf" srcId="{421971BD-15FC-48AB-857A-9C355E9CBA3D}" destId="{B3702A3F-CEA6-496C-81D5-DB82A047BC2B}" srcOrd="0" destOrd="0" presId="urn:microsoft.com/office/officeart/2005/8/layout/process1"/>
    <dgm:cxn modelId="{41EE5B70-AAA5-4063-A8FC-A1128CC8FECA}" type="presOf" srcId="{144F82BA-E8D5-44EC-B4C7-4E32CBE90919}" destId="{FC9C026D-E4CF-46E8-8679-04F2F34564EE}" srcOrd="0" destOrd="0" presId="urn:microsoft.com/office/officeart/2005/8/layout/process1"/>
    <dgm:cxn modelId="{BED45E36-561C-4527-8CAC-AAC8AE151690}" type="presOf" srcId="{39EC0C71-41C7-4F97-9F0A-0776F05610DF}" destId="{4FA74393-8201-4AE7-9A60-253D4CF2AE80}" srcOrd="1" destOrd="0" presId="urn:microsoft.com/office/officeart/2005/8/layout/process1"/>
    <dgm:cxn modelId="{56898EC2-D793-436F-8B54-3A5FE70C3697}" type="presOf" srcId="{8C62A7F6-428E-47F4-9518-FA61FDF5419D}" destId="{6764B02B-4EA1-4469-B5F7-83D2B004A78B}" srcOrd="0" destOrd="0" presId="urn:microsoft.com/office/officeart/2005/8/layout/process1"/>
    <dgm:cxn modelId="{87D61F9D-4121-4C96-9600-560E2537D828}" type="presOf" srcId="{F9EF9C7C-51D1-42B6-BC19-A1B6A12EFEFB}" destId="{C2533EB1-23BD-4F14-9A7D-2F8D2DA09604}" srcOrd="0" destOrd="0" presId="urn:microsoft.com/office/officeart/2005/8/layout/process1"/>
    <dgm:cxn modelId="{57DB53FC-119A-4127-BE47-B8DA030DF81F}" type="presOf" srcId="{59F06F23-FB46-4591-A733-B55D54B125FF}" destId="{4B8EA996-759C-4D32-B31F-6E3C7223DD20}" srcOrd="0" destOrd="0" presId="urn:microsoft.com/office/officeart/2005/8/layout/process1"/>
    <dgm:cxn modelId="{3775C517-6437-483A-A545-0BA06278272F}" type="presOf" srcId="{58FFF7DB-F428-4775-A6C4-B449F39E3EFD}" destId="{CE9FC913-0E08-41F8-8C0E-91DDB45E4B7B}" srcOrd="1" destOrd="0" presId="urn:microsoft.com/office/officeart/2005/8/layout/process1"/>
    <dgm:cxn modelId="{18CD3526-1C38-4048-A55D-38AD6650694B}" type="presOf" srcId="{58FFF7DB-F428-4775-A6C4-B449F39E3EFD}" destId="{956BD040-81A9-4DC2-A38A-CCBE0C7125E1}" srcOrd="0" destOrd="0" presId="urn:microsoft.com/office/officeart/2005/8/layout/process1"/>
    <dgm:cxn modelId="{B3AF9198-E33B-492A-AA83-A0D8C60A67F0}" type="presOf" srcId="{39EC0C71-41C7-4F97-9F0A-0776F05610DF}" destId="{E8FDF395-58E6-4AA2-AFFE-2D4ED596B420}" srcOrd="0" destOrd="0" presId="urn:microsoft.com/office/officeart/2005/8/layout/process1"/>
    <dgm:cxn modelId="{55465B0D-95BB-40FC-A465-93DB1FAED7AB}" type="presOf" srcId="{09F52506-35AF-4DEE-A75A-6F7AA5ADAD2A}" destId="{84C56413-9803-44E6-B115-31CA872C432A}" srcOrd="0" destOrd="0" presId="urn:microsoft.com/office/officeart/2005/8/layout/process1"/>
    <dgm:cxn modelId="{24B18978-1868-43F9-8D7E-9AF052A5BA59}" type="presOf" srcId="{144F82BA-E8D5-44EC-B4C7-4E32CBE90919}" destId="{14510DA9-4C8F-45C5-9535-D39EBE5A7546}" srcOrd="1" destOrd="0" presId="urn:microsoft.com/office/officeart/2005/8/layout/process1"/>
    <dgm:cxn modelId="{24F144D2-5A69-4515-8ED3-A6C6DF9ABBD1}" type="presOf" srcId="{BC16839A-1B41-4C57-B6A7-E591F4BF785D}" destId="{73F2BEB7-0DE8-4E43-A9EE-6198E120B437}" srcOrd="0" destOrd="0" presId="urn:microsoft.com/office/officeart/2005/8/layout/process1"/>
    <dgm:cxn modelId="{BDDF0BD8-9DF1-4FE0-A711-F260EB47011D}" type="presOf" srcId="{974C53A5-C27D-46A4-AA37-9E75EEAEADD3}" destId="{14781B9E-0539-430C-943B-DC66956E07B8}" srcOrd="0" destOrd="0" presId="urn:microsoft.com/office/officeart/2005/8/layout/process1"/>
    <dgm:cxn modelId="{57816EBD-E684-4182-8080-660258F635B3}" srcId="{BB05544F-5739-4B11-A8FA-6C02A853BEAB}" destId="{BC16839A-1B41-4C57-B6A7-E591F4BF785D}" srcOrd="3" destOrd="0" parTransId="{B55846B8-7D57-460C-BC98-9CFFEBDACFBF}" sibTransId="{421971BD-15FC-48AB-857A-9C355E9CBA3D}"/>
    <dgm:cxn modelId="{8D9B152E-0413-4B17-AB79-3AD0D0C69670}" srcId="{BB05544F-5739-4B11-A8FA-6C02A853BEAB}" destId="{76BD9494-8E3E-41B2-A019-E822910B3E7A}" srcOrd="4" destOrd="0" parTransId="{D6675ACB-AD8E-42B5-8FF1-51A073E967F9}" sibTransId="{59F06F23-FB46-4591-A733-B55D54B125FF}"/>
    <dgm:cxn modelId="{E1D07EA3-A0A0-4EBB-8EB4-5CA890D40409}" type="presOf" srcId="{421971BD-15FC-48AB-857A-9C355E9CBA3D}" destId="{952A458F-2473-47F8-ADB2-77070DC60EC5}" srcOrd="1" destOrd="0" presId="urn:microsoft.com/office/officeart/2005/8/layout/process1"/>
    <dgm:cxn modelId="{0A06B991-9F6C-4444-8C29-17CD28D3BB79}" type="presOf" srcId="{BB05544F-5739-4B11-A8FA-6C02A853BEAB}" destId="{706D10D4-FE32-42A6-BE34-C5054570B90F}" srcOrd="0" destOrd="0" presId="urn:microsoft.com/office/officeart/2005/8/layout/process1"/>
    <dgm:cxn modelId="{101F6693-8D60-4CE6-8946-19A8627647FA}" type="presParOf" srcId="{706D10D4-FE32-42A6-BE34-C5054570B90F}" destId="{6764B02B-4EA1-4469-B5F7-83D2B004A78B}" srcOrd="0" destOrd="0" presId="urn:microsoft.com/office/officeart/2005/8/layout/process1"/>
    <dgm:cxn modelId="{F531B45C-5D22-4D8B-AEB6-6BF84D07C279}" type="presParOf" srcId="{706D10D4-FE32-42A6-BE34-C5054570B90F}" destId="{956BD040-81A9-4DC2-A38A-CCBE0C7125E1}" srcOrd="1" destOrd="0" presId="urn:microsoft.com/office/officeart/2005/8/layout/process1"/>
    <dgm:cxn modelId="{8A3F618E-C02F-4198-8CBE-678C79F2253B}" type="presParOf" srcId="{956BD040-81A9-4DC2-A38A-CCBE0C7125E1}" destId="{CE9FC913-0E08-41F8-8C0E-91DDB45E4B7B}" srcOrd="0" destOrd="0" presId="urn:microsoft.com/office/officeart/2005/8/layout/process1"/>
    <dgm:cxn modelId="{5524FB6D-3D06-4BBC-B52F-11953F8538D8}" type="presParOf" srcId="{706D10D4-FE32-42A6-BE34-C5054570B90F}" destId="{14781B9E-0539-430C-943B-DC66956E07B8}" srcOrd="2" destOrd="0" presId="urn:microsoft.com/office/officeart/2005/8/layout/process1"/>
    <dgm:cxn modelId="{FBAB4F7F-87E7-4239-9846-5D43574E74D6}" type="presParOf" srcId="{706D10D4-FE32-42A6-BE34-C5054570B90F}" destId="{FC9C026D-E4CF-46E8-8679-04F2F34564EE}" srcOrd="3" destOrd="0" presId="urn:microsoft.com/office/officeart/2005/8/layout/process1"/>
    <dgm:cxn modelId="{415C83E7-8DC2-4014-ACC0-C55B5F73F283}" type="presParOf" srcId="{FC9C026D-E4CF-46E8-8679-04F2F34564EE}" destId="{14510DA9-4C8F-45C5-9535-D39EBE5A7546}" srcOrd="0" destOrd="0" presId="urn:microsoft.com/office/officeart/2005/8/layout/process1"/>
    <dgm:cxn modelId="{37293824-988C-468B-B792-1C4C26636018}" type="presParOf" srcId="{706D10D4-FE32-42A6-BE34-C5054570B90F}" destId="{84C56413-9803-44E6-B115-31CA872C432A}" srcOrd="4" destOrd="0" presId="urn:microsoft.com/office/officeart/2005/8/layout/process1"/>
    <dgm:cxn modelId="{30E48D88-4917-45C2-9260-428BF21E5A12}" type="presParOf" srcId="{706D10D4-FE32-42A6-BE34-C5054570B90F}" destId="{E8FDF395-58E6-4AA2-AFFE-2D4ED596B420}" srcOrd="5" destOrd="0" presId="urn:microsoft.com/office/officeart/2005/8/layout/process1"/>
    <dgm:cxn modelId="{4A8F312F-1AAA-4304-886D-BA686D0402D6}" type="presParOf" srcId="{E8FDF395-58E6-4AA2-AFFE-2D4ED596B420}" destId="{4FA74393-8201-4AE7-9A60-253D4CF2AE80}" srcOrd="0" destOrd="0" presId="urn:microsoft.com/office/officeart/2005/8/layout/process1"/>
    <dgm:cxn modelId="{F131F406-C1F5-4EB7-9AEE-52B329C02345}" type="presParOf" srcId="{706D10D4-FE32-42A6-BE34-C5054570B90F}" destId="{73F2BEB7-0DE8-4E43-A9EE-6198E120B437}" srcOrd="6" destOrd="0" presId="urn:microsoft.com/office/officeart/2005/8/layout/process1"/>
    <dgm:cxn modelId="{C1E7C2EB-9A62-4976-88DD-9816586D2A7F}" type="presParOf" srcId="{706D10D4-FE32-42A6-BE34-C5054570B90F}" destId="{B3702A3F-CEA6-496C-81D5-DB82A047BC2B}" srcOrd="7" destOrd="0" presId="urn:microsoft.com/office/officeart/2005/8/layout/process1"/>
    <dgm:cxn modelId="{12F11B0B-A023-42F6-A159-4E677027B47F}" type="presParOf" srcId="{B3702A3F-CEA6-496C-81D5-DB82A047BC2B}" destId="{952A458F-2473-47F8-ADB2-77070DC60EC5}" srcOrd="0" destOrd="0" presId="urn:microsoft.com/office/officeart/2005/8/layout/process1"/>
    <dgm:cxn modelId="{F4B5F489-0029-4599-947D-58120F82AD98}" type="presParOf" srcId="{706D10D4-FE32-42A6-BE34-C5054570B90F}" destId="{20EA4101-3821-47C1-98C5-C72809775372}" srcOrd="8" destOrd="0" presId="urn:microsoft.com/office/officeart/2005/8/layout/process1"/>
    <dgm:cxn modelId="{FEE6A215-0430-4787-B9F4-7A2A58761C2A}" type="presParOf" srcId="{706D10D4-FE32-42A6-BE34-C5054570B90F}" destId="{4B8EA996-759C-4D32-B31F-6E3C7223DD20}" srcOrd="9" destOrd="0" presId="urn:microsoft.com/office/officeart/2005/8/layout/process1"/>
    <dgm:cxn modelId="{A5EF1A51-F65F-40AE-A7D4-389F8B25D45F}" type="presParOf" srcId="{4B8EA996-759C-4D32-B31F-6E3C7223DD20}" destId="{170F8915-B9C3-4711-AB01-25F134E6F333}" srcOrd="0" destOrd="0" presId="urn:microsoft.com/office/officeart/2005/8/layout/process1"/>
    <dgm:cxn modelId="{7E43BBF9-F8F7-46E9-9DCB-FAEDE6DA4C8A}" type="presParOf" srcId="{706D10D4-FE32-42A6-BE34-C5054570B90F}" destId="{C2533EB1-23BD-4F14-9A7D-2F8D2DA09604}" srcOrd="10"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5CC5A8-F120-4411-9808-8541104A55B9}">
      <dsp:nvSpPr>
        <dsp:cNvPr id="0" name=""/>
        <dsp:cNvSpPr/>
      </dsp:nvSpPr>
      <dsp:spPr>
        <a:xfrm>
          <a:off x="2987200" y="16911"/>
          <a:ext cx="1755237" cy="1755237"/>
        </a:xfrm>
        <a:prstGeom prst="ellipse">
          <a:avLst/>
        </a:prstGeom>
        <a:solidFill>
          <a:schemeClr val="tx2"/>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100000"/>
            </a:lnSpc>
            <a:spcBef>
              <a:spcPct val="0"/>
            </a:spcBef>
            <a:spcAft>
              <a:spcPct val="35000"/>
            </a:spcAft>
          </a:pPr>
          <a:r>
            <a:rPr lang="en-US" sz="1800" b="1" kern="1200" dirty="0" smtClean="0">
              <a:latin typeface="Times New Roman" panose="02020603050405020304" pitchFamily="18" charset="0"/>
              <a:cs typeface="Times New Roman" panose="02020603050405020304" pitchFamily="18" charset="0"/>
            </a:rPr>
            <a:t>Support Vector Machine</a:t>
          </a:r>
          <a:endParaRPr lang="en-US" sz="1800" b="1" kern="1200" dirty="0">
            <a:latin typeface="Times New Roman" panose="02020603050405020304" pitchFamily="18" charset="0"/>
            <a:cs typeface="Times New Roman" panose="02020603050405020304" pitchFamily="18" charset="0"/>
          </a:endParaRPr>
        </a:p>
      </dsp:txBody>
      <dsp:txXfrm>
        <a:off x="3244249" y="273960"/>
        <a:ext cx="1241139" cy="1241139"/>
      </dsp:txXfrm>
    </dsp:sp>
    <dsp:sp modelId="{3A7EADD0-3341-4830-B4FC-11F694D0EE03}">
      <dsp:nvSpPr>
        <dsp:cNvPr id="0" name=""/>
        <dsp:cNvSpPr/>
      </dsp:nvSpPr>
      <dsp:spPr>
        <a:xfrm rot="2697825">
          <a:off x="4553067" y="1513543"/>
          <a:ext cx="456240" cy="592392"/>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a:lnSpc>
              <a:spcPct val="90000"/>
            </a:lnSpc>
            <a:spcBef>
              <a:spcPct val="0"/>
            </a:spcBef>
            <a:spcAft>
              <a:spcPct val="35000"/>
            </a:spcAft>
          </a:pPr>
          <a:endParaRPr lang="en-US" sz="2500" kern="1200"/>
        </a:p>
      </dsp:txBody>
      <dsp:txXfrm>
        <a:off x="4573081" y="1583660"/>
        <a:ext cx="319368" cy="355436"/>
      </dsp:txXfrm>
    </dsp:sp>
    <dsp:sp modelId="{03E37C0A-9CC8-48A3-BE2C-7E46EFE02C16}">
      <dsp:nvSpPr>
        <dsp:cNvPr id="0" name=""/>
        <dsp:cNvSpPr/>
      </dsp:nvSpPr>
      <dsp:spPr>
        <a:xfrm>
          <a:off x="4838210" y="1865581"/>
          <a:ext cx="1755237" cy="1755237"/>
        </a:xfrm>
        <a:prstGeom prst="ellipse">
          <a:avLst/>
        </a:prstGeom>
        <a:solidFill>
          <a:schemeClr val="tx2"/>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b="1" kern="1200" dirty="0" smtClean="0">
              <a:latin typeface="Times New Roman" panose="02020603050405020304" pitchFamily="18" charset="0"/>
              <a:cs typeface="Times New Roman" panose="02020603050405020304" pitchFamily="18" charset="0"/>
            </a:rPr>
            <a:t>Random Forest</a:t>
          </a:r>
          <a:endParaRPr lang="en-US" sz="1900" b="1" kern="1200" dirty="0">
            <a:latin typeface="Times New Roman" panose="02020603050405020304" pitchFamily="18" charset="0"/>
            <a:cs typeface="Times New Roman" panose="02020603050405020304" pitchFamily="18" charset="0"/>
          </a:endParaRPr>
        </a:p>
      </dsp:txBody>
      <dsp:txXfrm>
        <a:off x="5095259" y="2122630"/>
        <a:ext cx="1241139" cy="1241139"/>
      </dsp:txXfrm>
    </dsp:sp>
    <dsp:sp modelId="{B3B3EC23-15E1-49C5-BD32-5E1FE16CDAAB}">
      <dsp:nvSpPr>
        <dsp:cNvPr id="0" name=""/>
        <dsp:cNvSpPr/>
      </dsp:nvSpPr>
      <dsp:spPr>
        <a:xfrm rot="8100000">
          <a:off x="4560639" y="3369156"/>
          <a:ext cx="466074" cy="592392"/>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a:lnSpc>
              <a:spcPct val="90000"/>
            </a:lnSpc>
            <a:spcBef>
              <a:spcPct val="0"/>
            </a:spcBef>
            <a:spcAft>
              <a:spcPct val="35000"/>
            </a:spcAft>
          </a:pPr>
          <a:endParaRPr lang="en-US" sz="2500" kern="1200" dirty="0"/>
        </a:p>
      </dsp:txBody>
      <dsp:txXfrm rot="10800000">
        <a:off x="4679985" y="3438199"/>
        <a:ext cx="326252" cy="355436"/>
      </dsp:txXfrm>
    </dsp:sp>
    <dsp:sp modelId="{5273305D-291F-43FD-A150-CADA7EEE5C11}">
      <dsp:nvSpPr>
        <dsp:cNvPr id="0" name=""/>
        <dsp:cNvSpPr/>
      </dsp:nvSpPr>
      <dsp:spPr>
        <a:xfrm>
          <a:off x="2975250" y="3728541"/>
          <a:ext cx="1755237" cy="1755237"/>
        </a:xfrm>
        <a:prstGeom prst="ellipse">
          <a:avLst/>
        </a:prstGeom>
        <a:solidFill>
          <a:schemeClr val="tx2"/>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1" kern="1200" dirty="0" smtClean="0">
              <a:latin typeface="Times New Roman" panose="02020603050405020304" pitchFamily="18" charset="0"/>
              <a:cs typeface="Times New Roman" panose="02020603050405020304" pitchFamily="18" charset="0"/>
            </a:rPr>
            <a:t>Naive Bayes</a:t>
          </a:r>
          <a:endParaRPr lang="en-US" sz="1800" b="1" kern="1200" dirty="0">
            <a:latin typeface="Times New Roman" panose="02020603050405020304" pitchFamily="18" charset="0"/>
            <a:cs typeface="Times New Roman" panose="02020603050405020304" pitchFamily="18" charset="0"/>
          </a:endParaRPr>
        </a:p>
      </dsp:txBody>
      <dsp:txXfrm>
        <a:off x="3232299" y="3985590"/>
        <a:ext cx="1241139" cy="1241139"/>
      </dsp:txXfrm>
    </dsp:sp>
    <dsp:sp modelId="{EFC1EDEE-380F-4076-9A73-CBF56456FDD0}">
      <dsp:nvSpPr>
        <dsp:cNvPr id="0" name=""/>
        <dsp:cNvSpPr/>
      </dsp:nvSpPr>
      <dsp:spPr>
        <a:xfrm rot="13500000">
          <a:off x="2697679" y="3387810"/>
          <a:ext cx="466074" cy="592392"/>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a:lnSpc>
              <a:spcPct val="90000"/>
            </a:lnSpc>
            <a:spcBef>
              <a:spcPct val="0"/>
            </a:spcBef>
            <a:spcAft>
              <a:spcPct val="35000"/>
            </a:spcAft>
          </a:pPr>
          <a:endParaRPr lang="en-US" sz="2500" kern="1200"/>
        </a:p>
      </dsp:txBody>
      <dsp:txXfrm rot="10800000">
        <a:off x="2817025" y="3555723"/>
        <a:ext cx="326252" cy="355436"/>
      </dsp:txXfrm>
    </dsp:sp>
    <dsp:sp modelId="{96A14AB9-F25A-4AAE-B8DD-F6B6661A3094}">
      <dsp:nvSpPr>
        <dsp:cNvPr id="0" name=""/>
        <dsp:cNvSpPr/>
      </dsp:nvSpPr>
      <dsp:spPr>
        <a:xfrm>
          <a:off x="1112290" y="1865581"/>
          <a:ext cx="1755237" cy="1755237"/>
        </a:xfrm>
        <a:prstGeom prst="ellipse">
          <a:avLst/>
        </a:prstGeom>
        <a:solidFill>
          <a:schemeClr val="tx2"/>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1" kern="1200" dirty="0" smtClean="0">
              <a:latin typeface="Times New Roman" panose="02020603050405020304" pitchFamily="18" charset="0"/>
              <a:cs typeface="Times New Roman" panose="02020603050405020304" pitchFamily="18" charset="0"/>
            </a:rPr>
            <a:t>Decision Tree</a:t>
          </a:r>
          <a:endParaRPr lang="en-US" sz="1800" b="1" kern="1200" dirty="0">
            <a:latin typeface="Times New Roman" panose="02020603050405020304" pitchFamily="18" charset="0"/>
            <a:cs typeface="Times New Roman" panose="02020603050405020304" pitchFamily="18" charset="0"/>
          </a:endParaRPr>
        </a:p>
      </dsp:txBody>
      <dsp:txXfrm>
        <a:off x="1369339" y="2122630"/>
        <a:ext cx="1241139" cy="1241139"/>
      </dsp:txXfrm>
    </dsp:sp>
    <dsp:sp modelId="{874EBCC2-FD1E-4D71-A7FC-81851DACC160}">
      <dsp:nvSpPr>
        <dsp:cNvPr id="0" name=""/>
        <dsp:cNvSpPr/>
      </dsp:nvSpPr>
      <dsp:spPr>
        <a:xfrm rot="18924225">
          <a:off x="2685372" y="1531913"/>
          <a:ext cx="465231" cy="592392"/>
        </a:xfrm>
        <a:prstGeom prst="rightArrow">
          <a:avLst>
            <a:gd name="adj1" fmla="val 60000"/>
            <a:gd name="adj2" fmla="val 50000"/>
          </a:avLst>
        </a:prstGeom>
        <a:solidFill>
          <a:schemeClr val="dk2">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a:lnSpc>
              <a:spcPct val="90000"/>
            </a:lnSpc>
            <a:spcBef>
              <a:spcPct val="0"/>
            </a:spcBef>
            <a:spcAft>
              <a:spcPct val="35000"/>
            </a:spcAft>
          </a:pPr>
          <a:endParaRPr lang="en-US" sz="2500" kern="1200"/>
        </a:p>
      </dsp:txBody>
      <dsp:txXfrm>
        <a:off x="2705465" y="1699387"/>
        <a:ext cx="325662" cy="3554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C17B35-E777-46FD-967F-4F5ECF7A9D22}">
      <dsp:nvSpPr>
        <dsp:cNvPr id="0" name=""/>
        <dsp:cNvSpPr/>
      </dsp:nvSpPr>
      <dsp:spPr>
        <a:xfrm>
          <a:off x="30358" y="-199350"/>
          <a:ext cx="4892283" cy="4892283"/>
        </a:xfrm>
        <a:prstGeom prst="circularArrow">
          <a:avLst>
            <a:gd name="adj1" fmla="val 5310"/>
            <a:gd name="adj2" fmla="val 343918"/>
            <a:gd name="adj3" fmla="val 12695751"/>
            <a:gd name="adj4" fmla="val 18075192"/>
            <a:gd name="adj5" fmla="val 6195"/>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85C08F-D0D3-44E9-90FD-737595FFCEF0}">
      <dsp:nvSpPr>
        <dsp:cNvPr id="0" name=""/>
        <dsp:cNvSpPr/>
      </dsp:nvSpPr>
      <dsp:spPr>
        <a:xfrm>
          <a:off x="858012" y="0"/>
          <a:ext cx="3236975" cy="1618487"/>
        </a:xfrm>
        <a:prstGeom prst="round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latin typeface="Times New Roman" panose="02020603050405020304" pitchFamily="18" charset="0"/>
              <a:cs typeface="Times New Roman" panose="02020603050405020304" pitchFamily="18" charset="0"/>
            </a:rPr>
            <a:t>KNN Clustering</a:t>
          </a:r>
          <a:endParaRPr lang="en-US" sz="1800" b="1" kern="1200" dirty="0">
            <a:latin typeface="Times New Roman" panose="02020603050405020304" pitchFamily="18" charset="0"/>
            <a:cs typeface="Times New Roman" panose="02020603050405020304" pitchFamily="18" charset="0"/>
          </a:endParaRPr>
        </a:p>
      </dsp:txBody>
      <dsp:txXfrm>
        <a:off x="937020" y="79008"/>
        <a:ext cx="3078959" cy="1460471"/>
      </dsp:txXfrm>
    </dsp:sp>
    <dsp:sp modelId="{D35ABB1A-C519-4C97-93C5-B622DBF07B9C}">
      <dsp:nvSpPr>
        <dsp:cNvPr id="0" name=""/>
        <dsp:cNvSpPr/>
      </dsp:nvSpPr>
      <dsp:spPr>
        <a:xfrm>
          <a:off x="858012" y="2877311"/>
          <a:ext cx="3236975" cy="1618487"/>
        </a:xfrm>
        <a:prstGeom prst="round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latin typeface="Times New Roman" panose="02020603050405020304" pitchFamily="18" charset="0"/>
              <a:cs typeface="Times New Roman" panose="02020603050405020304" pitchFamily="18" charset="0"/>
            </a:rPr>
            <a:t>Anomaly Detection</a:t>
          </a:r>
          <a:endParaRPr lang="en-US" sz="1800" b="1" kern="1200" dirty="0">
            <a:latin typeface="Times New Roman" panose="02020603050405020304" pitchFamily="18" charset="0"/>
            <a:cs typeface="Times New Roman" panose="02020603050405020304" pitchFamily="18" charset="0"/>
          </a:endParaRPr>
        </a:p>
      </dsp:txBody>
      <dsp:txXfrm>
        <a:off x="937020" y="2956319"/>
        <a:ext cx="3078959" cy="146047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AF44F-58B5-4055-9C19-CC1054138684}">
      <dsp:nvSpPr>
        <dsp:cNvPr id="0" name=""/>
        <dsp:cNvSpPr/>
      </dsp:nvSpPr>
      <dsp:spPr>
        <a:xfrm>
          <a:off x="0" y="2946"/>
          <a:ext cx="13258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DDA66B-8D7D-4291-9AF4-300E1993EFA0}">
      <dsp:nvSpPr>
        <dsp:cNvPr id="0" name=""/>
        <dsp:cNvSpPr/>
      </dsp:nvSpPr>
      <dsp:spPr>
        <a:xfrm>
          <a:off x="0" y="2946"/>
          <a:ext cx="13258800" cy="101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lvl="0" algn="ctr" defTabSz="1555750">
            <a:lnSpc>
              <a:spcPct val="100000"/>
            </a:lnSpc>
            <a:spcBef>
              <a:spcPct val="0"/>
            </a:spcBef>
            <a:spcAft>
              <a:spcPct val="35000"/>
            </a:spcAft>
          </a:pPr>
          <a:r>
            <a:rPr lang="en-US" sz="3500" b="0" kern="1200" dirty="0" smtClean="0">
              <a:solidFill>
                <a:srgbClr val="00B0F0"/>
              </a:solidFill>
              <a:latin typeface="Times New Roman" panose="02020603050405020304" pitchFamily="18" charset="0"/>
              <a:cs typeface="Times New Roman" panose="02020603050405020304" pitchFamily="18" charset="0"/>
            </a:rPr>
            <a:t>CNN = Convolutional Neural Networks </a:t>
          </a:r>
          <a:endParaRPr lang="en-US" sz="3500" b="0" kern="1200" dirty="0">
            <a:solidFill>
              <a:srgbClr val="00B0F0"/>
            </a:solidFill>
            <a:latin typeface="Times New Roman" panose="02020603050405020304" pitchFamily="18" charset="0"/>
            <a:cs typeface="Times New Roman" panose="02020603050405020304" pitchFamily="18" charset="0"/>
          </a:endParaRPr>
        </a:p>
      </dsp:txBody>
      <dsp:txXfrm>
        <a:off x="0" y="2946"/>
        <a:ext cx="13258800" cy="1014290"/>
      </dsp:txXfrm>
    </dsp:sp>
    <dsp:sp modelId="{543DF3D7-104F-4AC9-991C-0408F4821BC8}">
      <dsp:nvSpPr>
        <dsp:cNvPr id="0" name=""/>
        <dsp:cNvSpPr/>
      </dsp:nvSpPr>
      <dsp:spPr>
        <a:xfrm>
          <a:off x="0" y="804175"/>
          <a:ext cx="13258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D050FA-54BD-4B72-9430-8D44B2D53C72}">
      <dsp:nvSpPr>
        <dsp:cNvPr id="0" name=""/>
        <dsp:cNvSpPr/>
      </dsp:nvSpPr>
      <dsp:spPr>
        <a:xfrm>
          <a:off x="0" y="803445"/>
          <a:ext cx="13258800" cy="101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lvl="0" algn="ctr" defTabSz="1555750">
            <a:lnSpc>
              <a:spcPct val="100000"/>
            </a:lnSpc>
            <a:spcBef>
              <a:spcPct val="0"/>
            </a:spcBef>
            <a:spcAft>
              <a:spcPct val="35000"/>
            </a:spcAft>
          </a:pPr>
          <a:r>
            <a:rPr lang="en-US" sz="3500" kern="1200" dirty="0" smtClean="0">
              <a:solidFill>
                <a:srgbClr val="00B0F0"/>
              </a:solidFill>
              <a:latin typeface="Times New Roman" panose="02020603050405020304" pitchFamily="18" charset="0"/>
              <a:cs typeface="Times New Roman" panose="02020603050405020304" pitchFamily="18" charset="0"/>
            </a:rPr>
            <a:t>RNN = Recurrent Neural Network</a:t>
          </a:r>
          <a:endParaRPr lang="en-US" sz="3500" kern="1200" dirty="0">
            <a:solidFill>
              <a:srgbClr val="00B0F0"/>
            </a:solidFill>
            <a:latin typeface="Times New Roman" panose="02020603050405020304" pitchFamily="18" charset="0"/>
            <a:cs typeface="Times New Roman" panose="02020603050405020304" pitchFamily="18" charset="0"/>
          </a:endParaRPr>
        </a:p>
      </dsp:txBody>
      <dsp:txXfrm>
        <a:off x="0" y="803445"/>
        <a:ext cx="13258800" cy="1014290"/>
      </dsp:txXfrm>
    </dsp:sp>
    <dsp:sp modelId="{2A3D04EF-5B44-4B61-AF84-2A71460CDBFD}">
      <dsp:nvSpPr>
        <dsp:cNvPr id="0" name=""/>
        <dsp:cNvSpPr/>
      </dsp:nvSpPr>
      <dsp:spPr>
        <a:xfrm>
          <a:off x="0" y="1588826"/>
          <a:ext cx="13258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F7D736-E6F4-43FD-B35D-DE3B4088DB86}">
      <dsp:nvSpPr>
        <dsp:cNvPr id="0" name=""/>
        <dsp:cNvSpPr/>
      </dsp:nvSpPr>
      <dsp:spPr>
        <a:xfrm>
          <a:off x="0" y="1583313"/>
          <a:ext cx="13258800" cy="673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lvl="0" algn="ctr" defTabSz="1555750">
            <a:lnSpc>
              <a:spcPct val="100000"/>
            </a:lnSpc>
            <a:spcBef>
              <a:spcPct val="0"/>
            </a:spcBef>
            <a:spcAft>
              <a:spcPct val="35000"/>
            </a:spcAft>
          </a:pPr>
          <a:r>
            <a:rPr lang="en-US" sz="3500" kern="1200" dirty="0" smtClean="0">
              <a:solidFill>
                <a:srgbClr val="00B0F0"/>
              </a:solidFill>
              <a:latin typeface="Times New Roman" panose="02020603050405020304" pitchFamily="18" charset="0"/>
              <a:cs typeface="Times New Roman" panose="02020603050405020304" pitchFamily="18" charset="0"/>
            </a:rPr>
            <a:t>LSTM = Long Short-Term Memory</a:t>
          </a:r>
          <a:endParaRPr lang="en-US" sz="3500" kern="1200" dirty="0">
            <a:solidFill>
              <a:srgbClr val="00B0F0"/>
            </a:solidFill>
            <a:latin typeface="Times New Roman" panose="02020603050405020304" pitchFamily="18" charset="0"/>
            <a:cs typeface="Times New Roman" panose="02020603050405020304" pitchFamily="18" charset="0"/>
          </a:endParaRPr>
        </a:p>
      </dsp:txBody>
      <dsp:txXfrm>
        <a:off x="0" y="1583313"/>
        <a:ext cx="13258800" cy="673935"/>
      </dsp:txXfrm>
    </dsp:sp>
    <dsp:sp modelId="{F27D643F-12BC-4582-A0FD-514FA23EF0A2}">
      <dsp:nvSpPr>
        <dsp:cNvPr id="0" name=""/>
        <dsp:cNvSpPr/>
      </dsp:nvSpPr>
      <dsp:spPr>
        <a:xfrm>
          <a:off x="0" y="2358322"/>
          <a:ext cx="132588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E02942-18A2-4886-9446-FCE9C8BAF4BE}">
      <dsp:nvSpPr>
        <dsp:cNvPr id="0" name=""/>
        <dsp:cNvSpPr/>
      </dsp:nvSpPr>
      <dsp:spPr>
        <a:xfrm>
          <a:off x="0" y="2358322"/>
          <a:ext cx="13258800" cy="101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lvl="0" algn="ctr" defTabSz="1555750">
            <a:lnSpc>
              <a:spcPct val="90000"/>
            </a:lnSpc>
            <a:spcBef>
              <a:spcPct val="0"/>
            </a:spcBef>
            <a:spcAft>
              <a:spcPct val="35000"/>
            </a:spcAft>
          </a:pPr>
          <a:r>
            <a:rPr lang="en-US" sz="3500" kern="1200" dirty="0" smtClean="0">
              <a:solidFill>
                <a:srgbClr val="00B0F0"/>
              </a:solidFill>
              <a:latin typeface="Times New Roman" panose="02020603050405020304" pitchFamily="18" charset="0"/>
              <a:cs typeface="Times New Roman" panose="02020603050405020304" pitchFamily="18" charset="0"/>
            </a:rPr>
            <a:t>GAN = Generative Adversarial Network</a:t>
          </a:r>
          <a:endParaRPr lang="en-US" sz="3500" kern="1200" dirty="0">
            <a:solidFill>
              <a:srgbClr val="00B0F0"/>
            </a:solidFill>
            <a:latin typeface="Times New Roman" panose="02020603050405020304" pitchFamily="18" charset="0"/>
            <a:cs typeface="Times New Roman" panose="02020603050405020304" pitchFamily="18" charset="0"/>
          </a:endParaRPr>
        </a:p>
      </dsp:txBody>
      <dsp:txXfrm>
        <a:off x="0" y="2358322"/>
        <a:ext cx="13258800" cy="10142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64B02B-4EA1-4469-B5F7-83D2B004A78B}">
      <dsp:nvSpPr>
        <dsp:cNvPr id="0" name=""/>
        <dsp:cNvSpPr/>
      </dsp:nvSpPr>
      <dsp:spPr>
        <a:xfrm>
          <a:off x="0" y="642366"/>
          <a:ext cx="1733549" cy="1040129"/>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Input Data</a:t>
          </a:r>
          <a:endParaRPr lang="en-US" sz="2100" kern="1200" dirty="0"/>
        </a:p>
      </dsp:txBody>
      <dsp:txXfrm>
        <a:off x="30464" y="672830"/>
        <a:ext cx="1672621" cy="979201"/>
      </dsp:txXfrm>
    </dsp:sp>
    <dsp:sp modelId="{956BD040-81A9-4DC2-A38A-CCBE0C7125E1}">
      <dsp:nvSpPr>
        <dsp:cNvPr id="0" name=""/>
        <dsp:cNvSpPr/>
      </dsp:nvSpPr>
      <dsp:spPr>
        <a:xfrm>
          <a:off x="1906904" y="947470"/>
          <a:ext cx="367512" cy="429920"/>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1906904" y="1033454"/>
        <a:ext cx="257258" cy="257952"/>
      </dsp:txXfrm>
    </dsp:sp>
    <dsp:sp modelId="{14781B9E-0539-430C-943B-DC66956E07B8}">
      <dsp:nvSpPr>
        <dsp:cNvPr id="0" name=""/>
        <dsp:cNvSpPr/>
      </dsp:nvSpPr>
      <dsp:spPr>
        <a:xfrm>
          <a:off x="2426969" y="642366"/>
          <a:ext cx="1733549" cy="1040129"/>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Data Preprocessing</a:t>
          </a:r>
          <a:endParaRPr lang="en-US" sz="2100" kern="1200" dirty="0"/>
        </a:p>
      </dsp:txBody>
      <dsp:txXfrm>
        <a:off x="2457433" y="672830"/>
        <a:ext cx="1672621" cy="979201"/>
      </dsp:txXfrm>
    </dsp:sp>
    <dsp:sp modelId="{FC9C026D-E4CF-46E8-8679-04F2F34564EE}">
      <dsp:nvSpPr>
        <dsp:cNvPr id="0" name=""/>
        <dsp:cNvSpPr/>
      </dsp:nvSpPr>
      <dsp:spPr>
        <a:xfrm>
          <a:off x="4333874" y="947470"/>
          <a:ext cx="367512" cy="429920"/>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4333874" y="1033454"/>
        <a:ext cx="257258" cy="257952"/>
      </dsp:txXfrm>
    </dsp:sp>
    <dsp:sp modelId="{84C56413-9803-44E6-B115-31CA872C432A}">
      <dsp:nvSpPr>
        <dsp:cNvPr id="0" name=""/>
        <dsp:cNvSpPr/>
      </dsp:nvSpPr>
      <dsp:spPr>
        <a:xfrm>
          <a:off x="4853939" y="642366"/>
          <a:ext cx="1733549" cy="1040129"/>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Feature Extraction</a:t>
          </a:r>
          <a:endParaRPr lang="en-US" sz="2100" kern="1200" dirty="0"/>
        </a:p>
      </dsp:txBody>
      <dsp:txXfrm>
        <a:off x="4884403" y="672830"/>
        <a:ext cx="1672621" cy="979201"/>
      </dsp:txXfrm>
    </dsp:sp>
    <dsp:sp modelId="{E8FDF395-58E6-4AA2-AFFE-2D4ED596B420}">
      <dsp:nvSpPr>
        <dsp:cNvPr id="0" name=""/>
        <dsp:cNvSpPr/>
      </dsp:nvSpPr>
      <dsp:spPr>
        <a:xfrm>
          <a:off x="6760844" y="947470"/>
          <a:ext cx="367512" cy="429920"/>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6760844" y="1033454"/>
        <a:ext cx="257258" cy="257952"/>
      </dsp:txXfrm>
    </dsp:sp>
    <dsp:sp modelId="{73F2BEB7-0DE8-4E43-A9EE-6198E120B437}">
      <dsp:nvSpPr>
        <dsp:cNvPr id="0" name=""/>
        <dsp:cNvSpPr/>
      </dsp:nvSpPr>
      <dsp:spPr>
        <a:xfrm>
          <a:off x="7280909" y="642366"/>
          <a:ext cx="1733549" cy="1040129"/>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ML + DL Model</a:t>
          </a:r>
          <a:endParaRPr lang="en-US" sz="2100" kern="1200" dirty="0"/>
        </a:p>
      </dsp:txBody>
      <dsp:txXfrm>
        <a:off x="7311373" y="672830"/>
        <a:ext cx="1672621" cy="979201"/>
      </dsp:txXfrm>
    </dsp:sp>
    <dsp:sp modelId="{B3702A3F-CEA6-496C-81D5-DB82A047BC2B}">
      <dsp:nvSpPr>
        <dsp:cNvPr id="0" name=""/>
        <dsp:cNvSpPr/>
      </dsp:nvSpPr>
      <dsp:spPr>
        <a:xfrm>
          <a:off x="9187814" y="947470"/>
          <a:ext cx="367512" cy="429920"/>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9187814" y="1033454"/>
        <a:ext cx="257258" cy="257952"/>
      </dsp:txXfrm>
    </dsp:sp>
    <dsp:sp modelId="{20EA4101-3821-47C1-98C5-C72809775372}">
      <dsp:nvSpPr>
        <dsp:cNvPr id="0" name=""/>
        <dsp:cNvSpPr/>
      </dsp:nvSpPr>
      <dsp:spPr>
        <a:xfrm>
          <a:off x="9707879" y="642366"/>
          <a:ext cx="1733549" cy="1040129"/>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Detect Engine</a:t>
          </a:r>
          <a:endParaRPr lang="en-US" sz="2100" kern="1200" dirty="0"/>
        </a:p>
      </dsp:txBody>
      <dsp:txXfrm>
        <a:off x="9738343" y="672830"/>
        <a:ext cx="1672621" cy="979201"/>
      </dsp:txXfrm>
    </dsp:sp>
    <dsp:sp modelId="{4B8EA996-759C-4D32-B31F-6E3C7223DD20}">
      <dsp:nvSpPr>
        <dsp:cNvPr id="0" name=""/>
        <dsp:cNvSpPr/>
      </dsp:nvSpPr>
      <dsp:spPr>
        <a:xfrm>
          <a:off x="11614784" y="947470"/>
          <a:ext cx="367512" cy="429920"/>
        </a:xfrm>
        <a:prstGeom prst="rightArrow">
          <a:avLst>
            <a:gd name="adj1" fmla="val 60000"/>
            <a:gd name="adj2" fmla="val 50000"/>
          </a:avLst>
        </a:prstGeom>
        <a:gradFill rotWithShape="0">
          <a:gsLst>
            <a:gs pos="0">
              <a:schemeClr val="dk2">
                <a:tint val="60000"/>
                <a:hueOff val="0"/>
                <a:satOff val="0"/>
                <a:lumOff val="0"/>
                <a:alphaOff val="0"/>
                <a:shade val="51000"/>
                <a:satMod val="130000"/>
              </a:schemeClr>
            </a:gs>
            <a:gs pos="80000">
              <a:schemeClr val="dk2">
                <a:tint val="60000"/>
                <a:hueOff val="0"/>
                <a:satOff val="0"/>
                <a:lumOff val="0"/>
                <a:alphaOff val="0"/>
                <a:shade val="93000"/>
                <a:satMod val="130000"/>
              </a:schemeClr>
            </a:gs>
            <a:gs pos="100000">
              <a:schemeClr val="dk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11614784" y="1033454"/>
        <a:ext cx="257258" cy="257952"/>
      </dsp:txXfrm>
    </dsp:sp>
    <dsp:sp modelId="{C2533EB1-23BD-4F14-9A7D-2F8D2DA09604}">
      <dsp:nvSpPr>
        <dsp:cNvPr id="0" name=""/>
        <dsp:cNvSpPr/>
      </dsp:nvSpPr>
      <dsp:spPr>
        <a:xfrm>
          <a:off x="12134849" y="642366"/>
          <a:ext cx="1733549" cy="1040129"/>
        </a:xfrm>
        <a:prstGeom prst="roundRect">
          <a:avLst>
            <a:gd name="adj" fmla="val 10000"/>
          </a:avLst>
        </a:prstGeom>
        <a:gradFill rotWithShape="0">
          <a:gsLst>
            <a:gs pos="0">
              <a:schemeClr val="dk2">
                <a:hueOff val="0"/>
                <a:satOff val="0"/>
                <a:lumOff val="0"/>
                <a:alphaOff val="0"/>
                <a:shade val="51000"/>
                <a:satMod val="130000"/>
              </a:schemeClr>
            </a:gs>
            <a:gs pos="80000">
              <a:schemeClr val="dk2">
                <a:hueOff val="0"/>
                <a:satOff val="0"/>
                <a:lumOff val="0"/>
                <a:alphaOff val="0"/>
                <a:shade val="93000"/>
                <a:satMod val="130000"/>
              </a:schemeClr>
            </a:gs>
            <a:gs pos="100000">
              <a:schemeClr val="dk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Response Action</a:t>
          </a:r>
          <a:endParaRPr lang="en-US" sz="2100" kern="1200" dirty="0"/>
        </a:p>
      </dsp:txBody>
      <dsp:txXfrm>
        <a:off x="12165313" y="672830"/>
        <a:ext cx="1672621" cy="979201"/>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3" Type="http://schemas.openxmlformats.org/officeDocument/2006/relationships/image" Target="../media/image2.png"/><Relationship Id="rId7" Type="http://schemas.openxmlformats.org/officeDocument/2006/relationships/diagramQuickStyle" Target="../diagrams/quickStyle1.xml"/><Relationship Id="rId12" Type="http://schemas.openxmlformats.org/officeDocument/2006/relationships/diagramQuickStyle" Target="../diagrams/quickStyle2.xml"/><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0" Type="http://schemas.openxmlformats.org/officeDocument/2006/relationships/diagramData" Target="../diagrams/data2.xml"/><Relationship Id="rId4" Type="http://schemas.openxmlformats.org/officeDocument/2006/relationships/image" Target="../media/image3.png"/><Relationship Id="rId9" Type="http://schemas.microsoft.com/office/2007/relationships/diagramDrawing" Target="../diagrams/drawing1.xml"/><Relationship Id="rId14" Type="http://schemas.microsoft.com/office/2007/relationships/diagramDrawing" Target="../diagrams/drawing2.xml"/></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13"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image" Target="../media/image30.png"/><Relationship Id="rId12" Type="http://schemas.openxmlformats.org/officeDocument/2006/relationships/diagramColors" Target="../diagrams/colors3.xml"/><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diagramQuickStyle" Target="../diagrams/quickStyle3.xml"/><Relationship Id="rId5" Type="http://schemas.openxmlformats.org/officeDocument/2006/relationships/image" Target="../media/image28.png"/><Relationship Id="rId10" Type="http://schemas.openxmlformats.org/officeDocument/2006/relationships/diagramLayout" Target="../diagrams/layout3.xml"/><Relationship Id="rId4" Type="http://schemas.openxmlformats.org/officeDocument/2006/relationships/image" Target="../media/image3.png"/><Relationship Id="rId9" Type="http://schemas.openxmlformats.org/officeDocument/2006/relationships/diagramData" Target="../diagrams/data3.xml"/><Relationship Id="rId14" Type="http://schemas.openxmlformats.org/officeDocument/2006/relationships/audio" Target="../media/audio1.wav"/></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image" Target="../media/image2.png"/><Relationship Id="rId7" Type="http://schemas.openxmlformats.org/officeDocument/2006/relationships/image" Target="../media/image34.png"/><Relationship Id="rId12" Type="http://schemas.microsoft.com/office/2007/relationships/diagramDrawing" Target="../diagrams/drawing4.xml"/><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diagramColors" Target="../diagrams/colors4.xml"/><Relationship Id="rId5" Type="http://schemas.openxmlformats.org/officeDocument/2006/relationships/image" Target="../media/image32.png"/><Relationship Id="rId10" Type="http://schemas.openxmlformats.org/officeDocument/2006/relationships/diagramQuickStyle" Target="../diagrams/quickStyle4.xml"/><Relationship Id="rId4" Type="http://schemas.openxmlformats.org/officeDocument/2006/relationships/image" Target="../media/image3.png"/><Relationship Id="rId9"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6.png"/><Relationship Id="rId10" Type="http://schemas.openxmlformats.org/officeDocument/2006/relationships/image" Target="../media/image35.svg"/><Relationship Id="rId4" Type="http://schemas.openxmlformats.org/officeDocument/2006/relationships/image" Target="../media/image3.png"/><Relationship Id="rId9"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44.png"/><Relationship Id="rId3" Type="http://schemas.openxmlformats.org/officeDocument/2006/relationships/image" Target="../media/image2.png"/><Relationship Id="rId7" Type="http://schemas.openxmlformats.org/officeDocument/2006/relationships/image" Target="../media/image41.png"/><Relationship Id="rId12" Type="http://schemas.openxmlformats.org/officeDocument/2006/relationships/image" Target="../media/image20.svg"/><Relationship Id="rId2" Type="http://schemas.openxmlformats.org/officeDocument/2006/relationships/image" Target="../media/image1.jpeg"/><Relationship Id="rId16"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7.svg"/><Relationship Id="rId11" Type="http://schemas.openxmlformats.org/officeDocument/2006/relationships/image" Target="../media/image43.png"/><Relationship Id="rId5" Type="http://schemas.openxmlformats.org/officeDocument/2006/relationships/image" Target="../media/image6.png"/><Relationship Id="rId15" Type="http://schemas.openxmlformats.org/officeDocument/2006/relationships/image" Target="../media/image45.png"/><Relationship Id="rId10" Type="http://schemas.openxmlformats.org/officeDocument/2006/relationships/image" Target="../media/image16.svg"/><Relationship Id="rId4" Type="http://schemas.openxmlformats.org/officeDocument/2006/relationships/image" Target="../media/image3.png"/><Relationship Id="rId9" Type="http://schemas.openxmlformats.org/officeDocument/2006/relationships/image" Target="../media/image42.png"/><Relationship Id="rId1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714" y="-762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14153947" y="4812053"/>
            <a:ext cx="8289535" cy="9287994"/>
          </a:xfrm>
          <a:custGeom>
            <a:avLst/>
            <a:gdLst/>
            <a:ahLst/>
            <a:cxnLst/>
            <a:rect l="l" t="t" r="r" b="b"/>
            <a:pathLst>
              <a:path w="8289535" h="9287994">
                <a:moveTo>
                  <a:pt x="0" y="0"/>
                </a:moveTo>
                <a:lnTo>
                  <a:pt x="8289535" y="0"/>
                </a:lnTo>
                <a:lnTo>
                  <a:pt x="8289535" y="9287995"/>
                </a:lnTo>
                <a:lnTo>
                  <a:pt x="0" y="9287995"/>
                </a:lnTo>
                <a:lnTo>
                  <a:pt x="0" y="0"/>
                </a:lnTo>
                <a:close/>
              </a:path>
            </a:pathLst>
          </a:custGeom>
          <a:blipFill>
            <a:blip r:embed="rId3">
              <a:alphaModFix amt="80000"/>
            </a:blip>
            <a:stretch>
              <a:fillRect/>
            </a:stretch>
          </a:blipFill>
        </p:spPr>
      </p:sp>
      <p:sp>
        <p:nvSpPr>
          <p:cNvPr id="4" name="Freeform 4"/>
          <p:cNvSpPr/>
          <p:nvPr/>
        </p:nvSpPr>
        <p:spPr>
          <a:xfrm>
            <a:off x="-3733800" y="-332905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5" name="Freeform 5"/>
          <p:cNvSpPr/>
          <p:nvPr/>
        </p:nvSpPr>
        <p:spPr>
          <a:xfrm>
            <a:off x="1985051" y="3949895"/>
            <a:ext cx="3248789" cy="3733800"/>
          </a:xfrm>
          <a:custGeom>
            <a:avLst/>
            <a:gdLst/>
            <a:ahLst/>
            <a:cxnLst/>
            <a:rect l="l" t="t" r="r" b="b"/>
            <a:pathLst>
              <a:path w="5755517" h="7200900">
                <a:moveTo>
                  <a:pt x="0" y="0"/>
                </a:moveTo>
                <a:lnTo>
                  <a:pt x="5755517" y="0"/>
                </a:lnTo>
                <a:lnTo>
                  <a:pt x="5755517" y="7200900"/>
                </a:lnTo>
                <a:lnTo>
                  <a:pt x="0" y="72009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TextBox 7"/>
          <p:cNvSpPr txBox="1"/>
          <p:nvPr/>
        </p:nvSpPr>
        <p:spPr>
          <a:xfrm>
            <a:off x="4363239" y="714324"/>
            <a:ext cx="9582949" cy="1538883"/>
          </a:xfrm>
          <a:prstGeom prst="rect">
            <a:avLst/>
          </a:prstGeom>
        </p:spPr>
        <p:txBody>
          <a:bodyPr wrap="square" lIns="0" tIns="0" rIns="0" bIns="0" rtlCol="0" anchor="t">
            <a:spAutoFit/>
          </a:bodyPr>
          <a:lstStyle/>
          <a:p>
            <a:pPr marL="0" lvl="0" indent="0" algn="ctr"/>
            <a:r>
              <a:rPr lang="en-US" sz="5000" b="1" dirty="0" smtClean="0">
                <a:solidFill>
                  <a:srgbClr val="FFFFFF"/>
                </a:solidFill>
                <a:latin typeface="Neo Tech Bold"/>
                <a:ea typeface="Neo Tech Bold"/>
                <a:cs typeface="Neo Tech Bold"/>
                <a:sym typeface="Neo Tech Bold"/>
              </a:rPr>
              <a:t>Malware Detection Using Artificial Intelligence: A Survey</a:t>
            </a:r>
            <a:endParaRPr lang="en-US" sz="5000" b="1" dirty="0">
              <a:solidFill>
                <a:srgbClr val="FFFFFF"/>
              </a:solidFill>
              <a:latin typeface="Neo Tech Bold"/>
              <a:ea typeface="Neo Tech Bold"/>
              <a:cs typeface="Neo Tech Bold"/>
              <a:sym typeface="Neo Tech Bold"/>
            </a:endParaRPr>
          </a:p>
        </p:txBody>
      </p:sp>
      <p:grpSp>
        <p:nvGrpSpPr>
          <p:cNvPr id="12" name="Group 11"/>
          <p:cNvGrpSpPr/>
          <p:nvPr/>
        </p:nvGrpSpPr>
        <p:grpSpPr>
          <a:xfrm>
            <a:off x="8969877" y="3162300"/>
            <a:ext cx="8229600" cy="5308990"/>
            <a:chOff x="7848600" y="3688080"/>
            <a:chExt cx="9601200" cy="5113020"/>
          </a:xfrm>
        </p:grpSpPr>
        <p:sp>
          <p:nvSpPr>
            <p:cNvPr id="10" name="Oval Callout 9"/>
            <p:cNvSpPr/>
            <p:nvPr/>
          </p:nvSpPr>
          <p:spPr>
            <a:xfrm>
              <a:off x="7848600" y="3688080"/>
              <a:ext cx="9601200" cy="5113020"/>
            </a:xfrm>
            <a:prstGeom prst="wedgeEllipseCallout">
              <a:avLst/>
            </a:prstGeom>
            <a:solidFill>
              <a:srgbClr val="00206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TextBox 8"/>
            <p:cNvSpPr txBox="1"/>
            <p:nvPr/>
          </p:nvSpPr>
          <p:spPr>
            <a:xfrm>
              <a:off x="8153400" y="5304544"/>
              <a:ext cx="8991600" cy="2124312"/>
            </a:xfrm>
            <a:prstGeom prst="rect">
              <a:avLst/>
            </a:prstGeom>
          </p:spPr>
          <p:txBody>
            <a:bodyPr wrap="square" lIns="0" tIns="0" rIns="0" bIns="0" rtlCol="0" anchor="t">
              <a:spAutoFit/>
            </a:bodyPr>
            <a:lstStyle/>
            <a:p>
              <a:pPr marL="0" lvl="0" indent="0" algn="ctr">
                <a:lnSpc>
                  <a:spcPts val="4279"/>
                </a:lnSpc>
              </a:pPr>
              <a:r>
                <a:rPr lang="en-US" sz="3000" dirty="0" smtClean="0">
                  <a:solidFill>
                    <a:srgbClr val="FFFFFF"/>
                  </a:solidFill>
                  <a:latin typeface="Neo Tech"/>
                  <a:ea typeface="Neo Tech"/>
                  <a:cs typeface="Neo Tech"/>
                  <a:sym typeface="Neo Tech"/>
                </a:rPr>
                <a:t>Presented By:</a:t>
              </a:r>
              <a:r>
                <a:rPr lang="en-US" sz="3000" dirty="0">
                  <a:solidFill>
                    <a:srgbClr val="FFFFFF"/>
                  </a:solidFill>
                  <a:latin typeface="Neo Tech"/>
                  <a:ea typeface="Neo Tech"/>
                  <a:cs typeface="Neo Tech"/>
                  <a:sym typeface="Neo Tech"/>
                </a:rPr>
                <a:t> </a:t>
              </a:r>
              <a:r>
                <a:rPr lang="en-US" sz="3000" dirty="0" err="1" smtClean="0">
                  <a:solidFill>
                    <a:srgbClr val="FFFFFF"/>
                  </a:solidFill>
                  <a:latin typeface="Neo Tech"/>
                  <a:ea typeface="Neo Tech"/>
                  <a:cs typeface="Neo Tech"/>
                  <a:sym typeface="Neo Tech"/>
                </a:rPr>
                <a:t>Arnob</a:t>
              </a:r>
              <a:r>
                <a:rPr lang="en-US" sz="3000" dirty="0" smtClean="0">
                  <a:solidFill>
                    <a:srgbClr val="FFFFFF"/>
                  </a:solidFill>
                  <a:latin typeface="Neo Tech"/>
                  <a:ea typeface="Neo Tech"/>
                  <a:cs typeface="Neo Tech"/>
                  <a:sym typeface="Neo Tech"/>
                </a:rPr>
                <a:t> </a:t>
              </a:r>
              <a:r>
                <a:rPr lang="en-US" sz="3000" dirty="0" err="1" smtClean="0">
                  <a:solidFill>
                    <a:srgbClr val="FFFFFF"/>
                  </a:solidFill>
                  <a:latin typeface="Neo Tech"/>
                  <a:ea typeface="Neo Tech"/>
                  <a:cs typeface="Neo Tech"/>
                  <a:sym typeface="Neo Tech"/>
                </a:rPr>
                <a:t>Chakrobortty</a:t>
              </a:r>
              <a:endParaRPr lang="en-US" sz="3000" dirty="0" smtClean="0">
                <a:solidFill>
                  <a:srgbClr val="FFFFFF"/>
                </a:solidFill>
                <a:latin typeface="Neo Tech"/>
                <a:ea typeface="Neo Tech"/>
                <a:cs typeface="Neo Tech"/>
                <a:sym typeface="Neo Tech"/>
              </a:endParaRPr>
            </a:p>
            <a:p>
              <a:pPr marL="0" lvl="0" indent="0" algn="ctr">
                <a:lnSpc>
                  <a:spcPts val="4279"/>
                </a:lnSpc>
              </a:pPr>
              <a:r>
                <a:rPr lang="en-US" sz="3000" dirty="0" smtClean="0">
                  <a:solidFill>
                    <a:srgbClr val="FFFFFF"/>
                  </a:solidFill>
                  <a:latin typeface="Neo Tech"/>
                  <a:ea typeface="Neo Tech"/>
                  <a:cs typeface="Neo Tech"/>
                  <a:sym typeface="Neo Tech"/>
                </a:rPr>
                <a:t>Student ID: M.Sc</a:t>
              </a:r>
              <a:r>
                <a:rPr lang="en-US" sz="3000" dirty="0">
                  <a:solidFill>
                    <a:srgbClr val="FFFFFF"/>
                  </a:solidFill>
                  <a:latin typeface="Neo Tech"/>
                  <a:ea typeface="Neo Tech"/>
                  <a:cs typeface="Neo Tech"/>
                  <a:sym typeface="Neo Tech"/>
                </a:rPr>
                <a:t>-</a:t>
              </a:r>
              <a:r>
                <a:rPr lang="en-US" sz="3000" dirty="0" smtClean="0">
                  <a:solidFill>
                    <a:srgbClr val="FFFFFF"/>
                  </a:solidFill>
                  <a:latin typeface="Neo Tech"/>
                  <a:ea typeface="Neo Tech"/>
                  <a:cs typeface="Neo Tech"/>
                  <a:sym typeface="Neo Tech"/>
                </a:rPr>
                <a:t>260227</a:t>
              </a:r>
            </a:p>
            <a:p>
              <a:pPr marL="0" lvl="0" indent="0" algn="ctr">
                <a:lnSpc>
                  <a:spcPts val="4279"/>
                </a:lnSpc>
              </a:pPr>
              <a:r>
                <a:rPr lang="en-US" sz="3000" dirty="0" smtClean="0">
                  <a:solidFill>
                    <a:srgbClr val="FFFFFF"/>
                  </a:solidFill>
                  <a:latin typeface="Neo Tech"/>
                  <a:ea typeface="Neo Tech"/>
                  <a:cs typeface="Neo Tech"/>
                  <a:sym typeface="Neo Tech"/>
                </a:rPr>
                <a:t>Computer Science and Engineering Discipline</a:t>
              </a:r>
            </a:p>
            <a:p>
              <a:pPr marL="0" lvl="0" indent="0" algn="ctr">
                <a:lnSpc>
                  <a:spcPts val="4279"/>
                </a:lnSpc>
              </a:pPr>
              <a:r>
                <a:rPr lang="en-US" sz="3000" dirty="0" smtClean="0">
                  <a:solidFill>
                    <a:srgbClr val="FFFFFF"/>
                  </a:solidFill>
                  <a:latin typeface="Neo Tech"/>
                  <a:ea typeface="Neo Tech"/>
                  <a:cs typeface="Neo Tech"/>
                  <a:sym typeface="Neo Tech"/>
                </a:rPr>
                <a:t>Khulna University, Khulna</a:t>
              </a:r>
            </a:p>
          </p:txBody>
        </p:sp>
      </p:grpSp>
      <p:sp>
        <p:nvSpPr>
          <p:cNvPr id="8" name="TextBox 7"/>
          <p:cNvSpPr txBox="1"/>
          <p:nvPr/>
        </p:nvSpPr>
        <p:spPr>
          <a:xfrm>
            <a:off x="1600368" y="8015355"/>
            <a:ext cx="4001198" cy="1015663"/>
          </a:xfrm>
          <a:prstGeom prst="rect">
            <a:avLst/>
          </a:prstGeom>
          <a:noFill/>
        </p:spPr>
        <p:txBody>
          <a:bodyPr wrap="square" rtlCol="0">
            <a:spAutoFit/>
          </a:bodyPr>
          <a:lstStyle/>
          <a:p>
            <a:pPr algn="ctr"/>
            <a:r>
              <a:rPr lang="en-US" sz="3000" b="1" dirty="0" smtClean="0">
                <a:solidFill>
                  <a:schemeClr val="bg1"/>
                </a:solidFill>
                <a:latin typeface="Neo Tech" panose="020B0604020202020204" charset="0"/>
                <a:cs typeface="Times New Roman" panose="02020603050405020304" pitchFamily="18" charset="0"/>
              </a:rPr>
              <a:t>Date: 19 April, 2026</a:t>
            </a:r>
          </a:p>
          <a:p>
            <a:pPr algn="ctr"/>
            <a:r>
              <a:rPr lang="en-US" sz="3000" b="1" dirty="0" smtClean="0">
                <a:solidFill>
                  <a:schemeClr val="bg1"/>
                </a:solidFill>
                <a:latin typeface="Neo Tech" panose="020B0604020202020204" charset="0"/>
                <a:cs typeface="Times New Roman" panose="02020603050405020304" pitchFamily="18" charset="0"/>
              </a:rPr>
              <a:t>Course Title: Seminar</a:t>
            </a:r>
            <a:endParaRPr lang="en-US" sz="3000" b="1" dirty="0">
              <a:solidFill>
                <a:schemeClr val="bg1"/>
              </a:solidFill>
              <a:latin typeface="Neo Tech" panose="020B060402020202020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11606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5" name="TextBox 5"/>
          <p:cNvSpPr txBox="1"/>
          <p:nvPr/>
        </p:nvSpPr>
        <p:spPr>
          <a:xfrm>
            <a:off x="6186478" y="1240315"/>
            <a:ext cx="6203034" cy="769441"/>
          </a:xfrm>
          <a:prstGeom prst="rect">
            <a:avLst/>
          </a:prstGeom>
        </p:spPr>
        <p:txBody>
          <a:bodyPr lIns="0" tIns="0" rIns="0" bIns="0" rtlCol="0" anchor="t">
            <a:spAutoFit/>
          </a:bodyPr>
          <a:lstStyle/>
          <a:p>
            <a:pPr marL="0" lvl="0" indent="0" algn="ctr"/>
            <a:r>
              <a:rPr lang="en-US" sz="5000" b="1" dirty="0" smtClean="0">
                <a:solidFill>
                  <a:srgbClr val="FFFFFF"/>
                </a:solidFill>
                <a:latin typeface="Neo Tech Bold"/>
                <a:ea typeface="Neo Tech Bold"/>
                <a:cs typeface="Neo Tech Bold"/>
                <a:sym typeface="Neo Tech Bold"/>
              </a:rPr>
              <a:t>Abstract</a:t>
            </a:r>
            <a:endParaRPr lang="en-US" sz="5000" b="1" dirty="0">
              <a:solidFill>
                <a:srgbClr val="FFFFFF"/>
              </a:solidFill>
              <a:latin typeface="Neo Tech Bold"/>
              <a:ea typeface="Neo Tech Bold"/>
              <a:cs typeface="Neo Tech Bold"/>
              <a:sym typeface="Neo Tech Bold"/>
            </a:endParaRPr>
          </a:p>
        </p:txBody>
      </p:sp>
      <p:sp>
        <p:nvSpPr>
          <p:cNvPr id="6" name="TextBox 6"/>
          <p:cNvSpPr txBox="1"/>
          <p:nvPr/>
        </p:nvSpPr>
        <p:spPr>
          <a:xfrm>
            <a:off x="3459076" y="2835176"/>
            <a:ext cx="11657838" cy="4616648"/>
          </a:xfrm>
          <a:prstGeom prst="rect">
            <a:avLst/>
          </a:prstGeom>
        </p:spPr>
        <p:txBody>
          <a:bodyPr wrap="square" lIns="0" tIns="0" rIns="0" bIns="0" rtlCol="0" anchor="t">
            <a:spAutoFit/>
          </a:bodyPr>
          <a:lstStyle/>
          <a:p>
            <a:pPr algn="just"/>
            <a:r>
              <a:rPr lang="en-US" sz="2500" dirty="0">
                <a:solidFill>
                  <a:schemeClr val="bg1"/>
                </a:solidFill>
                <a:latin typeface="Times New Roman" panose="02020603050405020304" pitchFamily="18" charset="0"/>
                <a:cs typeface="Times New Roman" panose="02020603050405020304" pitchFamily="18" charset="0"/>
              </a:rPr>
              <a:t>Malware has emerged as one of the most critical </a:t>
            </a:r>
            <a:r>
              <a:rPr lang="en-US" sz="2500" dirty="0" err="1">
                <a:solidFill>
                  <a:schemeClr val="bg1"/>
                </a:solidFill>
                <a:latin typeface="Times New Roman" panose="02020603050405020304" pitchFamily="18" charset="0"/>
                <a:cs typeface="Times New Roman" panose="02020603050405020304" pitchFamily="18" charset="0"/>
              </a:rPr>
              <a:t>cybersecurity</a:t>
            </a:r>
            <a:r>
              <a:rPr lang="en-US" sz="2500" dirty="0">
                <a:solidFill>
                  <a:schemeClr val="bg1"/>
                </a:solidFill>
                <a:latin typeface="Times New Roman" panose="02020603050405020304" pitchFamily="18" charset="0"/>
                <a:cs typeface="Times New Roman" panose="02020603050405020304" pitchFamily="18" charset="0"/>
              </a:rPr>
              <a:t> threats in the digital era, causing significant financial and data losses worldwide. Traditional malware detection techniques, such as signature-based and heuristic-based methods, are increasingly ineffective against modern threats like polymorphic and zero-day malware. Artificial Intelligence (AI), particularly Machine Learning (ML) and Deep Learning (DL), offers a promising solution by enabling systems to automatically learn patterns and detect unknown threats. This paper provides a comprehensive survey of AI-based malware detection techniques. It explores various ML and DL approaches, including supervised, unsupervised, and hybrid models. Additionally, the paper discusses feature engineering techniques, datasets, evaluation metrics, and real-world applications. The challenges of AI-based detection, such as adversarial attacks and data imbalance, are also analyzed. Finally, future research directions, including explainable AI and federated </a:t>
            </a:r>
            <a:r>
              <a:rPr lang="en-US" sz="2500" dirty="0" smtClean="0">
                <a:solidFill>
                  <a:schemeClr val="bg1"/>
                </a:solidFill>
                <a:latin typeface="Times New Roman" panose="02020603050405020304" pitchFamily="18" charset="0"/>
                <a:cs typeface="Times New Roman" panose="02020603050405020304" pitchFamily="18" charset="0"/>
              </a:rPr>
              <a:t>learning </a:t>
            </a:r>
            <a:r>
              <a:rPr lang="en-US" sz="2500" dirty="0">
                <a:solidFill>
                  <a:schemeClr val="bg1"/>
                </a:solidFill>
                <a:latin typeface="Times New Roman" panose="02020603050405020304" pitchFamily="18" charset="0"/>
                <a:cs typeface="Times New Roman" panose="02020603050405020304" pitchFamily="18" charset="0"/>
              </a:rPr>
              <a:t>are </a:t>
            </a:r>
            <a:r>
              <a:rPr lang="en-US" sz="2500" dirty="0" smtClean="0">
                <a:solidFill>
                  <a:schemeClr val="bg1"/>
                </a:solidFill>
                <a:latin typeface="Times New Roman" panose="02020603050405020304" pitchFamily="18" charset="0"/>
                <a:cs typeface="Times New Roman" panose="02020603050405020304" pitchFamily="18" charset="0"/>
              </a:rPr>
              <a:t>presented.</a:t>
            </a:r>
            <a:r>
              <a:rPr lang="en-US" sz="2500" dirty="0" smtClean="0">
                <a:latin typeface="Times New Roman" panose="02020603050405020304" pitchFamily="18" charset="0"/>
                <a:cs typeface="Times New Roman" panose="02020603050405020304" pitchFamily="18" charset="0"/>
              </a:rPr>
              <a:t>.</a:t>
            </a:r>
            <a:endParaRPr lang="en-US" sz="2500" dirty="0">
              <a:latin typeface="Times New Roman" panose="02020603050405020304" pitchFamily="18" charset="0"/>
              <a:cs typeface="Times New Roman" panose="02020603050405020304" pitchFamily="18" charset="0"/>
            </a:endParaRPr>
          </a:p>
        </p:txBody>
      </p:sp>
      <p:sp>
        <p:nvSpPr>
          <p:cNvPr id="8" name="Freeform 8"/>
          <p:cNvSpPr/>
          <p:nvPr/>
        </p:nvSpPr>
        <p:spPr>
          <a:xfrm>
            <a:off x="-1448181" y="-1104614"/>
            <a:ext cx="2896362" cy="2896362"/>
          </a:xfrm>
          <a:custGeom>
            <a:avLst/>
            <a:gdLst/>
            <a:ahLst/>
            <a:cxnLst/>
            <a:rect l="l" t="t" r="r" b="b"/>
            <a:pathLst>
              <a:path w="2896362" h="2896362">
                <a:moveTo>
                  <a:pt x="0" y="0"/>
                </a:moveTo>
                <a:lnTo>
                  <a:pt x="2896362" y="0"/>
                </a:lnTo>
                <a:lnTo>
                  <a:pt x="2896362" y="2896361"/>
                </a:lnTo>
                <a:lnTo>
                  <a:pt x="0" y="2896361"/>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9" name="Freeform 9"/>
          <p:cNvSpPr/>
          <p:nvPr/>
        </p:nvSpPr>
        <p:spPr>
          <a:xfrm>
            <a:off x="16523882" y="8403861"/>
            <a:ext cx="2896362" cy="2896362"/>
          </a:xfrm>
          <a:custGeom>
            <a:avLst/>
            <a:gdLst/>
            <a:ahLst/>
            <a:cxnLst/>
            <a:rect l="l" t="t" r="r" b="b"/>
            <a:pathLst>
              <a:path w="2896362" h="2896362">
                <a:moveTo>
                  <a:pt x="0" y="0"/>
                </a:moveTo>
                <a:lnTo>
                  <a:pt x="2896361" y="0"/>
                </a:lnTo>
                <a:lnTo>
                  <a:pt x="2896361" y="2896362"/>
                </a:lnTo>
                <a:lnTo>
                  <a:pt x="0" y="289636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14153947" y="4812056"/>
            <a:ext cx="8289535" cy="9287994"/>
          </a:xfrm>
          <a:custGeom>
            <a:avLst/>
            <a:gdLst/>
            <a:ahLst/>
            <a:cxnLst/>
            <a:rect l="l" t="t" r="r" b="b"/>
            <a:pathLst>
              <a:path w="8289535" h="9287994">
                <a:moveTo>
                  <a:pt x="0" y="0"/>
                </a:moveTo>
                <a:lnTo>
                  <a:pt x="8289535" y="0"/>
                </a:lnTo>
                <a:lnTo>
                  <a:pt x="8289535" y="9287995"/>
                </a:lnTo>
                <a:lnTo>
                  <a:pt x="0" y="9287995"/>
                </a:lnTo>
                <a:lnTo>
                  <a:pt x="0" y="0"/>
                </a:lnTo>
                <a:close/>
              </a:path>
            </a:pathLst>
          </a:custGeom>
          <a:blipFill>
            <a:blip r:embed="rId3">
              <a:alphaModFix amt="80000"/>
            </a:blip>
            <a:stretch>
              <a:fillRect/>
            </a:stretch>
          </a:blipFill>
        </p:spPr>
      </p:sp>
      <p:sp>
        <p:nvSpPr>
          <p:cNvPr id="4" name="Freeform 4"/>
          <p:cNvSpPr/>
          <p:nvPr/>
        </p:nvSpPr>
        <p:spPr>
          <a:xfrm>
            <a:off x="-3780264" y="-331381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9" name="TextBox 9"/>
          <p:cNvSpPr txBox="1"/>
          <p:nvPr/>
        </p:nvSpPr>
        <p:spPr>
          <a:xfrm>
            <a:off x="0" y="1095373"/>
            <a:ext cx="18288000" cy="846386"/>
          </a:xfrm>
          <a:prstGeom prst="rect">
            <a:avLst/>
          </a:prstGeom>
        </p:spPr>
        <p:txBody>
          <a:bodyPr wrap="square" lIns="0" tIns="0" rIns="0" bIns="0" rtlCol="0" anchor="t">
            <a:spAutoFit/>
          </a:bodyPr>
          <a:lstStyle/>
          <a:p>
            <a:pPr marL="0" lvl="0" indent="0" algn="ctr"/>
            <a:r>
              <a:rPr lang="en-US" sz="5500" b="1" dirty="0" smtClean="0">
                <a:solidFill>
                  <a:srgbClr val="FFFFFF"/>
                </a:solidFill>
                <a:latin typeface="Neo Tech" panose="020B0604020202020204" charset="0"/>
                <a:ea typeface="Neo Tech Bold"/>
                <a:cs typeface="Times New Roman" panose="02020603050405020304" pitchFamily="18" charset="0"/>
                <a:sym typeface="Neo Tech Bold"/>
              </a:rPr>
              <a:t>List of Contents</a:t>
            </a:r>
            <a:endParaRPr lang="en-US" sz="5500" b="1" dirty="0">
              <a:solidFill>
                <a:srgbClr val="FFFFFF"/>
              </a:solidFill>
              <a:latin typeface="Neo Tech" panose="020B0604020202020204" charset="0"/>
              <a:ea typeface="Neo Tech Bold"/>
              <a:cs typeface="Times New Roman" panose="02020603050405020304" pitchFamily="18" charset="0"/>
              <a:sym typeface="Neo Tech Bold"/>
            </a:endParaRPr>
          </a:p>
        </p:txBody>
      </p:sp>
      <p:sp>
        <p:nvSpPr>
          <p:cNvPr id="10" name="TextBox 10"/>
          <p:cNvSpPr txBox="1"/>
          <p:nvPr/>
        </p:nvSpPr>
        <p:spPr>
          <a:xfrm>
            <a:off x="2869792" y="3942597"/>
            <a:ext cx="2169865" cy="295274"/>
          </a:xfrm>
          <a:prstGeom prst="rect">
            <a:avLst/>
          </a:prstGeom>
        </p:spPr>
        <p:txBody>
          <a:bodyPr wrap="square" lIns="0" tIns="0" rIns="0" bIns="0" rtlCol="0" anchor="t">
            <a:spAutoFit/>
          </a:bodyPr>
          <a:lstStyle/>
          <a:p>
            <a:pPr marL="0" lvl="0" indent="0" algn="just">
              <a:lnSpc>
                <a:spcPts val="2519"/>
              </a:lnSpc>
              <a:spcBef>
                <a:spcPct val="0"/>
              </a:spcBef>
            </a:pPr>
            <a:r>
              <a:rPr lang="en-US" dirty="0" smtClean="0">
                <a:solidFill>
                  <a:srgbClr val="FFFFFF"/>
                </a:solidFill>
                <a:latin typeface="Neo Tech"/>
                <a:ea typeface="Neo Tech"/>
                <a:cs typeface="Neo Tech"/>
                <a:sym typeface="Neo Tech"/>
              </a:rPr>
              <a:t>Introduction</a:t>
            </a:r>
            <a:endParaRPr lang="en-US" dirty="0">
              <a:solidFill>
                <a:srgbClr val="FFFFFF"/>
              </a:solidFill>
              <a:latin typeface="Neo Tech"/>
              <a:ea typeface="Neo Tech"/>
              <a:cs typeface="Neo Tech"/>
              <a:sym typeface="Neo Tech"/>
            </a:endParaRPr>
          </a:p>
        </p:txBody>
      </p:sp>
      <p:sp>
        <p:nvSpPr>
          <p:cNvPr id="11" name="TextBox 11"/>
          <p:cNvSpPr txBox="1"/>
          <p:nvPr/>
        </p:nvSpPr>
        <p:spPr>
          <a:xfrm>
            <a:off x="6629908" y="3964266"/>
            <a:ext cx="1899788" cy="295274"/>
          </a:xfrm>
          <a:prstGeom prst="rect">
            <a:avLst/>
          </a:prstGeom>
        </p:spPr>
        <p:txBody>
          <a:bodyPr wrap="square" lIns="0" tIns="0" rIns="0" bIns="0" rtlCol="0" anchor="t">
            <a:spAutoFit/>
          </a:bodyPr>
          <a:lstStyle/>
          <a:p>
            <a:pPr marL="0" lvl="0" indent="0" algn="l">
              <a:lnSpc>
                <a:spcPts val="2519"/>
              </a:lnSpc>
              <a:spcBef>
                <a:spcPct val="0"/>
              </a:spcBef>
            </a:pPr>
            <a:r>
              <a:rPr lang="en-US" dirty="0" smtClean="0">
                <a:solidFill>
                  <a:srgbClr val="FFFFFF"/>
                </a:solidFill>
                <a:latin typeface="Neo Tech"/>
                <a:ea typeface="Neo Tech"/>
                <a:cs typeface="Neo Tech"/>
                <a:sym typeface="Neo Tech"/>
              </a:rPr>
              <a:t>Background</a:t>
            </a:r>
            <a:endParaRPr lang="en-US" dirty="0">
              <a:solidFill>
                <a:srgbClr val="FFFFFF"/>
              </a:solidFill>
              <a:latin typeface="Neo Tech"/>
              <a:ea typeface="Neo Tech"/>
              <a:cs typeface="Neo Tech"/>
              <a:sym typeface="Neo Tech"/>
            </a:endParaRPr>
          </a:p>
        </p:txBody>
      </p:sp>
      <p:sp>
        <p:nvSpPr>
          <p:cNvPr id="12" name="TextBox 12"/>
          <p:cNvSpPr txBox="1"/>
          <p:nvPr/>
        </p:nvSpPr>
        <p:spPr>
          <a:xfrm>
            <a:off x="10066358" y="3935652"/>
            <a:ext cx="2185420" cy="295274"/>
          </a:xfrm>
          <a:prstGeom prst="rect">
            <a:avLst/>
          </a:prstGeom>
        </p:spPr>
        <p:txBody>
          <a:bodyPr wrap="square" lIns="0" tIns="0" rIns="0" bIns="0" rtlCol="0" anchor="t">
            <a:spAutoFit/>
          </a:bodyPr>
          <a:lstStyle/>
          <a:p>
            <a:pPr marL="0" lvl="0" indent="0" algn="just">
              <a:lnSpc>
                <a:spcPts val="2519"/>
              </a:lnSpc>
              <a:spcBef>
                <a:spcPct val="0"/>
              </a:spcBef>
            </a:pPr>
            <a:r>
              <a:rPr lang="en-US" dirty="0" smtClean="0">
                <a:solidFill>
                  <a:srgbClr val="FFFFFF"/>
                </a:solidFill>
                <a:latin typeface="Neo Tech"/>
                <a:ea typeface="Neo Tech"/>
                <a:cs typeface="Neo Tech"/>
                <a:sym typeface="Neo Tech"/>
              </a:rPr>
              <a:t>Types of Malware</a:t>
            </a:r>
            <a:endParaRPr lang="en-US" dirty="0">
              <a:solidFill>
                <a:srgbClr val="FFFFFF"/>
              </a:solidFill>
              <a:latin typeface="Neo Tech"/>
              <a:ea typeface="Neo Tech"/>
              <a:cs typeface="Neo Tech"/>
              <a:sym typeface="Neo Tech"/>
            </a:endParaRPr>
          </a:p>
        </p:txBody>
      </p:sp>
      <p:sp>
        <p:nvSpPr>
          <p:cNvPr id="20" name="Rectangle 19"/>
          <p:cNvSpPr/>
          <p:nvPr/>
        </p:nvSpPr>
        <p:spPr>
          <a:xfrm>
            <a:off x="9299240" y="2730595"/>
            <a:ext cx="800220" cy="1554272"/>
          </a:xfrm>
          <a:prstGeom prst="rect">
            <a:avLst/>
          </a:prstGeom>
          <a:noFill/>
        </p:spPr>
        <p:txBody>
          <a:bodyPr wrap="none" lIns="91440" tIns="45720" rIns="91440" bIns="45720">
            <a:spAutoFit/>
          </a:bodyPr>
          <a:lstStyle/>
          <a:p>
            <a:pPr algn="ctr"/>
            <a:r>
              <a:rPr lang="en-US" sz="9500" b="1" cap="none" spc="50" dirty="0" smtClean="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3</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22" name="Rectangle 21"/>
          <p:cNvSpPr/>
          <p:nvPr/>
        </p:nvSpPr>
        <p:spPr>
          <a:xfrm>
            <a:off x="12935173" y="2730595"/>
            <a:ext cx="800220" cy="1554272"/>
          </a:xfrm>
          <a:prstGeom prst="rect">
            <a:avLst/>
          </a:prstGeom>
          <a:noFill/>
        </p:spPr>
        <p:txBody>
          <a:bodyPr wrap="none" lIns="91440" tIns="45720" rIns="91440" bIns="45720">
            <a:spAutoFit/>
          </a:bodyPr>
          <a:lstStyle/>
          <a:p>
            <a:pPr algn="ctr"/>
            <a:r>
              <a:rPr lang="en-US" sz="9500" b="1"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4</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23" name="Rectangle 22"/>
          <p:cNvSpPr/>
          <p:nvPr/>
        </p:nvSpPr>
        <p:spPr>
          <a:xfrm>
            <a:off x="5856294" y="2730595"/>
            <a:ext cx="800220" cy="1554272"/>
          </a:xfrm>
          <a:prstGeom prst="rect">
            <a:avLst/>
          </a:prstGeom>
          <a:noFill/>
        </p:spPr>
        <p:txBody>
          <a:bodyPr wrap="none" lIns="91440" tIns="45720" rIns="91440" bIns="45720">
            <a:spAutoFit/>
          </a:bodyPr>
          <a:lstStyle/>
          <a:p>
            <a:pPr algn="ctr"/>
            <a:r>
              <a:rPr lang="en-US" sz="9500" b="1"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2</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24" name="Rectangle 23"/>
          <p:cNvSpPr/>
          <p:nvPr/>
        </p:nvSpPr>
        <p:spPr>
          <a:xfrm>
            <a:off x="2076030" y="2708927"/>
            <a:ext cx="800220" cy="1554272"/>
          </a:xfrm>
          <a:prstGeom prst="rect">
            <a:avLst/>
          </a:prstGeom>
          <a:noFill/>
        </p:spPr>
        <p:txBody>
          <a:bodyPr wrap="none" lIns="91440" tIns="45720" rIns="91440" bIns="45720">
            <a:spAutoFit/>
          </a:bodyPr>
          <a:lstStyle/>
          <a:p>
            <a:pPr algn="ctr"/>
            <a:r>
              <a:rPr lang="en-US" sz="9500" b="1" spc="50" dirty="0" smtClean="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1</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14" name="TextBox 12"/>
          <p:cNvSpPr txBox="1"/>
          <p:nvPr/>
        </p:nvSpPr>
        <p:spPr>
          <a:xfrm>
            <a:off x="13735393" y="3935651"/>
            <a:ext cx="2924271" cy="295274"/>
          </a:xfrm>
          <a:prstGeom prst="rect">
            <a:avLst/>
          </a:prstGeom>
        </p:spPr>
        <p:txBody>
          <a:bodyPr lIns="0" tIns="0" rIns="0" bIns="0" rtlCol="0" anchor="t">
            <a:spAutoFit/>
          </a:bodyPr>
          <a:lstStyle/>
          <a:p>
            <a:pPr marL="0" lvl="0" indent="0" algn="just">
              <a:lnSpc>
                <a:spcPts val="2519"/>
              </a:lnSpc>
              <a:spcBef>
                <a:spcPct val="0"/>
              </a:spcBef>
            </a:pPr>
            <a:r>
              <a:rPr lang="en-US" dirty="0" smtClean="0">
                <a:solidFill>
                  <a:srgbClr val="FFFFFF"/>
                </a:solidFill>
                <a:latin typeface="Neo Tech"/>
                <a:ea typeface="Neo Tech"/>
                <a:cs typeface="Neo Tech"/>
                <a:sym typeface="Neo Tech"/>
              </a:rPr>
              <a:t>Literature Review</a:t>
            </a:r>
            <a:endParaRPr lang="en-US" dirty="0">
              <a:solidFill>
                <a:srgbClr val="FFFFFF"/>
              </a:solidFill>
              <a:latin typeface="Neo Tech"/>
              <a:ea typeface="Neo Tech"/>
              <a:cs typeface="Neo Tech"/>
              <a:sym typeface="Neo Tech"/>
            </a:endParaRPr>
          </a:p>
        </p:txBody>
      </p:sp>
      <p:sp>
        <p:nvSpPr>
          <p:cNvPr id="15" name="Rectangle 14"/>
          <p:cNvSpPr/>
          <p:nvPr/>
        </p:nvSpPr>
        <p:spPr>
          <a:xfrm>
            <a:off x="2076030" y="4915783"/>
            <a:ext cx="800220" cy="1554272"/>
          </a:xfrm>
          <a:prstGeom prst="rect">
            <a:avLst/>
          </a:prstGeom>
          <a:noFill/>
        </p:spPr>
        <p:txBody>
          <a:bodyPr wrap="none" lIns="91440" tIns="45720" rIns="91440" bIns="45720">
            <a:spAutoFit/>
          </a:bodyPr>
          <a:lstStyle/>
          <a:p>
            <a:pPr algn="ctr"/>
            <a:r>
              <a:rPr lang="en-US" sz="9500" b="1"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5</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16" name="TextBox 12"/>
          <p:cNvSpPr txBox="1"/>
          <p:nvPr/>
        </p:nvSpPr>
        <p:spPr>
          <a:xfrm>
            <a:off x="2869792" y="6152792"/>
            <a:ext cx="2986502" cy="641201"/>
          </a:xfrm>
          <a:prstGeom prst="rect">
            <a:avLst/>
          </a:prstGeom>
        </p:spPr>
        <p:txBody>
          <a:bodyPr wrap="square" lIns="0" tIns="0" rIns="0" bIns="0" rtlCol="0" anchor="t">
            <a:spAutoFit/>
          </a:bodyPr>
          <a:lstStyle/>
          <a:p>
            <a:pPr marL="0" lvl="0" indent="0">
              <a:lnSpc>
                <a:spcPts val="2519"/>
              </a:lnSpc>
              <a:spcBef>
                <a:spcPct val="0"/>
              </a:spcBef>
            </a:pPr>
            <a:r>
              <a:rPr lang="en-US" dirty="0" smtClean="0">
                <a:solidFill>
                  <a:srgbClr val="FFFFFF"/>
                </a:solidFill>
                <a:latin typeface="Neo Tech"/>
                <a:ea typeface="Neo Tech"/>
                <a:cs typeface="Neo Tech"/>
                <a:sym typeface="Neo Tech"/>
              </a:rPr>
              <a:t>Machine Learning Techniques</a:t>
            </a:r>
            <a:endParaRPr lang="en-US" dirty="0">
              <a:solidFill>
                <a:srgbClr val="FFFFFF"/>
              </a:solidFill>
              <a:latin typeface="Neo Tech"/>
              <a:ea typeface="Neo Tech"/>
              <a:cs typeface="Neo Tech"/>
              <a:sym typeface="Neo Tech"/>
            </a:endParaRPr>
          </a:p>
        </p:txBody>
      </p:sp>
      <p:sp>
        <p:nvSpPr>
          <p:cNvPr id="17" name="Rectangle 16"/>
          <p:cNvSpPr/>
          <p:nvPr/>
        </p:nvSpPr>
        <p:spPr>
          <a:xfrm>
            <a:off x="5825814" y="4926703"/>
            <a:ext cx="800220" cy="1554272"/>
          </a:xfrm>
          <a:prstGeom prst="rect">
            <a:avLst/>
          </a:prstGeom>
          <a:noFill/>
        </p:spPr>
        <p:txBody>
          <a:bodyPr wrap="none" lIns="91440" tIns="45720" rIns="91440" bIns="45720">
            <a:spAutoFit/>
          </a:bodyPr>
          <a:lstStyle/>
          <a:p>
            <a:pPr algn="ctr"/>
            <a:r>
              <a:rPr lang="en-US" sz="9500" b="1" spc="50" dirty="0" smtClean="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6</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18" name="TextBox 12"/>
          <p:cNvSpPr txBox="1"/>
          <p:nvPr/>
        </p:nvSpPr>
        <p:spPr>
          <a:xfrm>
            <a:off x="6587825" y="6152791"/>
            <a:ext cx="2412180" cy="641201"/>
          </a:xfrm>
          <a:prstGeom prst="rect">
            <a:avLst/>
          </a:prstGeom>
        </p:spPr>
        <p:txBody>
          <a:bodyPr wrap="square" lIns="0" tIns="0" rIns="0" bIns="0" rtlCol="0" anchor="t">
            <a:spAutoFit/>
          </a:bodyPr>
          <a:lstStyle/>
          <a:p>
            <a:pPr marL="0" lvl="0" indent="0">
              <a:lnSpc>
                <a:spcPts val="2519"/>
              </a:lnSpc>
              <a:spcBef>
                <a:spcPct val="0"/>
              </a:spcBef>
            </a:pPr>
            <a:r>
              <a:rPr lang="en-US" dirty="0" smtClean="0">
                <a:solidFill>
                  <a:srgbClr val="FFFFFF"/>
                </a:solidFill>
                <a:latin typeface="Neo Tech"/>
                <a:ea typeface="Neo Tech"/>
                <a:cs typeface="Neo Tech"/>
                <a:sym typeface="Neo Tech"/>
              </a:rPr>
              <a:t>Deep Learning Techniques</a:t>
            </a:r>
            <a:endParaRPr lang="en-US" dirty="0">
              <a:solidFill>
                <a:srgbClr val="FFFFFF"/>
              </a:solidFill>
              <a:latin typeface="Neo Tech"/>
              <a:ea typeface="Neo Tech"/>
              <a:cs typeface="Neo Tech"/>
              <a:sym typeface="Neo Tech"/>
            </a:endParaRPr>
          </a:p>
        </p:txBody>
      </p:sp>
      <p:sp>
        <p:nvSpPr>
          <p:cNvPr id="19" name="Rectangle 18"/>
          <p:cNvSpPr/>
          <p:nvPr/>
        </p:nvSpPr>
        <p:spPr>
          <a:xfrm>
            <a:off x="9266138" y="4926703"/>
            <a:ext cx="800220" cy="1554272"/>
          </a:xfrm>
          <a:prstGeom prst="rect">
            <a:avLst/>
          </a:prstGeom>
          <a:noFill/>
        </p:spPr>
        <p:txBody>
          <a:bodyPr wrap="none" lIns="91440" tIns="45720" rIns="91440" bIns="45720">
            <a:spAutoFit/>
          </a:bodyPr>
          <a:lstStyle/>
          <a:p>
            <a:pPr algn="ctr"/>
            <a:r>
              <a:rPr lang="en-US" sz="9500" b="1"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7</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21" name="Rectangle 20"/>
          <p:cNvSpPr/>
          <p:nvPr/>
        </p:nvSpPr>
        <p:spPr>
          <a:xfrm>
            <a:off x="12936868" y="4915783"/>
            <a:ext cx="800220" cy="1554272"/>
          </a:xfrm>
          <a:prstGeom prst="rect">
            <a:avLst/>
          </a:prstGeom>
          <a:noFill/>
        </p:spPr>
        <p:txBody>
          <a:bodyPr wrap="none" lIns="91440" tIns="45720" rIns="91440" bIns="45720">
            <a:spAutoFit/>
          </a:bodyPr>
          <a:lstStyle/>
          <a:p>
            <a:pPr algn="ctr"/>
            <a:r>
              <a:rPr lang="en-US" sz="9500" b="1" spc="50" dirty="0" smtClean="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8</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25" name="TextBox 12"/>
          <p:cNvSpPr txBox="1"/>
          <p:nvPr/>
        </p:nvSpPr>
        <p:spPr>
          <a:xfrm>
            <a:off x="10066358" y="6152793"/>
            <a:ext cx="2729871" cy="641201"/>
          </a:xfrm>
          <a:prstGeom prst="rect">
            <a:avLst/>
          </a:prstGeom>
        </p:spPr>
        <p:txBody>
          <a:bodyPr wrap="square" lIns="0" tIns="0" rIns="0" bIns="0" rtlCol="0" anchor="t">
            <a:spAutoFit/>
          </a:bodyPr>
          <a:lstStyle/>
          <a:p>
            <a:pPr marL="0" lvl="0" indent="0">
              <a:lnSpc>
                <a:spcPts val="2519"/>
              </a:lnSpc>
              <a:spcBef>
                <a:spcPct val="0"/>
              </a:spcBef>
            </a:pPr>
            <a:r>
              <a:rPr lang="en-US" dirty="0" smtClean="0">
                <a:solidFill>
                  <a:srgbClr val="FFFFFF"/>
                </a:solidFill>
                <a:latin typeface="Neo Tech"/>
                <a:ea typeface="Neo Tech"/>
                <a:cs typeface="Neo Tech"/>
                <a:sym typeface="Neo Tech"/>
              </a:rPr>
              <a:t>AI-based Hybrid Framework</a:t>
            </a:r>
            <a:endParaRPr lang="en-US" dirty="0">
              <a:solidFill>
                <a:srgbClr val="FFFFFF"/>
              </a:solidFill>
              <a:latin typeface="Neo Tech"/>
              <a:ea typeface="Neo Tech"/>
              <a:cs typeface="Neo Tech"/>
              <a:sym typeface="Neo Tech"/>
            </a:endParaRPr>
          </a:p>
        </p:txBody>
      </p:sp>
      <p:sp>
        <p:nvSpPr>
          <p:cNvPr id="26" name="TextBox 12"/>
          <p:cNvSpPr txBox="1"/>
          <p:nvPr/>
        </p:nvSpPr>
        <p:spPr>
          <a:xfrm>
            <a:off x="13735393" y="6121951"/>
            <a:ext cx="2556175" cy="320601"/>
          </a:xfrm>
          <a:prstGeom prst="rect">
            <a:avLst/>
          </a:prstGeom>
        </p:spPr>
        <p:txBody>
          <a:bodyPr wrap="square" lIns="0" tIns="0" rIns="0" bIns="0" rtlCol="0" anchor="t">
            <a:spAutoFit/>
          </a:bodyPr>
          <a:lstStyle/>
          <a:p>
            <a:pPr marL="0" lvl="0" indent="0">
              <a:lnSpc>
                <a:spcPts val="2519"/>
              </a:lnSpc>
              <a:spcBef>
                <a:spcPct val="0"/>
              </a:spcBef>
            </a:pPr>
            <a:r>
              <a:rPr lang="en-US" dirty="0" smtClean="0">
                <a:solidFill>
                  <a:srgbClr val="FFFFFF"/>
                </a:solidFill>
                <a:latin typeface="Neo Tech"/>
                <a:ea typeface="Neo Tech"/>
                <a:cs typeface="Neo Tech"/>
                <a:sym typeface="Neo Tech"/>
              </a:rPr>
              <a:t>System Architecture</a:t>
            </a:r>
            <a:endParaRPr lang="en-US" dirty="0">
              <a:solidFill>
                <a:srgbClr val="FFFFFF"/>
              </a:solidFill>
              <a:latin typeface="Neo Tech"/>
              <a:ea typeface="Neo Tech"/>
              <a:cs typeface="Neo Tech"/>
              <a:sym typeface="Neo Tech"/>
            </a:endParaRPr>
          </a:p>
        </p:txBody>
      </p:sp>
      <p:sp>
        <p:nvSpPr>
          <p:cNvPr id="27" name="Rectangle 26"/>
          <p:cNvSpPr/>
          <p:nvPr/>
        </p:nvSpPr>
        <p:spPr>
          <a:xfrm>
            <a:off x="2069572" y="7122639"/>
            <a:ext cx="800220" cy="1554272"/>
          </a:xfrm>
          <a:prstGeom prst="rect">
            <a:avLst/>
          </a:prstGeom>
          <a:noFill/>
        </p:spPr>
        <p:txBody>
          <a:bodyPr wrap="none" lIns="91440" tIns="45720" rIns="91440" bIns="45720">
            <a:spAutoFit/>
          </a:bodyPr>
          <a:lstStyle/>
          <a:p>
            <a:pPr algn="ctr"/>
            <a:r>
              <a:rPr lang="en-US" sz="9500" b="1" spc="50" dirty="0" smtClean="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9</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28" name="Rectangle 27"/>
          <p:cNvSpPr/>
          <p:nvPr/>
        </p:nvSpPr>
        <p:spPr>
          <a:xfrm>
            <a:off x="5299010" y="7120273"/>
            <a:ext cx="1415772" cy="1554272"/>
          </a:xfrm>
          <a:prstGeom prst="rect">
            <a:avLst/>
          </a:prstGeom>
          <a:noFill/>
        </p:spPr>
        <p:txBody>
          <a:bodyPr wrap="none" lIns="91440" tIns="45720" rIns="91440" bIns="45720">
            <a:spAutoFit/>
          </a:bodyPr>
          <a:lstStyle/>
          <a:p>
            <a:pPr algn="ctr"/>
            <a:r>
              <a:rPr lang="en-US" sz="9500" b="1" spc="50" dirty="0" smtClean="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10</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29" name="Rectangle 28"/>
          <p:cNvSpPr/>
          <p:nvPr/>
        </p:nvSpPr>
        <p:spPr>
          <a:xfrm>
            <a:off x="8721942" y="7120273"/>
            <a:ext cx="1348574" cy="1554272"/>
          </a:xfrm>
          <a:prstGeom prst="rect">
            <a:avLst/>
          </a:prstGeom>
          <a:noFill/>
        </p:spPr>
        <p:txBody>
          <a:bodyPr wrap="none" lIns="91440" tIns="45720" rIns="91440" bIns="45720">
            <a:spAutoFit/>
          </a:bodyPr>
          <a:lstStyle/>
          <a:p>
            <a:pPr algn="ctr"/>
            <a:r>
              <a:rPr lang="en-US" sz="9500" b="1" spc="50" dirty="0" smtClean="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11</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30" name="Rectangle 29"/>
          <p:cNvSpPr/>
          <p:nvPr/>
        </p:nvSpPr>
        <p:spPr>
          <a:xfrm>
            <a:off x="12319621" y="7141584"/>
            <a:ext cx="1415772" cy="1554272"/>
          </a:xfrm>
          <a:prstGeom prst="rect">
            <a:avLst/>
          </a:prstGeom>
          <a:noFill/>
        </p:spPr>
        <p:txBody>
          <a:bodyPr wrap="none" lIns="91440" tIns="45720" rIns="91440" bIns="45720">
            <a:spAutoFit/>
          </a:bodyPr>
          <a:lstStyle/>
          <a:p>
            <a:pPr algn="ctr"/>
            <a:r>
              <a:rPr lang="en-US" sz="9500" b="1" spc="50" dirty="0" smtClean="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rPr>
              <a:t>12</a:t>
            </a:r>
            <a:endParaRPr lang="en-US" sz="9500" b="1" cap="none" spc="50" dirty="0">
              <a:ln w="9525" cmpd="sng">
                <a:solidFill>
                  <a:schemeClr val="accent1"/>
                </a:solidFill>
                <a:prstDash val="solid"/>
              </a:ln>
              <a:solidFill>
                <a:schemeClr val="bg1"/>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
        <p:nvSpPr>
          <p:cNvPr id="31" name="TextBox 12"/>
          <p:cNvSpPr txBox="1"/>
          <p:nvPr/>
        </p:nvSpPr>
        <p:spPr>
          <a:xfrm>
            <a:off x="2869792" y="8364776"/>
            <a:ext cx="2169865" cy="641201"/>
          </a:xfrm>
          <a:prstGeom prst="rect">
            <a:avLst/>
          </a:prstGeom>
        </p:spPr>
        <p:txBody>
          <a:bodyPr wrap="square" lIns="0" tIns="0" rIns="0" bIns="0" rtlCol="0" anchor="t">
            <a:spAutoFit/>
          </a:bodyPr>
          <a:lstStyle/>
          <a:p>
            <a:pPr marL="0" lvl="0" indent="0">
              <a:lnSpc>
                <a:spcPts val="2519"/>
              </a:lnSpc>
              <a:spcBef>
                <a:spcPct val="0"/>
              </a:spcBef>
            </a:pPr>
            <a:r>
              <a:rPr lang="en-US" dirty="0" smtClean="0">
                <a:solidFill>
                  <a:srgbClr val="FFFFFF"/>
                </a:solidFill>
                <a:latin typeface="Neo Tech"/>
                <a:ea typeface="Neo Tech"/>
                <a:cs typeface="Neo Tech"/>
                <a:sym typeface="Neo Tech"/>
              </a:rPr>
              <a:t>Results and Discussions</a:t>
            </a:r>
            <a:endParaRPr lang="en-US" dirty="0">
              <a:solidFill>
                <a:srgbClr val="FFFFFF"/>
              </a:solidFill>
              <a:latin typeface="Neo Tech"/>
              <a:ea typeface="Neo Tech"/>
              <a:cs typeface="Neo Tech"/>
              <a:sym typeface="Neo Tech"/>
            </a:endParaRPr>
          </a:p>
        </p:txBody>
      </p:sp>
      <p:sp>
        <p:nvSpPr>
          <p:cNvPr id="32" name="TextBox 12"/>
          <p:cNvSpPr txBox="1"/>
          <p:nvPr/>
        </p:nvSpPr>
        <p:spPr>
          <a:xfrm>
            <a:off x="6620479" y="8375256"/>
            <a:ext cx="2267949" cy="289823"/>
          </a:xfrm>
          <a:prstGeom prst="rect">
            <a:avLst/>
          </a:prstGeom>
        </p:spPr>
        <p:txBody>
          <a:bodyPr wrap="square" lIns="0" tIns="0" rIns="0" bIns="0" rtlCol="0" anchor="t">
            <a:spAutoFit/>
          </a:bodyPr>
          <a:lstStyle/>
          <a:p>
            <a:pPr marL="0" lvl="0" indent="0">
              <a:lnSpc>
                <a:spcPts val="2519"/>
              </a:lnSpc>
              <a:spcBef>
                <a:spcPct val="0"/>
              </a:spcBef>
            </a:pPr>
            <a:r>
              <a:rPr lang="en-US" dirty="0" smtClean="0">
                <a:solidFill>
                  <a:srgbClr val="FFFFFF"/>
                </a:solidFill>
                <a:latin typeface="Neo Tech"/>
                <a:ea typeface="Neo Tech"/>
                <a:cs typeface="Neo Tech"/>
                <a:sym typeface="Neo Tech"/>
              </a:rPr>
              <a:t>Case Study</a:t>
            </a:r>
            <a:endParaRPr lang="en-US" dirty="0">
              <a:solidFill>
                <a:srgbClr val="FFFFFF"/>
              </a:solidFill>
              <a:latin typeface="Neo Tech"/>
              <a:ea typeface="Neo Tech"/>
              <a:cs typeface="Neo Tech"/>
              <a:sym typeface="Neo Tech"/>
            </a:endParaRPr>
          </a:p>
        </p:txBody>
      </p:sp>
      <p:sp>
        <p:nvSpPr>
          <p:cNvPr id="33" name="TextBox 12"/>
          <p:cNvSpPr txBox="1"/>
          <p:nvPr/>
        </p:nvSpPr>
        <p:spPr>
          <a:xfrm>
            <a:off x="10099460" y="8375255"/>
            <a:ext cx="2373169" cy="615874"/>
          </a:xfrm>
          <a:prstGeom prst="rect">
            <a:avLst/>
          </a:prstGeom>
        </p:spPr>
        <p:txBody>
          <a:bodyPr wrap="square" lIns="0" tIns="0" rIns="0" bIns="0" rtlCol="0" anchor="t">
            <a:spAutoFit/>
          </a:bodyPr>
          <a:lstStyle/>
          <a:p>
            <a:pPr marL="0" lvl="0" indent="0">
              <a:lnSpc>
                <a:spcPts val="2519"/>
              </a:lnSpc>
              <a:spcBef>
                <a:spcPct val="0"/>
              </a:spcBef>
            </a:pPr>
            <a:r>
              <a:rPr lang="en-US" dirty="0" smtClean="0">
                <a:solidFill>
                  <a:srgbClr val="FFFFFF"/>
                </a:solidFill>
                <a:latin typeface="Neo Tech"/>
                <a:ea typeface="Neo Tech"/>
                <a:cs typeface="Neo Tech"/>
                <a:sym typeface="Neo Tech"/>
              </a:rPr>
              <a:t>Limitations and Challenges</a:t>
            </a:r>
            <a:endParaRPr lang="en-US" dirty="0">
              <a:solidFill>
                <a:srgbClr val="FFFFFF"/>
              </a:solidFill>
              <a:latin typeface="Neo Tech"/>
              <a:ea typeface="Neo Tech"/>
              <a:cs typeface="Neo Tech"/>
              <a:sym typeface="Neo Tech"/>
            </a:endParaRPr>
          </a:p>
        </p:txBody>
      </p:sp>
      <p:sp>
        <p:nvSpPr>
          <p:cNvPr id="35" name="TextBox 12"/>
          <p:cNvSpPr txBox="1"/>
          <p:nvPr/>
        </p:nvSpPr>
        <p:spPr>
          <a:xfrm>
            <a:off x="13735393" y="8364776"/>
            <a:ext cx="2789115" cy="289823"/>
          </a:xfrm>
          <a:prstGeom prst="rect">
            <a:avLst/>
          </a:prstGeom>
        </p:spPr>
        <p:txBody>
          <a:bodyPr wrap="square" lIns="0" tIns="0" rIns="0" bIns="0" rtlCol="0" anchor="t">
            <a:spAutoFit/>
          </a:bodyPr>
          <a:lstStyle/>
          <a:p>
            <a:pPr marL="0" lvl="0" indent="0">
              <a:lnSpc>
                <a:spcPts val="2519"/>
              </a:lnSpc>
              <a:spcBef>
                <a:spcPct val="0"/>
              </a:spcBef>
            </a:pPr>
            <a:r>
              <a:rPr lang="en-US" dirty="0" smtClean="0">
                <a:solidFill>
                  <a:srgbClr val="FFFFFF"/>
                </a:solidFill>
                <a:latin typeface="Neo Tech"/>
                <a:ea typeface="Neo Tech"/>
                <a:cs typeface="Neo Tech"/>
                <a:sym typeface="Neo Tech"/>
              </a:rPr>
              <a:t>Conclusion and Future work</a:t>
            </a:r>
            <a:endParaRPr lang="en-US" dirty="0">
              <a:solidFill>
                <a:srgbClr val="FFFFFF"/>
              </a:solidFill>
              <a:latin typeface="Neo Tech"/>
              <a:ea typeface="Neo Tech"/>
              <a:cs typeface="Neo Tech"/>
              <a:sym typeface="Neo Tech"/>
            </a:endParaRPr>
          </a:p>
        </p:txBody>
      </p:sp>
    </p:spTree>
    <p:extLst>
      <p:ext uri="{BB962C8B-B14F-4D97-AF65-F5344CB8AC3E}">
        <p14:creationId xmlns:p14="http://schemas.microsoft.com/office/powerpoint/2010/main" val="23765567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14153947" y="4812053"/>
            <a:ext cx="8289535" cy="9287994"/>
          </a:xfrm>
          <a:custGeom>
            <a:avLst/>
            <a:gdLst/>
            <a:ahLst/>
            <a:cxnLst/>
            <a:rect l="l" t="t" r="r" b="b"/>
            <a:pathLst>
              <a:path w="8289535" h="9287994">
                <a:moveTo>
                  <a:pt x="0" y="0"/>
                </a:moveTo>
                <a:lnTo>
                  <a:pt x="8289535" y="0"/>
                </a:lnTo>
                <a:lnTo>
                  <a:pt x="8289535" y="9287995"/>
                </a:lnTo>
                <a:lnTo>
                  <a:pt x="0" y="9287995"/>
                </a:lnTo>
                <a:lnTo>
                  <a:pt x="0" y="0"/>
                </a:lnTo>
                <a:close/>
              </a:path>
            </a:pathLst>
          </a:custGeom>
          <a:blipFill>
            <a:blip r:embed="rId3">
              <a:alphaModFix amt="80000"/>
            </a:blip>
            <a:stretch>
              <a:fillRect/>
            </a:stretch>
          </a:blipFill>
        </p:spPr>
      </p:sp>
      <p:sp>
        <p:nvSpPr>
          <p:cNvPr id="4" name="Freeform 4"/>
          <p:cNvSpPr/>
          <p:nvPr/>
        </p:nvSpPr>
        <p:spPr>
          <a:xfrm>
            <a:off x="-3780264" y="-331381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7" name="Freeform 7"/>
          <p:cNvSpPr/>
          <p:nvPr/>
        </p:nvSpPr>
        <p:spPr>
          <a:xfrm>
            <a:off x="5270949" y="1076310"/>
            <a:ext cx="7746089" cy="3514788"/>
          </a:xfrm>
          <a:custGeom>
            <a:avLst/>
            <a:gdLst/>
            <a:ahLst/>
            <a:cxnLst/>
            <a:rect l="l" t="t" r="r" b="b"/>
            <a:pathLst>
              <a:path w="7746089" h="3514788">
                <a:moveTo>
                  <a:pt x="0" y="0"/>
                </a:moveTo>
                <a:lnTo>
                  <a:pt x="7746090" y="0"/>
                </a:lnTo>
                <a:lnTo>
                  <a:pt x="7746090" y="3514788"/>
                </a:lnTo>
                <a:lnTo>
                  <a:pt x="0" y="3514788"/>
                </a:lnTo>
                <a:lnTo>
                  <a:pt x="0" y="0"/>
                </a:lnTo>
                <a:close/>
              </a:path>
            </a:pathLst>
          </a:custGeom>
          <a:blipFill>
            <a:blip r:embed="rId5"/>
            <a:stretch>
              <a:fillRect/>
            </a:stretch>
          </a:blipFill>
        </p:spPr>
      </p:sp>
      <p:sp>
        <p:nvSpPr>
          <p:cNvPr id="8" name="TextBox 8"/>
          <p:cNvSpPr txBox="1"/>
          <p:nvPr/>
        </p:nvSpPr>
        <p:spPr>
          <a:xfrm>
            <a:off x="3788001" y="4867540"/>
            <a:ext cx="10711987" cy="769441"/>
          </a:xfrm>
          <a:prstGeom prst="rect">
            <a:avLst/>
          </a:prstGeom>
        </p:spPr>
        <p:txBody>
          <a:bodyPr lIns="0" tIns="0" rIns="0" bIns="0" rtlCol="0" anchor="t">
            <a:spAutoFit/>
          </a:bodyPr>
          <a:lstStyle/>
          <a:p>
            <a:pPr marL="0" lvl="0" indent="0" algn="ctr"/>
            <a:r>
              <a:rPr lang="en-US" sz="5000" b="1" dirty="0" smtClean="0">
                <a:solidFill>
                  <a:srgbClr val="FFFFFF"/>
                </a:solidFill>
                <a:latin typeface="Neo Tech Bold"/>
                <a:ea typeface="Neo Tech Bold"/>
                <a:cs typeface="Neo Tech Bold"/>
                <a:sym typeface="Neo Tech Bold"/>
              </a:rPr>
              <a:t>Introduction</a:t>
            </a:r>
            <a:endParaRPr lang="en-US" sz="5000" b="1" dirty="0">
              <a:solidFill>
                <a:srgbClr val="FFFFFF"/>
              </a:solidFill>
              <a:latin typeface="Neo Tech Bold"/>
              <a:ea typeface="Neo Tech Bold"/>
              <a:cs typeface="Neo Tech Bold"/>
              <a:sym typeface="Neo Tech Bold"/>
            </a:endParaRPr>
          </a:p>
        </p:txBody>
      </p:sp>
      <p:sp>
        <p:nvSpPr>
          <p:cNvPr id="9" name="TextBox 9"/>
          <p:cNvSpPr txBox="1"/>
          <p:nvPr/>
        </p:nvSpPr>
        <p:spPr>
          <a:xfrm>
            <a:off x="967741" y="6147523"/>
            <a:ext cx="7696199" cy="2885405"/>
          </a:xfrm>
          <a:prstGeom prst="rect">
            <a:avLst/>
          </a:prstGeom>
        </p:spPr>
        <p:txBody>
          <a:bodyPr wrap="square" lIns="0" tIns="0" rIns="0" bIns="0" rtlCol="0" anchor="t">
            <a:spAutoFit/>
          </a:bodyPr>
          <a:lstStyle/>
          <a:p>
            <a:pPr lvl="0" algn="just">
              <a:lnSpc>
                <a:spcPts val="2519"/>
              </a:lnSpc>
              <a:spcBef>
                <a:spcPct val="0"/>
              </a:spcBef>
            </a:pPr>
            <a:r>
              <a:rPr lang="en-US" sz="2400" dirty="0">
                <a:solidFill>
                  <a:srgbClr val="FFFFFF"/>
                </a:solidFill>
                <a:latin typeface="Times New Roman" panose="02020603050405020304" pitchFamily="18" charset="0"/>
                <a:ea typeface="Neo Tech"/>
                <a:cs typeface="Times New Roman" panose="02020603050405020304" pitchFamily="18" charset="0"/>
                <a:sym typeface="Neo Tech"/>
              </a:rPr>
              <a:t>Malware is one of the most serious and rapidly evolving threats in </a:t>
            </a:r>
            <a:r>
              <a:rPr lang="en-US" sz="2400" dirty="0" smtClean="0">
                <a:solidFill>
                  <a:srgbClr val="FFFFFF"/>
                </a:solidFill>
                <a:latin typeface="Times New Roman" panose="02020603050405020304" pitchFamily="18" charset="0"/>
                <a:ea typeface="Neo Tech"/>
                <a:cs typeface="Times New Roman" panose="02020603050405020304" pitchFamily="18" charset="0"/>
                <a:sym typeface="Neo Tech"/>
              </a:rPr>
              <a:t>cyber-security</a:t>
            </a:r>
            <a:r>
              <a:rPr lang="en-US" sz="2400" dirty="0">
                <a:solidFill>
                  <a:srgbClr val="FFFFFF"/>
                </a:solidFill>
                <a:latin typeface="Times New Roman" panose="02020603050405020304" pitchFamily="18" charset="0"/>
                <a:ea typeface="Neo Tech"/>
                <a:cs typeface="Times New Roman" panose="02020603050405020304" pitchFamily="18" charset="0"/>
                <a:sym typeface="Neo Tech"/>
              </a:rPr>
              <a:t>, affecting individuals, organizations, and governments worldwide. It includes various types such as viruses, </a:t>
            </a:r>
            <a:r>
              <a:rPr lang="en-US" sz="2400" dirty="0" smtClean="0">
                <a:solidFill>
                  <a:srgbClr val="FFFFFF"/>
                </a:solidFill>
                <a:latin typeface="Times New Roman" panose="02020603050405020304" pitchFamily="18" charset="0"/>
                <a:ea typeface="Neo Tech"/>
                <a:cs typeface="Times New Roman" panose="02020603050405020304" pitchFamily="18" charset="0"/>
                <a:sym typeface="Neo Tech"/>
              </a:rPr>
              <a:t>ransom-ware</a:t>
            </a:r>
            <a:r>
              <a:rPr lang="en-US" sz="2400" dirty="0">
                <a:solidFill>
                  <a:srgbClr val="FFFFFF"/>
                </a:solidFill>
                <a:latin typeface="Times New Roman" panose="02020603050405020304" pitchFamily="18" charset="0"/>
                <a:ea typeface="Neo Tech"/>
                <a:cs typeface="Times New Roman" panose="02020603050405020304" pitchFamily="18" charset="0"/>
                <a:sym typeface="Neo Tech"/>
              </a:rPr>
              <a:t>, spyware, and </a:t>
            </a:r>
            <a:r>
              <a:rPr lang="en-US" sz="2400" dirty="0" smtClean="0">
                <a:solidFill>
                  <a:srgbClr val="FFFFFF"/>
                </a:solidFill>
                <a:latin typeface="Times New Roman" panose="02020603050405020304" pitchFamily="18" charset="0"/>
                <a:ea typeface="Neo Tech"/>
                <a:cs typeface="Times New Roman" panose="02020603050405020304" pitchFamily="18" charset="0"/>
                <a:sym typeface="Neo Tech"/>
              </a:rPr>
              <a:t>Trojan, </a:t>
            </a:r>
            <a:r>
              <a:rPr lang="en-US" sz="2400" dirty="0">
                <a:solidFill>
                  <a:srgbClr val="FFFFFF"/>
                </a:solidFill>
                <a:latin typeface="Times New Roman" panose="02020603050405020304" pitchFamily="18" charset="0"/>
                <a:ea typeface="Neo Tech"/>
                <a:cs typeface="Times New Roman" panose="02020603050405020304" pitchFamily="18" charset="0"/>
                <a:sym typeface="Neo Tech"/>
              </a:rPr>
              <a:t>all designed to disrupt systems, steal sensitive data, or cause financial damage. As digital systems become more interconnected, the impact of malware attacks has grown significantly, often leading to large-scale data breaches, operational shutdowns, and economic loss.</a:t>
            </a:r>
          </a:p>
        </p:txBody>
      </p:sp>
      <p:sp>
        <p:nvSpPr>
          <p:cNvPr id="10" name="TextBox 10"/>
          <p:cNvSpPr txBox="1"/>
          <p:nvPr/>
        </p:nvSpPr>
        <p:spPr>
          <a:xfrm>
            <a:off x="9631681" y="6147522"/>
            <a:ext cx="7665719" cy="2885405"/>
          </a:xfrm>
          <a:prstGeom prst="rect">
            <a:avLst/>
          </a:prstGeom>
        </p:spPr>
        <p:txBody>
          <a:bodyPr wrap="square" lIns="0" tIns="0" rIns="0" bIns="0" rtlCol="0" anchor="t">
            <a:spAutoFit/>
          </a:bodyPr>
          <a:lstStyle/>
          <a:p>
            <a:pPr lvl="0" algn="just">
              <a:lnSpc>
                <a:spcPts val="2519"/>
              </a:lnSpc>
              <a:spcBef>
                <a:spcPct val="0"/>
              </a:spcBef>
            </a:pPr>
            <a:r>
              <a:rPr lang="en-US" sz="2400" dirty="0">
                <a:solidFill>
                  <a:srgbClr val="FFFFFF"/>
                </a:solidFill>
                <a:latin typeface="Times New Roman" panose="02020603050405020304" pitchFamily="18" charset="0"/>
                <a:ea typeface="Neo Tech"/>
                <a:cs typeface="Times New Roman" panose="02020603050405020304" pitchFamily="18" charset="0"/>
                <a:sym typeface="Neo Tech"/>
              </a:rPr>
              <a:t>Traditional detection methods, which rely mainly on known signatures, are no longer sufficient to handle modern threats, especially new and unknown (zero-day) attacks. Artificial Intelligence offers a more advanced solution by using machine learning and behavior-based analysis to detect unusual patterns and anomalies in real time. This allows systems to identify and respond to previously unseen malware, making AI a powerful and adaptive tool in modern </a:t>
            </a:r>
            <a:r>
              <a:rPr lang="en-US" sz="2400" dirty="0" smtClean="0">
                <a:solidFill>
                  <a:srgbClr val="FFFFFF"/>
                </a:solidFill>
                <a:latin typeface="Times New Roman" panose="02020603050405020304" pitchFamily="18" charset="0"/>
                <a:ea typeface="Neo Tech"/>
                <a:cs typeface="Times New Roman" panose="02020603050405020304" pitchFamily="18" charset="0"/>
                <a:sym typeface="Neo Tech"/>
              </a:rPr>
              <a:t>cyber security </a:t>
            </a:r>
            <a:r>
              <a:rPr lang="en-US" sz="2400" dirty="0">
                <a:solidFill>
                  <a:srgbClr val="FFFFFF"/>
                </a:solidFill>
                <a:latin typeface="Times New Roman" panose="02020603050405020304" pitchFamily="18" charset="0"/>
                <a:ea typeface="Neo Tech"/>
                <a:cs typeface="Times New Roman" panose="02020603050405020304" pitchFamily="18" charset="0"/>
                <a:sym typeface="Neo Tech"/>
              </a:rPr>
              <a:t>defense.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14143232" y="4812054"/>
            <a:ext cx="8289535" cy="9287994"/>
          </a:xfrm>
          <a:custGeom>
            <a:avLst/>
            <a:gdLst/>
            <a:ahLst/>
            <a:cxnLst/>
            <a:rect l="l" t="t" r="r" b="b"/>
            <a:pathLst>
              <a:path w="8289535" h="9287994">
                <a:moveTo>
                  <a:pt x="0" y="0"/>
                </a:moveTo>
                <a:lnTo>
                  <a:pt x="8289535" y="0"/>
                </a:lnTo>
                <a:lnTo>
                  <a:pt x="8289535" y="9287995"/>
                </a:lnTo>
                <a:lnTo>
                  <a:pt x="0" y="9287995"/>
                </a:lnTo>
                <a:lnTo>
                  <a:pt x="0" y="0"/>
                </a:lnTo>
                <a:close/>
              </a:path>
            </a:pathLst>
          </a:custGeom>
          <a:blipFill>
            <a:blip r:embed="rId3">
              <a:alphaModFix amt="80000"/>
            </a:blip>
            <a:stretch>
              <a:fillRect/>
            </a:stretch>
          </a:blipFill>
        </p:spPr>
      </p:sp>
      <p:sp>
        <p:nvSpPr>
          <p:cNvPr id="4" name="Freeform 4"/>
          <p:cNvSpPr/>
          <p:nvPr/>
        </p:nvSpPr>
        <p:spPr>
          <a:xfrm>
            <a:off x="-3780264" y="-331381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5" name="TextBox 8"/>
          <p:cNvSpPr txBox="1"/>
          <p:nvPr/>
        </p:nvSpPr>
        <p:spPr>
          <a:xfrm>
            <a:off x="3828038" y="757012"/>
            <a:ext cx="10711987" cy="769441"/>
          </a:xfrm>
          <a:prstGeom prst="rect">
            <a:avLst/>
          </a:prstGeom>
        </p:spPr>
        <p:txBody>
          <a:bodyPr lIns="0" tIns="0" rIns="0" bIns="0" rtlCol="0" anchor="t">
            <a:spAutoFit/>
          </a:bodyPr>
          <a:lstStyle/>
          <a:p>
            <a:pPr marL="0" lvl="0" indent="0" algn="ctr"/>
            <a:r>
              <a:rPr lang="en-US" sz="5000" b="1" dirty="0" smtClean="0">
                <a:solidFill>
                  <a:srgbClr val="FFFFFF"/>
                </a:solidFill>
                <a:latin typeface="Neo Tech Bold"/>
                <a:ea typeface="Neo Tech Bold"/>
                <a:cs typeface="Neo Tech Bold"/>
                <a:sym typeface="Neo Tech Bold"/>
              </a:rPr>
              <a:t>Background</a:t>
            </a:r>
            <a:endParaRPr lang="en-US" sz="5000" b="1" dirty="0">
              <a:solidFill>
                <a:srgbClr val="FFFFFF"/>
              </a:solidFill>
              <a:latin typeface="Neo Tech Bold"/>
              <a:ea typeface="Neo Tech Bold"/>
              <a:cs typeface="Neo Tech Bold"/>
              <a:sym typeface="Neo Tech Bold"/>
            </a:endParaRPr>
          </a:p>
        </p:txBody>
      </p:sp>
      <p:pic>
        <p:nvPicPr>
          <p:cNvPr id="6" name="Picture 5"/>
          <p:cNvPicPr>
            <a:picLocks noChangeAspect="1"/>
          </p:cNvPicPr>
          <p:nvPr/>
        </p:nvPicPr>
        <p:blipFill>
          <a:blip r:embed="rId5"/>
          <a:stretch>
            <a:fillRect/>
          </a:stretch>
        </p:blipFill>
        <p:spPr>
          <a:xfrm>
            <a:off x="1146870" y="2283465"/>
            <a:ext cx="4561640" cy="3509758"/>
          </a:xfrm>
          <a:prstGeom prst="rect">
            <a:avLst/>
          </a:prstGeom>
        </p:spPr>
      </p:pic>
      <p:pic>
        <p:nvPicPr>
          <p:cNvPr id="9" name="Picture 8"/>
          <p:cNvPicPr>
            <a:picLocks noChangeAspect="1"/>
          </p:cNvPicPr>
          <p:nvPr/>
        </p:nvPicPr>
        <p:blipFill>
          <a:blip r:embed="rId6"/>
          <a:stretch>
            <a:fillRect/>
          </a:stretch>
        </p:blipFill>
        <p:spPr>
          <a:xfrm>
            <a:off x="12574880" y="2283465"/>
            <a:ext cx="4646319" cy="3509758"/>
          </a:xfrm>
          <a:prstGeom prst="rect">
            <a:avLst/>
          </a:prstGeom>
        </p:spPr>
      </p:pic>
      <p:pic>
        <p:nvPicPr>
          <p:cNvPr id="10" name="Picture 9"/>
          <p:cNvPicPr>
            <a:picLocks noChangeAspect="1"/>
          </p:cNvPicPr>
          <p:nvPr/>
        </p:nvPicPr>
        <p:blipFill rotWithShape="1">
          <a:blip r:embed="rId7"/>
          <a:srcRect b="5016"/>
          <a:stretch/>
        </p:blipFill>
        <p:spPr>
          <a:xfrm>
            <a:off x="6859987" y="2271299"/>
            <a:ext cx="4648092" cy="3509758"/>
          </a:xfrm>
          <a:prstGeom prst="rect">
            <a:avLst/>
          </a:prstGeom>
        </p:spPr>
      </p:pic>
      <p:sp>
        <p:nvSpPr>
          <p:cNvPr id="12" name="TextBox 11"/>
          <p:cNvSpPr txBox="1"/>
          <p:nvPr/>
        </p:nvSpPr>
        <p:spPr>
          <a:xfrm>
            <a:off x="1146870" y="5964907"/>
            <a:ext cx="4561640" cy="369332"/>
          </a:xfrm>
          <a:prstGeom prst="rect">
            <a:avLst/>
          </a:prstGeom>
          <a:noFill/>
        </p:spPr>
        <p:txBody>
          <a:bodyPr wrap="square" rtlCol="0">
            <a:spAutoFit/>
          </a:bodyPr>
          <a:lstStyle/>
          <a:p>
            <a:pPr algn="ctr"/>
            <a:r>
              <a:rPr lang="en-US" dirty="0" smtClean="0">
                <a:solidFill>
                  <a:schemeClr val="bg1"/>
                </a:solidFill>
                <a:latin typeface="Times New Roman" panose="02020603050405020304" pitchFamily="18" charset="0"/>
                <a:cs typeface="Times New Roman" panose="02020603050405020304" pitchFamily="18" charset="0"/>
              </a:rPr>
              <a:t>Figure 1: Signature-based Detection</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6859986" y="5964907"/>
            <a:ext cx="4648093" cy="369332"/>
          </a:xfrm>
          <a:prstGeom prst="rect">
            <a:avLst/>
          </a:prstGeom>
          <a:noFill/>
        </p:spPr>
        <p:txBody>
          <a:bodyPr wrap="square" rtlCol="0">
            <a:spAutoFit/>
          </a:bodyPr>
          <a:lstStyle/>
          <a:p>
            <a:pPr algn="ctr"/>
            <a:r>
              <a:rPr lang="en-US" dirty="0" smtClean="0">
                <a:solidFill>
                  <a:schemeClr val="bg1"/>
                </a:solidFill>
                <a:latin typeface="Times New Roman" panose="02020603050405020304" pitchFamily="18" charset="0"/>
                <a:cs typeface="Times New Roman" panose="02020603050405020304" pitchFamily="18" charset="0"/>
              </a:rPr>
              <a:t>Figure 2: Heuristic Methods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12574879" y="5964907"/>
            <a:ext cx="4646319" cy="369332"/>
          </a:xfrm>
          <a:prstGeom prst="rect">
            <a:avLst/>
          </a:prstGeom>
          <a:noFill/>
        </p:spPr>
        <p:txBody>
          <a:bodyPr wrap="square" rtlCol="0">
            <a:spAutoFit/>
          </a:bodyPr>
          <a:lstStyle/>
          <a:p>
            <a:pPr algn="ctr"/>
            <a:r>
              <a:rPr lang="en-US" dirty="0" smtClean="0">
                <a:solidFill>
                  <a:schemeClr val="bg1"/>
                </a:solidFill>
                <a:latin typeface="Times New Roman" panose="02020603050405020304" pitchFamily="18" charset="0"/>
                <a:cs typeface="Times New Roman" panose="02020603050405020304" pitchFamily="18" charset="0"/>
              </a:rPr>
              <a:t>Figure 3: Behavior-based Systems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1146870" y="6920927"/>
            <a:ext cx="4561640" cy="1508105"/>
          </a:xfrm>
          <a:prstGeom prst="rect">
            <a:avLst/>
          </a:prstGeom>
          <a:noFill/>
        </p:spPr>
        <p:txBody>
          <a:bodyPr wrap="square" rtlCol="0">
            <a:spAutoFit/>
          </a:bodyPr>
          <a:lstStyle/>
          <a:p>
            <a:pPr algn="ctr"/>
            <a:r>
              <a:rPr lang="en-US" sz="2300" dirty="0" smtClean="0">
                <a:solidFill>
                  <a:srgbClr val="E6E8F0"/>
                </a:solidFill>
                <a:latin typeface="Times New Roman" panose="02020603050405020304" pitchFamily="18" charset="0"/>
                <a:cs typeface="Times New Roman" panose="02020603050405020304" pitchFamily="18" charset="0"/>
              </a:rPr>
              <a:t>Signature-based detection matches </a:t>
            </a:r>
            <a:r>
              <a:rPr lang="en-US" sz="2300" dirty="0">
                <a:solidFill>
                  <a:srgbClr val="E6E8F0"/>
                </a:solidFill>
                <a:latin typeface="Times New Roman" panose="02020603050405020304" pitchFamily="18" charset="0"/>
                <a:cs typeface="Times New Roman" panose="02020603050405020304" pitchFamily="18" charset="0"/>
              </a:rPr>
              <a:t>files or traffic against a database of known threat signatures (hashes, strings</a:t>
            </a:r>
            <a:r>
              <a:rPr lang="en-US" sz="2300" dirty="0" smtClean="0">
                <a:solidFill>
                  <a:srgbClr val="E6E8F0"/>
                </a:solidFill>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859986" y="6917280"/>
            <a:ext cx="4648093" cy="2215991"/>
          </a:xfrm>
          <a:prstGeom prst="rect">
            <a:avLst/>
          </a:prstGeom>
          <a:noFill/>
        </p:spPr>
        <p:txBody>
          <a:bodyPr wrap="square" rtlCol="0">
            <a:spAutoFit/>
          </a:bodyPr>
          <a:lstStyle/>
          <a:p>
            <a:pPr algn="ctr"/>
            <a:r>
              <a:rPr lang="en-US" sz="2300" dirty="0" smtClean="0">
                <a:solidFill>
                  <a:srgbClr val="E6E8F0"/>
                </a:solidFill>
                <a:latin typeface="Times New Roman" panose="02020603050405020304" pitchFamily="18" charset="0"/>
                <a:cs typeface="Times New Roman" panose="02020603050405020304" pitchFamily="18" charset="0"/>
              </a:rPr>
              <a:t>Heuristic method employs </a:t>
            </a:r>
            <a:r>
              <a:rPr lang="en-US" sz="2300" dirty="0">
                <a:solidFill>
                  <a:srgbClr val="E6E8F0"/>
                </a:solidFill>
                <a:latin typeface="Times New Roman" panose="02020603050405020304" pitchFamily="18" charset="0"/>
                <a:cs typeface="Times New Roman" panose="02020603050405020304" pitchFamily="18" charset="0"/>
              </a:rPr>
              <a:t>rules or algorithms to </a:t>
            </a:r>
            <a:r>
              <a:rPr lang="en-US" sz="2300" dirty="0" smtClean="0">
                <a:solidFill>
                  <a:srgbClr val="E6E8F0"/>
                </a:solidFill>
                <a:latin typeface="Times New Roman" panose="02020603050405020304" pitchFamily="18" charset="0"/>
                <a:cs typeface="Times New Roman" panose="02020603050405020304" pitchFamily="18" charset="0"/>
              </a:rPr>
              <a:t>detect suspect </a:t>
            </a:r>
            <a:r>
              <a:rPr lang="en-US" sz="2300" dirty="0">
                <a:solidFill>
                  <a:srgbClr val="E6E8F0"/>
                </a:solidFill>
                <a:latin typeface="Times New Roman" panose="02020603050405020304" pitchFamily="18" charset="0"/>
                <a:cs typeface="Times New Roman" panose="02020603050405020304" pitchFamily="18" charset="0"/>
              </a:rPr>
              <a:t>characteristics, such as code analysis that resembles known malicious families without an exact signature match.</a:t>
            </a:r>
            <a:endParaRPr lang="en-US" sz="2300"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12574878" y="6920927"/>
            <a:ext cx="4646319" cy="1508105"/>
          </a:xfrm>
          <a:prstGeom prst="rect">
            <a:avLst/>
          </a:prstGeom>
          <a:noFill/>
        </p:spPr>
        <p:txBody>
          <a:bodyPr wrap="square" rtlCol="0">
            <a:spAutoFit/>
          </a:bodyPr>
          <a:lstStyle/>
          <a:p>
            <a:pPr algn="ctr"/>
            <a:r>
              <a:rPr lang="en-US" sz="2300" dirty="0">
                <a:solidFill>
                  <a:srgbClr val="E6E8F0"/>
                </a:solidFill>
                <a:latin typeface="Times New Roman" panose="02020603050405020304" pitchFamily="18" charset="0"/>
                <a:cs typeface="Times New Roman" panose="02020603050405020304" pitchFamily="18" charset="0"/>
              </a:rPr>
              <a:t> </a:t>
            </a:r>
            <a:r>
              <a:rPr lang="en-US" sz="2300" dirty="0" smtClean="0">
                <a:solidFill>
                  <a:srgbClr val="E6E8F0"/>
                </a:solidFill>
                <a:latin typeface="Times New Roman" panose="02020603050405020304" pitchFamily="18" charset="0"/>
                <a:cs typeface="Times New Roman" panose="02020603050405020304" pitchFamily="18" charset="0"/>
              </a:rPr>
              <a:t>For monitor-based systems, monitors </a:t>
            </a:r>
            <a:r>
              <a:rPr lang="en-US" sz="2300" dirty="0">
                <a:solidFill>
                  <a:srgbClr val="E6E8F0"/>
                </a:solidFill>
                <a:latin typeface="Times New Roman" panose="02020603050405020304" pitchFamily="18" charset="0"/>
                <a:cs typeface="Times New Roman" panose="02020603050405020304" pitchFamily="18" charset="0"/>
              </a:rPr>
              <a:t>system activities in real-time to identify anomalous behavior, rather than focusing on the file's static </a:t>
            </a:r>
            <a:r>
              <a:rPr lang="en-US" sz="2300" dirty="0" smtClean="0">
                <a:solidFill>
                  <a:srgbClr val="E6E8F0"/>
                </a:solidFill>
                <a:latin typeface="Times New Roman" panose="02020603050405020304" pitchFamily="18" charset="0"/>
                <a:cs typeface="Times New Roman" panose="02020603050405020304" pitchFamily="18" charset="0"/>
              </a:rPr>
              <a:t>code.</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68670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11606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5" name="TextBox 5"/>
          <p:cNvSpPr txBox="1"/>
          <p:nvPr/>
        </p:nvSpPr>
        <p:spPr>
          <a:xfrm>
            <a:off x="6065651" y="1289358"/>
            <a:ext cx="6203034" cy="551433"/>
          </a:xfrm>
          <a:prstGeom prst="rect">
            <a:avLst/>
          </a:prstGeom>
        </p:spPr>
        <p:txBody>
          <a:bodyPr lIns="0" tIns="0" rIns="0" bIns="0" rtlCol="0" anchor="t">
            <a:spAutoFit/>
          </a:bodyPr>
          <a:lstStyle/>
          <a:p>
            <a:pPr marL="0" lvl="0" indent="0" algn="ctr">
              <a:lnSpc>
                <a:spcPts val="4279"/>
              </a:lnSpc>
            </a:pPr>
            <a:r>
              <a:rPr lang="en-US" sz="5000" b="1" dirty="0">
                <a:solidFill>
                  <a:srgbClr val="FFFFFF"/>
                </a:solidFill>
                <a:latin typeface="Neo Tech Bold"/>
                <a:ea typeface="Neo Tech Bold"/>
                <a:cs typeface="Neo Tech Bold"/>
                <a:sym typeface="Neo Tech Bold"/>
              </a:rPr>
              <a:t>Types </a:t>
            </a:r>
            <a:r>
              <a:rPr lang="en-US" sz="5000" b="1" dirty="0" smtClean="0">
                <a:solidFill>
                  <a:srgbClr val="FFFFFF"/>
                </a:solidFill>
                <a:latin typeface="Neo Tech Bold"/>
                <a:ea typeface="Neo Tech Bold"/>
                <a:cs typeface="Neo Tech Bold"/>
                <a:sym typeface="Neo Tech Bold"/>
              </a:rPr>
              <a:t>of Malware</a:t>
            </a:r>
            <a:endParaRPr lang="en-US" sz="5000" b="1" dirty="0">
              <a:solidFill>
                <a:srgbClr val="FFFFFF"/>
              </a:solidFill>
              <a:latin typeface="Neo Tech Bold"/>
              <a:ea typeface="Neo Tech Bold"/>
              <a:cs typeface="Neo Tech Bold"/>
              <a:sym typeface="Neo Tech Bold"/>
            </a:endParaRPr>
          </a:p>
        </p:txBody>
      </p:sp>
      <p:sp>
        <p:nvSpPr>
          <p:cNvPr id="6" name="TextBox 6"/>
          <p:cNvSpPr txBox="1"/>
          <p:nvPr/>
        </p:nvSpPr>
        <p:spPr>
          <a:xfrm>
            <a:off x="2942912" y="3380644"/>
            <a:ext cx="5324017" cy="610360"/>
          </a:xfrm>
          <a:prstGeom prst="rect">
            <a:avLst/>
          </a:prstGeom>
        </p:spPr>
        <p:txBody>
          <a:bodyPr lIns="0" tIns="0" rIns="0" bIns="0" rtlCol="0" anchor="t">
            <a:spAutoFit/>
          </a:bodyPr>
          <a:lstStyle/>
          <a:p>
            <a:pPr lvl="0">
              <a:lnSpc>
                <a:spcPts val="2519"/>
              </a:lnSpc>
              <a:spcBef>
                <a:spcPct val="0"/>
              </a:spcBef>
            </a:pPr>
            <a:r>
              <a:rPr lang="en-US" sz="1799" dirty="0">
                <a:solidFill>
                  <a:srgbClr val="FFFFFF"/>
                </a:solidFill>
                <a:latin typeface="Neo Tech" panose="020B0604020202020204" charset="0"/>
                <a:ea typeface="Neo Tech"/>
                <a:cs typeface="Times New Roman" panose="02020603050405020304" pitchFamily="18" charset="0"/>
                <a:sym typeface="Neo Tech"/>
              </a:rPr>
              <a:t>Attaches itself to legitimate files and spreads when executed</a:t>
            </a:r>
          </a:p>
        </p:txBody>
      </p:sp>
      <p:sp>
        <p:nvSpPr>
          <p:cNvPr id="7" name="TextBox 7"/>
          <p:cNvSpPr txBox="1"/>
          <p:nvPr/>
        </p:nvSpPr>
        <p:spPr>
          <a:xfrm>
            <a:off x="2942912" y="2714686"/>
            <a:ext cx="2222500" cy="359073"/>
          </a:xfrm>
          <a:prstGeom prst="rect">
            <a:avLst/>
          </a:prstGeom>
        </p:spPr>
        <p:txBody>
          <a:bodyPr lIns="0" tIns="0" rIns="0" bIns="0" rtlCol="0" anchor="t">
            <a:spAutoFit/>
          </a:bodyPr>
          <a:lstStyle/>
          <a:p>
            <a:pPr marL="0" lvl="0" indent="0" algn="l">
              <a:lnSpc>
                <a:spcPts val="2799"/>
              </a:lnSpc>
              <a:spcBef>
                <a:spcPct val="0"/>
              </a:spcBef>
            </a:pPr>
            <a:r>
              <a:rPr lang="en-US" sz="1999" b="1" dirty="0" smtClean="0">
                <a:solidFill>
                  <a:srgbClr val="FFFFFF"/>
                </a:solidFill>
                <a:latin typeface="Neo Tech Bold"/>
                <a:ea typeface="Neo Tech Bold"/>
                <a:cs typeface="Neo Tech Bold"/>
                <a:sym typeface="Neo Tech Bold"/>
              </a:rPr>
              <a:t>Virus</a:t>
            </a:r>
            <a:endParaRPr lang="en-US" sz="1999" b="1" dirty="0">
              <a:solidFill>
                <a:srgbClr val="FFFFFF"/>
              </a:solidFill>
              <a:latin typeface="Neo Tech Bold"/>
              <a:ea typeface="Neo Tech Bold"/>
              <a:cs typeface="Neo Tech Bold"/>
              <a:sym typeface="Neo Tech Bold"/>
            </a:endParaRPr>
          </a:p>
        </p:txBody>
      </p:sp>
      <p:sp>
        <p:nvSpPr>
          <p:cNvPr id="8" name="TextBox 8"/>
          <p:cNvSpPr txBox="1"/>
          <p:nvPr/>
        </p:nvSpPr>
        <p:spPr>
          <a:xfrm>
            <a:off x="10523174" y="3380644"/>
            <a:ext cx="5118013" cy="610360"/>
          </a:xfrm>
          <a:prstGeom prst="rect">
            <a:avLst/>
          </a:prstGeom>
        </p:spPr>
        <p:txBody>
          <a:bodyPr wrap="square" lIns="0" tIns="0" rIns="0" bIns="0" rtlCol="0" anchor="t">
            <a:spAutoFit/>
          </a:bodyPr>
          <a:lstStyle/>
          <a:p>
            <a:pPr lvl="0">
              <a:lnSpc>
                <a:spcPts val="2519"/>
              </a:lnSpc>
              <a:spcBef>
                <a:spcPct val="0"/>
              </a:spcBef>
            </a:pPr>
            <a:r>
              <a:rPr lang="en-US" sz="1799" dirty="0">
                <a:solidFill>
                  <a:srgbClr val="FFFFFF"/>
                </a:solidFill>
                <a:latin typeface="Neo Tech" panose="020B0604020202020204" charset="0"/>
                <a:ea typeface="Neo Tech"/>
                <a:cs typeface="Times New Roman" panose="02020603050405020304" pitchFamily="18" charset="0"/>
                <a:sym typeface="Neo Tech"/>
              </a:rPr>
              <a:t>Disguised as legitimate software but performs malicious actions</a:t>
            </a:r>
          </a:p>
        </p:txBody>
      </p:sp>
      <p:sp>
        <p:nvSpPr>
          <p:cNvPr id="9" name="TextBox 9"/>
          <p:cNvSpPr txBox="1"/>
          <p:nvPr/>
        </p:nvSpPr>
        <p:spPr>
          <a:xfrm>
            <a:off x="10521020" y="2709135"/>
            <a:ext cx="4567272" cy="359073"/>
          </a:xfrm>
          <a:prstGeom prst="rect">
            <a:avLst/>
          </a:prstGeom>
        </p:spPr>
        <p:txBody>
          <a:bodyPr lIns="0" tIns="0" rIns="0" bIns="0" rtlCol="0" anchor="t">
            <a:spAutoFit/>
          </a:bodyPr>
          <a:lstStyle/>
          <a:p>
            <a:pPr marL="0" lvl="0" indent="0" algn="l">
              <a:lnSpc>
                <a:spcPts val="2799"/>
              </a:lnSpc>
              <a:spcBef>
                <a:spcPct val="0"/>
              </a:spcBef>
            </a:pPr>
            <a:r>
              <a:rPr lang="en-US" sz="1999" b="1" dirty="0" smtClean="0">
                <a:solidFill>
                  <a:srgbClr val="FFFFFF"/>
                </a:solidFill>
                <a:latin typeface="Neo Tech Bold"/>
                <a:ea typeface="Neo Tech Bold"/>
                <a:cs typeface="Neo Tech Bold"/>
                <a:sym typeface="Neo Tech Bold"/>
              </a:rPr>
              <a:t>Trojan Horse</a:t>
            </a:r>
            <a:endParaRPr lang="en-US" sz="1999" b="1" dirty="0">
              <a:solidFill>
                <a:srgbClr val="FFFFFF"/>
              </a:solidFill>
              <a:latin typeface="Neo Tech Bold"/>
              <a:ea typeface="Neo Tech Bold"/>
              <a:cs typeface="Neo Tech Bold"/>
              <a:sym typeface="Neo Tech Bold"/>
            </a:endParaRPr>
          </a:p>
        </p:txBody>
      </p:sp>
      <p:sp>
        <p:nvSpPr>
          <p:cNvPr id="10" name="TextBox 10"/>
          <p:cNvSpPr txBox="1"/>
          <p:nvPr/>
        </p:nvSpPr>
        <p:spPr>
          <a:xfrm>
            <a:off x="2942912" y="5062616"/>
            <a:ext cx="5324017" cy="610360"/>
          </a:xfrm>
          <a:prstGeom prst="rect">
            <a:avLst/>
          </a:prstGeom>
        </p:spPr>
        <p:txBody>
          <a:bodyPr lIns="0" tIns="0" rIns="0" bIns="0" rtlCol="0" anchor="t">
            <a:spAutoFit/>
          </a:bodyPr>
          <a:lstStyle/>
          <a:p>
            <a:pPr lvl="0">
              <a:lnSpc>
                <a:spcPts val="2519"/>
              </a:lnSpc>
              <a:spcBef>
                <a:spcPct val="0"/>
              </a:spcBef>
            </a:pPr>
            <a:r>
              <a:rPr lang="en-US" sz="1799" dirty="0">
                <a:solidFill>
                  <a:srgbClr val="FFFFFF"/>
                </a:solidFill>
                <a:latin typeface="Neo Tech"/>
                <a:ea typeface="Neo Tech"/>
                <a:cs typeface="Neo Tech"/>
                <a:sym typeface="Neo Tech"/>
              </a:rPr>
              <a:t>Self-replicates and spreads across networks without user interaction</a:t>
            </a:r>
          </a:p>
        </p:txBody>
      </p:sp>
      <p:sp>
        <p:nvSpPr>
          <p:cNvPr id="11" name="TextBox 11"/>
          <p:cNvSpPr txBox="1"/>
          <p:nvPr/>
        </p:nvSpPr>
        <p:spPr>
          <a:xfrm>
            <a:off x="2930600" y="4432309"/>
            <a:ext cx="4981055" cy="323422"/>
          </a:xfrm>
          <a:prstGeom prst="rect">
            <a:avLst/>
          </a:prstGeom>
        </p:spPr>
        <p:txBody>
          <a:bodyPr lIns="0" tIns="0" rIns="0" bIns="0" rtlCol="0" anchor="t">
            <a:spAutoFit/>
          </a:bodyPr>
          <a:lstStyle/>
          <a:p>
            <a:pPr marL="0" lvl="0" indent="0" algn="l">
              <a:lnSpc>
                <a:spcPts val="2799"/>
              </a:lnSpc>
              <a:spcBef>
                <a:spcPct val="0"/>
              </a:spcBef>
            </a:pPr>
            <a:r>
              <a:rPr lang="en-US" sz="1999" b="1" dirty="0" smtClean="0">
                <a:solidFill>
                  <a:srgbClr val="FFFFFF"/>
                </a:solidFill>
                <a:latin typeface="Neo Tech Bold"/>
                <a:ea typeface="Neo Tech Bold"/>
                <a:cs typeface="Neo Tech Bold"/>
                <a:sym typeface="Neo Tech Bold"/>
              </a:rPr>
              <a:t>Worm</a:t>
            </a:r>
            <a:endParaRPr lang="en-US" sz="1999" b="1" dirty="0">
              <a:solidFill>
                <a:srgbClr val="FFFFFF"/>
              </a:solidFill>
              <a:latin typeface="Neo Tech Bold"/>
              <a:ea typeface="Neo Tech Bold"/>
              <a:cs typeface="Neo Tech Bold"/>
              <a:sym typeface="Neo Tech Bold"/>
            </a:endParaRPr>
          </a:p>
        </p:txBody>
      </p:sp>
      <p:sp>
        <p:nvSpPr>
          <p:cNvPr id="12" name="TextBox 12"/>
          <p:cNvSpPr txBox="1"/>
          <p:nvPr/>
        </p:nvSpPr>
        <p:spPr>
          <a:xfrm>
            <a:off x="10521020" y="5057181"/>
            <a:ext cx="5120167" cy="610360"/>
          </a:xfrm>
          <a:prstGeom prst="rect">
            <a:avLst/>
          </a:prstGeom>
        </p:spPr>
        <p:txBody>
          <a:bodyPr wrap="square" lIns="0" tIns="0" rIns="0" bIns="0" rtlCol="0" anchor="t">
            <a:spAutoFit/>
          </a:bodyPr>
          <a:lstStyle/>
          <a:p>
            <a:pPr lvl="0">
              <a:lnSpc>
                <a:spcPts val="2519"/>
              </a:lnSpc>
              <a:spcBef>
                <a:spcPct val="0"/>
              </a:spcBef>
            </a:pPr>
            <a:r>
              <a:rPr lang="en-US" sz="1799" dirty="0">
                <a:solidFill>
                  <a:srgbClr val="FFFFFF"/>
                </a:solidFill>
                <a:latin typeface="Neo Tech" panose="020B0604020202020204" charset="0"/>
                <a:ea typeface="Neo Tech"/>
                <a:cs typeface="Times New Roman" panose="02020603050405020304" pitchFamily="18" charset="0"/>
                <a:sym typeface="Neo Tech"/>
              </a:rPr>
              <a:t>Encrypts </a:t>
            </a:r>
            <a:r>
              <a:rPr lang="en-US" sz="1799" dirty="0" smtClean="0">
                <a:solidFill>
                  <a:srgbClr val="FFFFFF"/>
                </a:solidFill>
                <a:latin typeface="Neo Tech" panose="020B0604020202020204" charset="0"/>
                <a:ea typeface="Neo Tech"/>
                <a:cs typeface="Times New Roman" panose="02020603050405020304" pitchFamily="18" charset="0"/>
                <a:sym typeface="Neo Tech"/>
              </a:rPr>
              <a:t>user data </a:t>
            </a:r>
            <a:r>
              <a:rPr lang="en-US" sz="1799" dirty="0">
                <a:solidFill>
                  <a:srgbClr val="FFFFFF"/>
                </a:solidFill>
                <a:latin typeface="Neo Tech" panose="020B0604020202020204" charset="0"/>
                <a:ea typeface="Neo Tech"/>
                <a:cs typeface="Times New Roman" panose="02020603050405020304" pitchFamily="18" charset="0"/>
                <a:sym typeface="Neo Tech"/>
              </a:rPr>
              <a:t>and demands payment </a:t>
            </a:r>
            <a:r>
              <a:rPr lang="en-US" sz="1799" dirty="0" smtClean="0">
                <a:solidFill>
                  <a:srgbClr val="FFFFFF"/>
                </a:solidFill>
                <a:latin typeface="Neo Tech" panose="020B0604020202020204" charset="0"/>
                <a:ea typeface="Neo Tech"/>
                <a:cs typeface="Times New Roman" panose="02020603050405020304" pitchFamily="18" charset="0"/>
                <a:sym typeface="Neo Tech"/>
              </a:rPr>
              <a:t>for the decryption</a:t>
            </a:r>
            <a:endParaRPr lang="en-US" sz="1799" dirty="0">
              <a:solidFill>
                <a:srgbClr val="FFFFFF"/>
              </a:solidFill>
              <a:latin typeface="Neo Tech" panose="020B0604020202020204" charset="0"/>
              <a:ea typeface="Neo Tech"/>
              <a:cs typeface="Times New Roman" panose="02020603050405020304" pitchFamily="18" charset="0"/>
              <a:sym typeface="Neo Tech"/>
            </a:endParaRPr>
          </a:p>
        </p:txBody>
      </p:sp>
      <p:sp>
        <p:nvSpPr>
          <p:cNvPr id="13" name="TextBox 13"/>
          <p:cNvSpPr txBox="1"/>
          <p:nvPr/>
        </p:nvSpPr>
        <p:spPr>
          <a:xfrm>
            <a:off x="10521020" y="4432309"/>
            <a:ext cx="4567272" cy="359073"/>
          </a:xfrm>
          <a:prstGeom prst="rect">
            <a:avLst/>
          </a:prstGeom>
        </p:spPr>
        <p:txBody>
          <a:bodyPr lIns="0" tIns="0" rIns="0" bIns="0" rtlCol="0" anchor="t">
            <a:spAutoFit/>
          </a:bodyPr>
          <a:lstStyle/>
          <a:p>
            <a:pPr marL="0" lvl="0" indent="0" algn="l">
              <a:lnSpc>
                <a:spcPts val="2799"/>
              </a:lnSpc>
              <a:spcBef>
                <a:spcPct val="0"/>
              </a:spcBef>
            </a:pPr>
            <a:r>
              <a:rPr lang="en-US" sz="1999" b="1" dirty="0" smtClean="0">
                <a:solidFill>
                  <a:srgbClr val="FFFFFF"/>
                </a:solidFill>
                <a:latin typeface="Neo Tech Bold"/>
                <a:ea typeface="Neo Tech Bold"/>
                <a:cs typeface="Neo Tech Bold"/>
                <a:sym typeface="Neo Tech Bold"/>
              </a:rPr>
              <a:t>Ransom-ware</a:t>
            </a:r>
            <a:endParaRPr lang="en-US" sz="1999" b="1" dirty="0">
              <a:solidFill>
                <a:srgbClr val="FFFFFF"/>
              </a:solidFill>
              <a:latin typeface="Neo Tech Bold"/>
              <a:ea typeface="Neo Tech Bold"/>
              <a:cs typeface="Neo Tech Bold"/>
              <a:sym typeface="Neo Tech Bold"/>
            </a:endParaRPr>
          </a:p>
        </p:txBody>
      </p:sp>
      <p:pic>
        <p:nvPicPr>
          <p:cNvPr id="14" name="Picture 13"/>
          <p:cNvPicPr>
            <a:picLocks noChangeAspect="1"/>
          </p:cNvPicPr>
          <p:nvPr/>
        </p:nvPicPr>
        <p:blipFill>
          <a:blip r:embed="rId5"/>
          <a:stretch>
            <a:fillRect/>
          </a:stretch>
        </p:blipFill>
        <p:spPr>
          <a:xfrm>
            <a:off x="1251029" y="2714686"/>
            <a:ext cx="1266764" cy="1266764"/>
          </a:xfrm>
          <a:prstGeom prst="rect">
            <a:avLst/>
          </a:prstGeom>
        </p:spPr>
      </p:pic>
      <p:pic>
        <p:nvPicPr>
          <p:cNvPr id="15" name="Picture 14"/>
          <p:cNvPicPr>
            <a:picLocks noChangeAspect="1"/>
          </p:cNvPicPr>
          <p:nvPr/>
        </p:nvPicPr>
        <p:blipFill rotWithShape="1">
          <a:blip r:embed="rId6"/>
          <a:srcRect l="20666" t="13333" r="21333" b="27333"/>
          <a:stretch/>
        </p:blipFill>
        <p:spPr>
          <a:xfrm>
            <a:off x="15845036" y="4426309"/>
            <a:ext cx="1223764" cy="1280874"/>
          </a:xfrm>
          <a:prstGeom prst="rect">
            <a:avLst/>
          </a:prstGeom>
        </p:spPr>
      </p:pic>
      <p:pic>
        <p:nvPicPr>
          <p:cNvPr id="17" name="Picture 16"/>
          <p:cNvPicPr>
            <a:picLocks noChangeAspect="1"/>
          </p:cNvPicPr>
          <p:nvPr/>
        </p:nvPicPr>
        <p:blipFill>
          <a:blip r:embed="rId7"/>
          <a:stretch>
            <a:fillRect/>
          </a:stretch>
        </p:blipFill>
        <p:spPr>
          <a:xfrm>
            <a:off x="1297776" y="4430866"/>
            <a:ext cx="1266764" cy="1276317"/>
          </a:xfrm>
          <a:prstGeom prst="rect">
            <a:avLst/>
          </a:prstGeom>
        </p:spPr>
      </p:pic>
      <p:pic>
        <p:nvPicPr>
          <p:cNvPr id="18" name="Picture 17"/>
          <p:cNvPicPr>
            <a:picLocks noChangeAspect="1"/>
          </p:cNvPicPr>
          <p:nvPr/>
        </p:nvPicPr>
        <p:blipFill>
          <a:blip r:embed="rId8"/>
          <a:stretch>
            <a:fillRect/>
          </a:stretch>
        </p:blipFill>
        <p:spPr>
          <a:xfrm>
            <a:off x="15845037" y="2714686"/>
            <a:ext cx="1223763" cy="1266752"/>
          </a:xfrm>
          <a:prstGeom prst="rect">
            <a:avLst/>
          </a:prstGeom>
        </p:spPr>
      </p:pic>
      <p:sp>
        <p:nvSpPr>
          <p:cNvPr id="19" name="TextBox 11"/>
          <p:cNvSpPr txBox="1"/>
          <p:nvPr/>
        </p:nvSpPr>
        <p:spPr>
          <a:xfrm>
            <a:off x="2930600" y="6114281"/>
            <a:ext cx="4981055" cy="359073"/>
          </a:xfrm>
          <a:prstGeom prst="rect">
            <a:avLst/>
          </a:prstGeom>
        </p:spPr>
        <p:txBody>
          <a:bodyPr lIns="0" tIns="0" rIns="0" bIns="0" rtlCol="0" anchor="t">
            <a:spAutoFit/>
          </a:bodyPr>
          <a:lstStyle/>
          <a:p>
            <a:pPr marL="0" lvl="0" indent="0" algn="l">
              <a:lnSpc>
                <a:spcPts val="2799"/>
              </a:lnSpc>
              <a:spcBef>
                <a:spcPct val="0"/>
              </a:spcBef>
            </a:pPr>
            <a:r>
              <a:rPr lang="en-US" sz="1999" b="1" dirty="0" smtClean="0">
                <a:solidFill>
                  <a:srgbClr val="FFFFFF"/>
                </a:solidFill>
                <a:latin typeface="Neo Tech Bold"/>
                <a:ea typeface="Neo Tech Bold"/>
                <a:cs typeface="Neo Tech Bold"/>
                <a:sym typeface="Neo Tech Bold"/>
              </a:rPr>
              <a:t>Spyware</a:t>
            </a:r>
            <a:endParaRPr lang="en-US" sz="1999" b="1" dirty="0">
              <a:solidFill>
                <a:srgbClr val="FFFFFF"/>
              </a:solidFill>
              <a:latin typeface="Neo Tech Bold"/>
              <a:ea typeface="Neo Tech Bold"/>
              <a:cs typeface="Neo Tech Bold"/>
              <a:sym typeface="Neo Tech Bold"/>
            </a:endParaRPr>
          </a:p>
        </p:txBody>
      </p:sp>
      <p:sp>
        <p:nvSpPr>
          <p:cNvPr id="20" name="TextBox 11"/>
          <p:cNvSpPr txBox="1"/>
          <p:nvPr/>
        </p:nvSpPr>
        <p:spPr>
          <a:xfrm>
            <a:off x="10521020" y="6114281"/>
            <a:ext cx="4981055" cy="359073"/>
          </a:xfrm>
          <a:prstGeom prst="rect">
            <a:avLst/>
          </a:prstGeom>
        </p:spPr>
        <p:txBody>
          <a:bodyPr lIns="0" tIns="0" rIns="0" bIns="0" rtlCol="0" anchor="t">
            <a:spAutoFit/>
          </a:bodyPr>
          <a:lstStyle/>
          <a:p>
            <a:pPr marL="0" lvl="0" indent="0" algn="l">
              <a:lnSpc>
                <a:spcPts val="2799"/>
              </a:lnSpc>
              <a:spcBef>
                <a:spcPct val="0"/>
              </a:spcBef>
            </a:pPr>
            <a:r>
              <a:rPr lang="en-US" sz="1999" b="1" dirty="0" smtClean="0">
                <a:solidFill>
                  <a:srgbClr val="FFFFFF"/>
                </a:solidFill>
                <a:latin typeface="Neo Tech Bold"/>
                <a:ea typeface="Neo Tech Bold"/>
                <a:cs typeface="Neo Tech Bold"/>
                <a:sym typeface="Neo Tech Bold"/>
              </a:rPr>
              <a:t>Adware</a:t>
            </a:r>
            <a:endParaRPr lang="en-US" sz="1999" b="1" dirty="0">
              <a:solidFill>
                <a:srgbClr val="FFFFFF"/>
              </a:solidFill>
              <a:latin typeface="Neo Tech Bold"/>
              <a:ea typeface="Neo Tech Bold"/>
              <a:cs typeface="Neo Tech Bold"/>
              <a:sym typeface="Neo Tech Bold"/>
            </a:endParaRPr>
          </a:p>
        </p:txBody>
      </p:sp>
      <p:pic>
        <p:nvPicPr>
          <p:cNvPr id="22" name="Picture 21"/>
          <p:cNvPicPr>
            <a:picLocks noChangeAspect="1"/>
          </p:cNvPicPr>
          <p:nvPr/>
        </p:nvPicPr>
        <p:blipFill rotWithShape="1">
          <a:blip r:embed="rId9"/>
          <a:srcRect t="10939" b="12499"/>
          <a:stretch/>
        </p:blipFill>
        <p:spPr>
          <a:xfrm>
            <a:off x="1249125" y="6156599"/>
            <a:ext cx="1268668" cy="1266752"/>
          </a:xfrm>
          <a:prstGeom prst="rect">
            <a:avLst/>
          </a:prstGeom>
        </p:spPr>
      </p:pic>
      <p:sp>
        <p:nvSpPr>
          <p:cNvPr id="23" name="TextBox 10"/>
          <p:cNvSpPr txBox="1"/>
          <p:nvPr/>
        </p:nvSpPr>
        <p:spPr>
          <a:xfrm>
            <a:off x="2942912" y="6686441"/>
            <a:ext cx="5324017" cy="294504"/>
          </a:xfrm>
          <a:prstGeom prst="rect">
            <a:avLst/>
          </a:prstGeom>
        </p:spPr>
        <p:txBody>
          <a:bodyPr lIns="0" tIns="0" rIns="0" bIns="0" rtlCol="0" anchor="t">
            <a:spAutoFit/>
          </a:bodyPr>
          <a:lstStyle/>
          <a:p>
            <a:pPr lvl="0">
              <a:lnSpc>
                <a:spcPts val="2519"/>
              </a:lnSpc>
              <a:spcBef>
                <a:spcPct val="0"/>
              </a:spcBef>
            </a:pPr>
            <a:r>
              <a:rPr lang="en-US" sz="1799" dirty="0">
                <a:solidFill>
                  <a:srgbClr val="FFFFFF"/>
                </a:solidFill>
                <a:latin typeface="Neo Tech" panose="020B0604020202020204" charset="0"/>
                <a:ea typeface="Neo Tech"/>
                <a:cs typeface="Times New Roman" panose="02020603050405020304" pitchFamily="18" charset="0"/>
                <a:sym typeface="Neo Tech"/>
              </a:rPr>
              <a:t>Collects sensitive user information without consent</a:t>
            </a:r>
          </a:p>
        </p:txBody>
      </p:sp>
      <p:sp>
        <p:nvSpPr>
          <p:cNvPr id="24" name="TextBox 10"/>
          <p:cNvSpPr txBox="1"/>
          <p:nvPr/>
        </p:nvSpPr>
        <p:spPr>
          <a:xfrm>
            <a:off x="10521020" y="6686441"/>
            <a:ext cx="5324017" cy="289759"/>
          </a:xfrm>
          <a:prstGeom prst="rect">
            <a:avLst/>
          </a:prstGeom>
        </p:spPr>
        <p:txBody>
          <a:bodyPr lIns="0" tIns="0" rIns="0" bIns="0" rtlCol="0" anchor="t">
            <a:spAutoFit/>
          </a:bodyPr>
          <a:lstStyle/>
          <a:p>
            <a:pPr lvl="0">
              <a:lnSpc>
                <a:spcPts val="2519"/>
              </a:lnSpc>
              <a:spcBef>
                <a:spcPct val="0"/>
              </a:spcBef>
            </a:pPr>
            <a:r>
              <a:rPr lang="en-US" sz="1799" dirty="0">
                <a:solidFill>
                  <a:srgbClr val="FFFFFF"/>
                </a:solidFill>
                <a:latin typeface="Neo Tech" panose="020B0604020202020204" charset="0"/>
                <a:ea typeface="Neo Tech"/>
                <a:cs typeface="Times New Roman" panose="02020603050405020304" pitchFamily="18" charset="0"/>
                <a:sym typeface="Neo Tech"/>
              </a:rPr>
              <a:t>Displays unwanted advertisements</a:t>
            </a:r>
          </a:p>
        </p:txBody>
      </p:sp>
      <p:pic>
        <p:nvPicPr>
          <p:cNvPr id="25" name="Picture 24"/>
          <p:cNvPicPr>
            <a:picLocks noChangeAspect="1"/>
          </p:cNvPicPr>
          <p:nvPr/>
        </p:nvPicPr>
        <p:blipFill>
          <a:blip r:embed="rId10"/>
          <a:stretch>
            <a:fillRect/>
          </a:stretch>
        </p:blipFill>
        <p:spPr>
          <a:xfrm>
            <a:off x="15842754" y="6111647"/>
            <a:ext cx="1223764" cy="1269561"/>
          </a:xfrm>
          <a:prstGeom prst="rect">
            <a:avLst/>
          </a:prstGeom>
        </p:spPr>
      </p:pic>
      <p:sp>
        <p:nvSpPr>
          <p:cNvPr id="26" name="TextBox 10"/>
          <p:cNvSpPr txBox="1"/>
          <p:nvPr/>
        </p:nvSpPr>
        <p:spPr>
          <a:xfrm>
            <a:off x="6505161" y="7871087"/>
            <a:ext cx="5763524" cy="320601"/>
          </a:xfrm>
          <a:prstGeom prst="rect">
            <a:avLst/>
          </a:prstGeom>
        </p:spPr>
        <p:txBody>
          <a:bodyPr wrap="square" lIns="0" tIns="0" rIns="0" bIns="0" rtlCol="0" anchor="t">
            <a:spAutoFit/>
          </a:bodyPr>
          <a:lstStyle/>
          <a:p>
            <a:pPr lvl="0">
              <a:lnSpc>
                <a:spcPts val="2519"/>
              </a:lnSpc>
              <a:spcBef>
                <a:spcPct val="0"/>
              </a:spcBef>
            </a:pPr>
            <a:r>
              <a:rPr lang="en-US" sz="1799" dirty="0">
                <a:solidFill>
                  <a:srgbClr val="FFFFFF"/>
                </a:solidFill>
                <a:latin typeface="Neo Tech" panose="020B0604020202020204" charset="0"/>
                <a:ea typeface="Neo Tech"/>
                <a:cs typeface="Times New Roman" panose="02020603050405020304" pitchFamily="18" charset="0"/>
                <a:sym typeface="Neo Tech"/>
              </a:rPr>
              <a:t>Provide unauthorized access while hiding their presence</a:t>
            </a:r>
          </a:p>
        </p:txBody>
      </p:sp>
      <p:sp>
        <p:nvSpPr>
          <p:cNvPr id="27" name="TextBox 11"/>
          <p:cNvSpPr txBox="1"/>
          <p:nvPr/>
        </p:nvSpPr>
        <p:spPr>
          <a:xfrm>
            <a:off x="8575070" y="7381208"/>
            <a:ext cx="1184200" cy="359073"/>
          </a:xfrm>
          <a:prstGeom prst="rect">
            <a:avLst/>
          </a:prstGeom>
        </p:spPr>
        <p:txBody>
          <a:bodyPr wrap="square" lIns="0" tIns="0" rIns="0" bIns="0" rtlCol="0" anchor="t">
            <a:spAutoFit/>
          </a:bodyPr>
          <a:lstStyle/>
          <a:p>
            <a:pPr marL="0" lvl="0" indent="0" algn="ctr">
              <a:lnSpc>
                <a:spcPts val="2799"/>
              </a:lnSpc>
              <a:spcBef>
                <a:spcPct val="0"/>
              </a:spcBef>
            </a:pPr>
            <a:r>
              <a:rPr lang="en-US" sz="1999" b="1" dirty="0" smtClean="0">
                <a:solidFill>
                  <a:srgbClr val="FFFFFF"/>
                </a:solidFill>
                <a:latin typeface="Neo Tech Bold"/>
                <a:ea typeface="Neo Tech Bold"/>
                <a:cs typeface="Neo Tech Bold"/>
                <a:sym typeface="Neo Tech Bold"/>
              </a:rPr>
              <a:t>Rootkits</a:t>
            </a:r>
            <a:endParaRPr lang="en-US" sz="1999" b="1" dirty="0">
              <a:solidFill>
                <a:srgbClr val="FFFFFF"/>
              </a:solidFill>
              <a:latin typeface="Neo Tech Bold"/>
              <a:ea typeface="Neo Tech Bold"/>
              <a:cs typeface="Neo Tech Bold"/>
              <a:sym typeface="Neo Tech Bold"/>
            </a:endParaRPr>
          </a:p>
        </p:txBody>
      </p:sp>
      <p:pic>
        <p:nvPicPr>
          <p:cNvPr id="28" name="Picture 27"/>
          <p:cNvPicPr>
            <a:picLocks noChangeAspect="1"/>
          </p:cNvPicPr>
          <p:nvPr/>
        </p:nvPicPr>
        <p:blipFill>
          <a:blip r:embed="rId11"/>
          <a:stretch>
            <a:fillRect/>
          </a:stretch>
        </p:blipFill>
        <p:spPr>
          <a:xfrm>
            <a:off x="8557160" y="8191688"/>
            <a:ext cx="1220017" cy="1380349"/>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11606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5" name="TextBox 5"/>
          <p:cNvSpPr txBox="1"/>
          <p:nvPr/>
        </p:nvSpPr>
        <p:spPr>
          <a:xfrm>
            <a:off x="6075412" y="1046137"/>
            <a:ext cx="6203034" cy="769441"/>
          </a:xfrm>
          <a:prstGeom prst="rect">
            <a:avLst/>
          </a:prstGeom>
        </p:spPr>
        <p:txBody>
          <a:bodyPr lIns="0" tIns="0" rIns="0" bIns="0" rtlCol="0" anchor="t">
            <a:spAutoFit/>
          </a:bodyPr>
          <a:lstStyle/>
          <a:p>
            <a:pPr marL="0" lvl="0" indent="0" algn="ctr"/>
            <a:r>
              <a:rPr lang="en-US" sz="5000" b="1" dirty="0" smtClean="0">
                <a:solidFill>
                  <a:srgbClr val="FFFFFF"/>
                </a:solidFill>
                <a:latin typeface="Neo Tech Bold"/>
                <a:ea typeface="Neo Tech Bold"/>
                <a:cs typeface="Neo Tech Bold"/>
                <a:sym typeface="Neo Tech Bold"/>
              </a:rPr>
              <a:t>Literature Review</a:t>
            </a:r>
            <a:endParaRPr lang="en-US" sz="5000" b="1" dirty="0">
              <a:solidFill>
                <a:srgbClr val="FFFFFF"/>
              </a:solidFill>
              <a:latin typeface="Neo Tech Bold"/>
              <a:ea typeface="Neo Tech Bold"/>
              <a:cs typeface="Neo Tech Bold"/>
              <a:sym typeface="Neo Tech Bold"/>
            </a:endParaRPr>
          </a:p>
        </p:txBody>
      </p:sp>
      <p:pic>
        <p:nvPicPr>
          <p:cNvPr id="8" name="Picture 7"/>
          <p:cNvPicPr>
            <a:picLocks noChangeAspect="1"/>
          </p:cNvPicPr>
          <p:nvPr/>
        </p:nvPicPr>
        <p:blipFill rotWithShape="1">
          <a:blip r:embed="rId5"/>
          <a:srcRect l="5000" t="12963" r="1666" b="8519"/>
          <a:stretch/>
        </p:blipFill>
        <p:spPr>
          <a:xfrm>
            <a:off x="12384299" y="2860063"/>
            <a:ext cx="5278042" cy="2763568"/>
          </a:xfrm>
          <a:prstGeom prst="rect">
            <a:avLst/>
          </a:prstGeom>
        </p:spPr>
      </p:pic>
      <p:pic>
        <p:nvPicPr>
          <p:cNvPr id="9" name="Picture 8"/>
          <p:cNvPicPr>
            <a:picLocks noChangeAspect="1"/>
          </p:cNvPicPr>
          <p:nvPr/>
        </p:nvPicPr>
        <p:blipFill rotWithShape="1">
          <a:blip r:embed="rId6"/>
          <a:srcRect l="10417" t="15185" r="8750" b="8518"/>
          <a:stretch/>
        </p:blipFill>
        <p:spPr>
          <a:xfrm>
            <a:off x="6561279" y="2860063"/>
            <a:ext cx="5231301" cy="2763568"/>
          </a:xfrm>
          <a:prstGeom prst="rect">
            <a:avLst/>
          </a:prstGeom>
        </p:spPr>
      </p:pic>
      <p:pic>
        <p:nvPicPr>
          <p:cNvPr id="10" name="Picture 9"/>
          <p:cNvPicPr>
            <a:picLocks noChangeAspect="1"/>
          </p:cNvPicPr>
          <p:nvPr/>
        </p:nvPicPr>
        <p:blipFill rotWithShape="1">
          <a:blip r:embed="rId7"/>
          <a:srcRect l="8750" t="14445" r="2500" b="7037"/>
          <a:stretch/>
        </p:blipFill>
        <p:spPr>
          <a:xfrm>
            <a:off x="609600" y="2860063"/>
            <a:ext cx="5347211" cy="2763568"/>
          </a:xfrm>
          <a:prstGeom prst="rect">
            <a:avLst/>
          </a:prstGeom>
        </p:spPr>
      </p:pic>
      <p:sp>
        <p:nvSpPr>
          <p:cNvPr id="11" name="TextBox 10"/>
          <p:cNvSpPr txBox="1"/>
          <p:nvPr/>
        </p:nvSpPr>
        <p:spPr>
          <a:xfrm>
            <a:off x="609600" y="5746038"/>
            <a:ext cx="5347212" cy="1061829"/>
          </a:xfrm>
          <a:prstGeom prst="rect">
            <a:avLst/>
          </a:prstGeom>
          <a:noFill/>
        </p:spPr>
        <p:txBody>
          <a:bodyPr wrap="square" rtlCol="0">
            <a:spAutoFit/>
          </a:bodyPr>
          <a:lstStyle/>
          <a:p>
            <a:pPr algn="ctr"/>
            <a:r>
              <a:rPr lang="en-US" sz="2100" dirty="0" err="1">
                <a:solidFill>
                  <a:schemeClr val="bg1"/>
                </a:solidFill>
                <a:latin typeface="Times New Roman" panose="02020603050405020304" pitchFamily="18" charset="0"/>
                <a:cs typeface="Times New Roman" panose="02020603050405020304" pitchFamily="18" charset="0"/>
              </a:rPr>
              <a:t>Kolter</a:t>
            </a:r>
            <a:r>
              <a:rPr lang="en-US" sz="2100" dirty="0">
                <a:solidFill>
                  <a:schemeClr val="bg1"/>
                </a:solidFill>
                <a:latin typeface="Times New Roman" panose="02020603050405020304" pitchFamily="18" charset="0"/>
                <a:cs typeface="Times New Roman" panose="02020603050405020304" pitchFamily="18" charset="0"/>
              </a:rPr>
              <a:t> and </a:t>
            </a:r>
            <a:r>
              <a:rPr lang="en-US" sz="2100" dirty="0" err="1">
                <a:solidFill>
                  <a:schemeClr val="bg1"/>
                </a:solidFill>
                <a:latin typeface="Times New Roman" panose="02020603050405020304" pitchFamily="18" charset="0"/>
                <a:cs typeface="Times New Roman" panose="02020603050405020304" pitchFamily="18" charset="0"/>
              </a:rPr>
              <a:t>Maloof</a:t>
            </a:r>
            <a:r>
              <a:rPr lang="en-US" sz="2100" dirty="0">
                <a:solidFill>
                  <a:schemeClr val="bg1"/>
                </a:solidFill>
                <a:latin typeface="Times New Roman" panose="02020603050405020304" pitchFamily="18" charset="0"/>
                <a:cs typeface="Times New Roman" panose="02020603050405020304" pitchFamily="18" charset="0"/>
              </a:rPr>
              <a:t> used machine learning for detecting malicious </a:t>
            </a:r>
            <a:r>
              <a:rPr lang="en-US" sz="2100" dirty="0" smtClean="0">
                <a:solidFill>
                  <a:schemeClr val="bg1"/>
                </a:solidFill>
                <a:latin typeface="Times New Roman" panose="02020603050405020304" pitchFamily="18" charset="0"/>
                <a:cs typeface="Times New Roman" panose="02020603050405020304" pitchFamily="18" charset="0"/>
              </a:rPr>
              <a:t>executable, </a:t>
            </a:r>
            <a:r>
              <a:rPr lang="en-US" sz="2100" dirty="0">
                <a:solidFill>
                  <a:schemeClr val="bg1"/>
                </a:solidFill>
                <a:latin typeface="Times New Roman" panose="02020603050405020304" pitchFamily="18" charset="0"/>
                <a:cs typeface="Times New Roman" panose="02020603050405020304" pitchFamily="18" charset="0"/>
              </a:rPr>
              <a:t>showing improved detection accuracy. </a:t>
            </a:r>
          </a:p>
        </p:txBody>
      </p:sp>
      <p:sp>
        <p:nvSpPr>
          <p:cNvPr id="12" name="TextBox 11"/>
          <p:cNvSpPr txBox="1"/>
          <p:nvPr/>
        </p:nvSpPr>
        <p:spPr>
          <a:xfrm>
            <a:off x="6561279" y="5770207"/>
            <a:ext cx="5231301" cy="1061829"/>
          </a:xfrm>
          <a:prstGeom prst="rect">
            <a:avLst/>
          </a:prstGeom>
          <a:noFill/>
        </p:spPr>
        <p:txBody>
          <a:bodyPr wrap="square" rtlCol="0">
            <a:spAutoFit/>
          </a:bodyPr>
          <a:lstStyle/>
          <a:p>
            <a:pPr algn="ctr"/>
            <a:r>
              <a:rPr lang="en-US" sz="2100" dirty="0" smtClean="0">
                <a:solidFill>
                  <a:schemeClr val="bg1"/>
                </a:solidFill>
                <a:latin typeface="Times New Roman" panose="02020603050405020304" pitchFamily="18" charset="0"/>
                <a:cs typeface="Times New Roman" panose="02020603050405020304" pitchFamily="18" charset="0"/>
              </a:rPr>
              <a:t>Saxe </a:t>
            </a:r>
            <a:r>
              <a:rPr lang="en-US" sz="2100" dirty="0">
                <a:solidFill>
                  <a:schemeClr val="bg1"/>
                </a:solidFill>
                <a:latin typeface="Times New Roman" panose="02020603050405020304" pitchFamily="18" charset="0"/>
                <a:cs typeface="Times New Roman" panose="02020603050405020304" pitchFamily="18" charset="0"/>
              </a:rPr>
              <a:t>and Berlin applied deep neural networks for malware classification using binary features. </a:t>
            </a:r>
          </a:p>
        </p:txBody>
      </p:sp>
      <p:sp>
        <p:nvSpPr>
          <p:cNvPr id="14" name="TextBox 13"/>
          <p:cNvSpPr txBox="1"/>
          <p:nvPr/>
        </p:nvSpPr>
        <p:spPr>
          <a:xfrm>
            <a:off x="12384299" y="5770207"/>
            <a:ext cx="5278042" cy="1061829"/>
          </a:xfrm>
          <a:prstGeom prst="rect">
            <a:avLst/>
          </a:prstGeom>
          <a:noFill/>
        </p:spPr>
        <p:txBody>
          <a:bodyPr wrap="square" rtlCol="0">
            <a:spAutoFit/>
          </a:bodyPr>
          <a:lstStyle/>
          <a:p>
            <a:pPr algn="ctr"/>
            <a:r>
              <a:rPr lang="en-US" sz="2100" dirty="0">
                <a:solidFill>
                  <a:schemeClr val="bg1"/>
                </a:solidFill>
                <a:latin typeface="Times New Roman" panose="02020603050405020304" pitchFamily="18" charset="0"/>
                <a:cs typeface="Times New Roman" panose="02020603050405020304" pitchFamily="18" charset="0"/>
              </a:rPr>
              <a:t>Raff et al. proposed feeding raw executable files into deep learning models, eliminating manual feature engineering.</a:t>
            </a:r>
          </a:p>
        </p:txBody>
      </p:sp>
      <p:sp>
        <p:nvSpPr>
          <p:cNvPr id="15" name="Snip Diagonal Corner Rectangle 14"/>
          <p:cNvSpPr/>
          <p:nvPr/>
        </p:nvSpPr>
        <p:spPr>
          <a:xfrm>
            <a:off x="3327911" y="7522578"/>
            <a:ext cx="5257800" cy="1066800"/>
          </a:xfrm>
          <a:prstGeom prst="snip2Diag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0" b="1" i="1" dirty="0" smtClean="0">
                <a:latin typeface="Times New Roman" panose="02020603050405020304" pitchFamily="18" charset="0"/>
                <a:cs typeface="Times New Roman" panose="02020603050405020304" pitchFamily="18" charset="0"/>
              </a:rPr>
              <a:t>ML improves detections </a:t>
            </a:r>
            <a:endParaRPr lang="en-US" sz="2300" b="1" i="1" dirty="0">
              <a:latin typeface="Times New Roman" panose="02020603050405020304" pitchFamily="18" charset="0"/>
              <a:cs typeface="Times New Roman" panose="02020603050405020304" pitchFamily="18" charset="0"/>
            </a:endParaRPr>
          </a:p>
        </p:txBody>
      </p:sp>
      <p:sp>
        <p:nvSpPr>
          <p:cNvPr id="16" name="Snip Diagonal Corner Rectangle 15"/>
          <p:cNvSpPr/>
          <p:nvPr/>
        </p:nvSpPr>
        <p:spPr>
          <a:xfrm>
            <a:off x="9755399" y="7522578"/>
            <a:ext cx="5257800" cy="1066800"/>
          </a:xfrm>
          <a:prstGeom prst="snip2Diag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0" b="1" i="1" dirty="0" smtClean="0">
                <a:latin typeface="Times New Roman" panose="02020603050405020304" pitchFamily="18" charset="0"/>
                <a:cs typeface="Times New Roman" panose="02020603050405020304" pitchFamily="18" charset="0"/>
              </a:rPr>
              <a:t>DL models outperform ML models</a:t>
            </a:r>
            <a:endParaRPr lang="en-US" sz="23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33389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11606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pic>
        <p:nvPicPr>
          <p:cNvPr id="5" name="Picture 4"/>
          <p:cNvPicPr>
            <a:picLocks noChangeAspect="1"/>
          </p:cNvPicPr>
          <p:nvPr/>
        </p:nvPicPr>
        <p:blipFill rotWithShape="1">
          <a:blip r:embed="rId5"/>
          <a:srcRect l="5000" t="13704" r="2083" b="7778"/>
          <a:stretch/>
        </p:blipFill>
        <p:spPr>
          <a:xfrm>
            <a:off x="1250125" y="2004317"/>
            <a:ext cx="7322207" cy="3581399"/>
          </a:xfrm>
          <a:prstGeom prst="rect">
            <a:avLst/>
          </a:prstGeom>
        </p:spPr>
      </p:pic>
      <p:pic>
        <p:nvPicPr>
          <p:cNvPr id="6" name="Picture 5"/>
          <p:cNvPicPr>
            <a:picLocks noChangeAspect="1"/>
          </p:cNvPicPr>
          <p:nvPr/>
        </p:nvPicPr>
        <p:blipFill rotWithShape="1">
          <a:blip r:embed="rId6"/>
          <a:srcRect l="5416" t="28518" r="2917" b="7037"/>
          <a:stretch/>
        </p:blipFill>
        <p:spPr>
          <a:xfrm>
            <a:off x="9822456" y="2004317"/>
            <a:ext cx="7322207" cy="3581399"/>
          </a:xfrm>
          <a:prstGeom prst="rect">
            <a:avLst/>
          </a:prstGeom>
        </p:spPr>
      </p:pic>
      <p:sp>
        <p:nvSpPr>
          <p:cNvPr id="7" name="TextBox 6"/>
          <p:cNvSpPr txBox="1"/>
          <p:nvPr/>
        </p:nvSpPr>
        <p:spPr>
          <a:xfrm>
            <a:off x="1250125" y="5829300"/>
            <a:ext cx="7322207" cy="769441"/>
          </a:xfrm>
          <a:prstGeom prst="rect">
            <a:avLst/>
          </a:prstGeom>
          <a:noFill/>
        </p:spPr>
        <p:txBody>
          <a:bodyPr wrap="square" rtlCol="0">
            <a:spAutoFit/>
          </a:bodyPr>
          <a:lstStyle/>
          <a:p>
            <a:pPr algn="ctr"/>
            <a:r>
              <a:rPr lang="en-US" sz="2200" dirty="0">
                <a:solidFill>
                  <a:schemeClr val="bg1"/>
                </a:solidFill>
                <a:latin typeface="Times New Roman" panose="02020603050405020304" pitchFamily="18" charset="0"/>
                <a:cs typeface="Times New Roman" panose="02020603050405020304" pitchFamily="18" charset="0"/>
              </a:rPr>
              <a:t>Arp et al. introduced the DREBIN system for Android malware detection.</a:t>
            </a:r>
          </a:p>
        </p:txBody>
      </p:sp>
      <p:sp>
        <p:nvSpPr>
          <p:cNvPr id="8" name="TextBox 7"/>
          <p:cNvSpPr txBox="1"/>
          <p:nvPr/>
        </p:nvSpPr>
        <p:spPr>
          <a:xfrm>
            <a:off x="9822455" y="5829300"/>
            <a:ext cx="7322207" cy="769441"/>
          </a:xfrm>
          <a:prstGeom prst="rect">
            <a:avLst/>
          </a:prstGeom>
          <a:noFill/>
        </p:spPr>
        <p:txBody>
          <a:bodyPr wrap="square" rtlCol="0">
            <a:spAutoFit/>
          </a:bodyPr>
          <a:lstStyle/>
          <a:p>
            <a:pPr algn="ctr"/>
            <a:r>
              <a:rPr lang="en-US" sz="2200" dirty="0">
                <a:solidFill>
                  <a:schemeClr val="bg1"/>
                </a:solidFill>
                <a:latin typeface="Times New Roman" panose="02020603050405020304" pitchFamily="18" charset="0"/>
                <a:cs typeface="Times New Roman" panose="02020603050405020304" pitchFamily="18" charset="0"/>
              </a:rPr>
              <a:t>Hardy et al. proposed DL4MD, a deep learning framework for intelligent malware detection.</a:t>
            </a:r>
          </a:p>
        </p:txBody>
      </p:sp>
      <p:sp>
        <p:nvSpPr>
          <p:cNvPr id="9" name="Snip Diagonal Corner Rectangle 8"/>
          <p:cNvSpPr/>
          <p:nvPr/>
        </p:nvSpPr>
        <p:spPr>
          <a:xfrm>
            <a:off x="6515100" y="7402958"/>
            <a:ext cx="5257800" cy="1066800"/>
          </a:xfrm>
          <a:prstGeom prst="snip2Diag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0" b="1" i="1" dirty="0" smtClean="0">
                <a:latin typeface="Times New Roman" panose="02020603050405020304" pitchFamily="18" charset="0"/>
                <a:cs typeface="Times New Roman" panose="02020603050405020304" pitchFamily="18" charset="0"/>
              </a:rPr>
              <a:t>Hybrid(ML + DL) approaches are best.</a:t>
            </a:r>
            <a:endParaRPr lang="en-US" sz="23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16766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414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2706321" y="-3138928"/>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6" name="TextBox 5"/>
          <p:cNvSpPr txBox="1"/>
          <p:nvPr/>
        </p:nvSpPr>
        <p:spPr>
          <a:xfrm>
            <a:off x="0" y="876300"/>
            <a:ext cx="18249899" cy="769441"/>
          </a:xfrm>
          <a:prstGeom prst="rect">
            <a:avLst/>
          </a:prstGeom>
        </p:spPr>
        <p:txBody>
          <a:bodyPr wrap="square" lIns="0" tIns="0" rIns="0" bIns="0" rtlCol="0" anchor="t">
            <a:spAutoFit/>
          </a:bodyPr>
          <a:lstStyle/>
          <a:p>
            <a:pPr marL="0" lvl="0" indent="0" algn="ctr"/>
            <a:r>
              <a:rPr lang="en-US" sz="5000" b="1" dirty="0" smtClean="0">
                <a:solidFill>
                  <a:srgbClr val="FFFFFF"/>
                </a:solidFill>
                <a:latin typeface="Neo Tech Bold"/>
                <a:ea typeface="Neo Tech Bold"/>
                <a:cs typeface="Neo Tech Bold"/>
                <a:sym typeface="Neo Tech Bold"/>
              </a:rPr>
              <a:t>Machine Learning Techniques</a:t>
            </a:r>
            <a:endParaRPr lang="en-US" sz="5000" b="1" dirty="0">
              <a:solidFill>
                <a:srgbClr val="FFFFFF"/>
              </a:solidFill>
              <a:latin typeface="Neo Tech Bold"/>
              <a:ea typeface="Neo Tech Bold"/>
              <a:cs typeface="Neo Tech Bold"/>
              <a:sym typeface="Neo Tech Bold"/>
            </a:endParaRPr>
          </a:p>
        </p:txBody>
      </p:sp>
      <p:sp>
        <p:nvSpPr>
          <p:cNvPr id="16" name="TextBox 15"/>
          <p:cNvSpPr txBox="1"/>
          <p:nvPr/>
        </p:nvSpPr>
        <p:spPr>
          <a:xfrm>
            <a:off x="3276600" y="8532792"/>
            <a:ext cx="5135881" cy="369332"/>
          </a:xfrm>
          <a:prstGeom prst="rect">
            <a:avLst/>
          </a:prstGeom>
          <a:noFill/>
        </p:spPr>
        <p:txBody>
          <a:bodyPr wrap="square" rtlCol="0">
            <a:spAutoFit/>
          </a:bodyPr>
          <a:lstStyle/>
          <a:p>
            <a:pPr algn="ctr"/>
            <a:r>
              <a:rPr lang="en-US" dirty="0" smtClean="0">
                <a:solidFill>
                  <a:schemeClr val="bg1"/>
                </a:solidFill>
                <a:latin typeface="Times New Roman" panose="02020603050405020304" pitchFamily="18" charset="0"/>
                <a:cs typeface="Times New Roman" panose="02020603050405020304" pitchFamily="18" charset="0"/>
              </a:rPr>
              <a:t>Figure 4: Supervised Learning Techniques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10864201" y="8532792"/>
            <a:ext cx="4972079" cy="369332"/>
          </a:xfrm>
          <a:prstGeom prst="rect">
            <a:avLst/>
          </a:prstGeom>
          <a:noFill/>
        </p:spPr>
        <p:txBody>
          <a:bodyPr wrap="square" rtlCol="0">
            <a:spAutoFit/>
          </a:bodyPr>
          <a:lstStyle/>
          <a:p>
            <a:pPr algn="ctr"/>
            <a:r>
              <a:rPr lang="en-US" dirty="0" smtClean="0">
                <a:solidFill>
                  <a:schemeClr val="bg1"/>
                </a:solidFill>
                <a:latin typeface="Times New Roman" panose="02020603050405020304" pitchFamily="18" charset="0"/>
                <a:cs typeface="Times New Roman" panose="02020603050405020304" pitchFamily="18" charset="0"/>
              </a:rPr>
              <a:t>Figure 5: Unsupervised Learning Techniques </a:t>
            </a:r>
            <a:endParaRPr lang="en-US" dirty="0">
              <a:solidFill>
                <a:schemeClr val="bg1"/>
              </a:solidFill>
              <a:latin typeface="Times New Roman" panose="02020603050405020304" pitchFamily="18" charset="0"/>
              <a:cs typeface="Times New Roman" panose="02020603050405020304" pitchFamily="18" charset="0"/>
            </a:endParaRPr>
          </a:p>
        </p:txBody>
      </p:sp>
      <p:graphicFrame>
        <p:nvGraphicFramePr>
          <p:cNvPr id="24" name="Diagram 23"/>
          <p:cNvGraphicFramePr/>
          <p:nvPr>
            <p:extLst>
              <p:ext uri="{D42A27DB-BD31-4B8C-83A1-F6EECF244321}">
                <p14:modId xmlns:p14="http://schemas.microsoft.com/office/powerpoint/2010/main" val="1481561500"/>
              </p:ext>
            </p:extLst>
          </p:nvPr>
        </p:nvGraphicFramePr>
        <p:xfrm>
          <a:off x="2057400" y="2628900"/>
          <a:ext cx="7705739" cy="5486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29" name="Diagram 28"/>
          <p:cNvGraphicFramePr/>
          <p:nvPr>
            <p:extLst>
              <p:ext uri="{D42A27DB-BD31-4B8C-83A1-F6EECF244321}">
                <p14:modId xmlns:p14="http://schemas.microsoft.com/office/powerpoint/2010/main" val="747457120"/>
              </p:ext>
            </p:extLst>
          </p:nvPr>
        </p:nvGraphicFramePr>
        <p:xfrm>
          <a:off x="10762436" y="3591091"/>
          <a:ext cx="4953000" cy="449579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39052082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11606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graphicFrame>
        <p:nvGraphicFramePr>
          <p:cNvPr id="16" name="Table 15"/>
          <p:cNvGraphicFramePr>
            <a:graphicFrameLocks noGrp="1"/>
          </p:cNvGraphicFramePr>
          <p:nvPr>
            <p:extLst>
              <p:ext uri="{D42A27DB-BD31-4B8C-83A1-F6EECF244321}">
                <p14:modId xmlns:p14="http://schemas.microsoft.com/office/powerpoint/2010/main" val="2783694215"/>
              </p:ext>
            </p:extLst>
          </p:nvPr>
        </p:nvGraphicFramePr>
        <p:xfrm>
          <a:off x="2514600" y="1562100"/>
          <a:ext cx="13258799" cy="3437564"/>
        </p:xfrm>
        <a:graphic>
          <a:graphicData uri="http://schemas.openxmlformats.org/drawingml/2006/table">
            <a:tbl>
              <a:tblPr firstRow="1" bandRow="1">
                <a:tableStyleId>{5C22544A-7EE6-4342-B048-85BDC9FD1C3A}</a:tableStyleId>
              </a:tblPr>
              <a:tblGrid>
                <a:gridCol w="3314700"/>
                <a:gridCol w="3348871"/>
                <a:gridCol w="4766429"/>
                <a:gridCol w="1828799"/>
              </a:tblGrid>
              <a:tr h="533400">
                <a:tc>
                  <a:txBody>
                    <a:bodyPr/>
                    <a:lstStyle/>
                    <a:p>
                      <a:pPr marL="0" marR="0" algn="ctr">
                        <a:lnSpc>
                          <a:spcPct val="100000"/>
                        </a:lnSpc>
                      </a:pPr>
                      <a:r>
                        <a:rPr lang="en-US" sz="2800" dirty="0" smtClea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Algorithm</a:t>
                      </a:r>
                      <a:endPar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2060"/>
                    </a:solidFill>
                  </a:tcPr>
                </a:tc>
                <a:tc>
                  <a:txBody>
                    <a:bodyPr/>
                    <a:lstStyle/>
                    <a:p>
                      <a:pPr marL="31877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Type</a:t>
                      </a:r>
                    </a:p>
                  </a:txBody>
                  <a:tcPr marL="68580" marR="68580" marT="0" marB="0">
                    <a:solidFill>
                      <a:srgbClr val="002060"/>
                    </a:solidFill>
                  </a:tcPr>
                </a:tc>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Use of  Performance</a:t>
                      </a:r>
                    </a:p>
                  </a:txBody>
                  <a:tcPr marL="68580" marR="68580" marT="0" marB="0">
                    <a:solidFill>
                      <a:srgbClr val="002060"/>
                    </a:solidFill>
                  </a:tcPr>
                </a:tc>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Case</a:t>
                      </a:r>
                    </a:p>
                  </a:txBody>
                  <a:tcPr marL="68580" marR="68580" marT="0" marB="0">
                    <a:solidFill>
                      <a:srgbClr val="002060"/>
                    </a:solidFill>
                  </a:tcPr>
                </a:tc>
              </a:tr>
              <a:tr h="533400">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SVM</a:t>
                      </a:r>
                    </a:p>
                  </a:txBody>
                  <a:tcPr marL="68580" marR="68580" marT="0" marB="0">
                    <a:solidFill>
                      <a:srgbClr val="002060"/>
                    </a:solidFill>
                  </a:tcPr>
                </a:tc>
                <a:tc>
                  <a:txBody>
                    <a:bodyPr/>
                    <a:lstStyle/>
                    <a:p>
                      <a:pPr marL="20447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Supervised</a:t>
                      </a:r>
                    </a:p>
                  </a:txBody>
                  <a:tcPr marL="68580" marR="68580" marT="0" marB="0">
                    <a:solidFill>
                      <a:srgbClr val="002060"/>
                    </a:solidFill>
                  </a:tcPr>
                </a:tc>
                <a:tc>
                  <a:txBody>
                    <a:bodyPr/>
                    <a:lstStyle/>
                    <a:p>
                      <a:pPr marL="370840" marR="0" algn="ctr">
                        <a:lnSpc>
                          <a:spcPct val="100000"/>
                        </a:lnSpc>
                      </a:pPr>
                      <a:r>
                        <a:rPr lang="en-US" sz="2800" dirty="0" smtClea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Binary </a:t>
                      </a: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classification</a:t>
                      </a:r>
                    </a:p>
                  </a:txBody>
                  <a:tcPr marL="68580" marR="68580" marT="0" marB="0">
                    <a:solidFill>
                      <a:srgbClr val="002060"/>
                    </a:solidFill>
                  </a:tcPr>
                </a:tc>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High</a:t>
                      </a:r>
                    </a:p>
                  </a:txBody>
                  <a:tcPr marL="68580" marR="68580" marT="0" marB="0">
                    <a:solidFill>
                      <a:srgbClr val="002060"/>
                    </a:solidFill>
                  </a:tcPr>
                </a:tc>
              </a:tr>
              <a:tr h="592691">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Decision Tree</a:t>
                      </a:r>
                    </a:p>
                  </a:txBody>
                  <a:tcPr marL="68580" marR="68580" marT="0" marB="0">
                    <a:solidFill>
                      <a:srgbClr val="002060"/>
                    </a:solidFill>
                  </a:tcPr>
                </a:tc>
                <a:tc>
                  <a:txBody>
                    <a:bodyPr/>
                    <a:lstStyle/>
                    <a:p>
                      <a:pPr marL="19812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Supervised</a:t>
                      </a:r>
                    </a:p>
                  </a:txBody>
                  <a:tcPr marL="68580" marR="68580" marT="0" marB="0">
                    <a:solidFill>
                      <a:srgbClr val="002060"/>
                    </a:solidFill>
                  </a:tcPr>
                </a:tc>
                <a:tc>
                  <a:txBody>
                    <a:bodyPr/>
                    <a:lstStyle/>
                    <a:p>
                      <a:pPr marL="320040" marR="0" algn="ctr">
                        <a:lnSpc>
                          <a:spcPct val="100000"/>
                        </a:lnSpc>
                      </a:pPr>
                      <a:r>
                        <a:rPr lang="en-US" sz="2800" dirty="0" smtClea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Rule-based </a:t>
                      </a: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classification</a:t>
                      </a:r>
                    </a:p>
                  </a:txBody>
                  <a:tcPr marL="68580" marR="68580" marT="0" marB="0">
                    <a:solidFill>
                      <a:srgbClr val="002060"/>
                    </a:solidFill>
                  </a:tcPr>
                </a:tc>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Medium</a:t>
                      </a:r>
                    </a:p>
                  </a:txBody>
                  <a:tcPr marL="68580" marR="68580" marT="0" marB="0">
                    <a:solidFill>
                      <a:srgbClr val="002060"/>
                    </a:solidFill>
                  </a:tcPr>
                </a:tc>
              </a:tr>
              <a:tr h="592691">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Random Forest</a:t>
                      </a:r>
                    </a:p>
                  </a:txBody>
                  <a:tcPr marL="68580" marR="68580" marT="0" marB="0">
                    <a:solidFill>
                      <a:srgbClr val="002060"/>
                    </a:solidFill>
                  </a:tcPr>
                </a:tc>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baseline="0" dirty="0" smtClea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smtClea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Ensemble</a:t>
                      </a:r>
                      <a:endPar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2060"/>
                    </a:solidFill>
                  </a:tcPr>
                </a:tc>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smtClea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Large </a:t>
                      </a: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dataset classification</a:t>
                      </a:r>
                    </a:p>
                  </a:txBody>
                  <a:tcPr marL="68580" marR="68580" marT="0" marB="0">
                    <a:solidFill>
                      <a:srgbClr val="002060"/>
                    </a:solidFill>
                  </a:tcPr>
                </a:tc>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High</a:t>
                      </a:r>
                    </a:p>
                  </a:txBody>
                  <a:tcPr marL="68580" marR="68580" marT="0" marB="0">
                    <a:solidFill>
                      <a:srgbClr val="002060"/>
                    </a:solidFill>
                  </a:tcPr>
                </a:tc>
              </a:tr>
              <a:tr h="592691">
                <a:tc>
                  <a:txBody>
                    <a:bodyPr/>
                    <a:lstStyle/>
                    <a:p>
                      <a:pPr marL="0" marR="0" algn="ctr">
                        <a:lnSpc>
                          <a:spcPct val="100000"/>
                        </a:lnSpc>
                      </a:pPr>
                      <a:r>
                        <a:rPr lang="en-US" sz="280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Naïve Bayes</a:t>
                      </a:r>
                    </a:p>
                  </a:txBody>
                  <a:tcPr marL="68580" marR="68580" marT="0" marB="0">
                    <a:solidFill>
                      <a:srgbClr val="002060"/>
                    </a:solidFill>
                  </a:tcPr>
                </a:tc>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Probabilistic</a:t>
                      </a:r>
                    </a:p>
                  </a:txBody>
                  <a:tcPr marL="68580" marR="68580" marT="0" marB="0">
                    <a:solidFill>
                      <a:srgbClr val="002060"/>
                    </a:solidFill>
                  </a:tcPr>
                </a:tc>
                <a:tc>
                  <a:txBody>
                    <a:bodyPr/>
                    <a:lstStyle/>
                    <a:p>
                      <a:pPr marL="440690" marR="0" algn="ctr">
                        <a:lnSpc>
                          <a:spcPct val="100000"/>
                        </a:lnSpc>
                      </a:pPr>
                      <a:r>
                        <a:rPr lang="en-US" sz="2800" dirty="0" smtClea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Fast </a:t>
                      </a: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classification</a:t>
                      </a:r>
                    </a:p>
                  </a:txBody>
                  <a:tcPr marL="68580" marR="68580" marT="0" marB="0">
                    <a:solidFill>
                      <a:srgbClr val="002060"/>
                    </a:solidFill>
                  </a:tcPr>
                </a:tc>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Medium</a:t>
                      </a:r>
                    </a:p>
                  </a:txBody>
                  <a:tcPr marL="68580" marR="68580" marT="0" marB="0">
                    <a:solidFill>
                      <a:srgbClr val="002060"/>
                    </a:solidFill>
                  </a:tcPr>
                </a:tc>
              </a:tr>
              <a:tr h="592691">
                <a:tc>
                  <a:txBody>
                    <a:bodyPr/>
                    <a:lstStyle/>
                    <a:p>
                      <a:pPr marL="0" marR="0" algn="ctr">
                        <a:lnSpc>
                          <a:spcPct val="100000"/>
                        </a:lnSpc>
                      </a:pPr>
                      <a:r>
                        <a:rPr lang="en-US" sz="2800" dirty="0" smtClea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KNN Clustering</a:t>
                      </a:r>
                      <a:endPar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2060"/>
                    </a:solidFill>
                  </a:tcPr>
                </a:tc>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smtClea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Instance-Based</a:t>
                      </a:r>
                      <a:endPar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2060"/>
                    </a:solidFill>
                  </a:tcPr>
                </a:tc>
                <a:tc>
                  <a:txBody>
                    <a:bodyPr/>
                    <a:lstStyle/>
                    <a:p>
                      <a:pPr marL="358140" marR="0" algn="ctr">
                        <a:lnSpc>
                          <a:spcPct val="100000"/>
                        </a:lnSpc>
                      </a:pPr>
                      <a:r>
                        <a:rPr lang="en-US" sz="2800" dirty="0" smtClea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Similarity </a:t>
                      </a: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detection</a:t>
                      </a:r>
                    </a:p>
                  </a:txBody>
                  <a:tcPr marL="68580" marR="68580" marT="0" marB="0">
                    <a:solidFill>
                      <a:srgbClr val="002060"/>
                    </a:solidFill>
                  </a:tcPr>
                </a:tc>
                <a:tc>
                  <a:txBody>
                    <a:bodyPr/>
                    <a:lstStyle/>
                    <a:p>
                      <a:pPr marL="0" marR="0" algn="ctr">
                        <a:lnSpc>
                          <a:spcPct val="100000"/>
                        </a:lnSpc>
                      </a:pP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Low</a:t>
                      </a:r>
                    </a:p>
                  </a:txBody>
                  <a:tcPr marL="68580" marR="68580" marT="0" marB="0">
                    <a:solidFill>
                      <a:srgbClr val="002060"/>
                    </a:solidFill>
                  </a:tcPr>
                </a:tc>
              </a:tr>
            </a:tbl>
          </a:graphicData>
        </a:graphic>
      </p:graphicFrame>
      <p:sp>
        <p:nvSpPr>
          <p:cNvPr id="17" name="TextBox 16"/>
          <p:cNvSpPr txBox="1"/>
          <p:nvPr/>
        </p:nvSpPr>
        <p:spPr>
          <a:xfrm>
            <a:off x="2514600" y="5126236"/>
            <a:ext cx="13258800" cy="474464"/>
          </a:xfrm>
          <a:prstGeom prst="rect">
            <a:avLst/>
          </a:prstGeom>
          <a:noFill/>
        </p:spPr>
        <p:txBody>
          <a:bodyPr wrap="square" rtlCol="0">
            <a:spAutoFit/>
          </a:bodyPr>
          <a:lstStyle/>
          <a:p>
            <a:pPr algn="ctr"/>
            <a:r>
              <a:rPr lang="en-US" sz="2500" dirty="0">
                <a:solidFill>
                  <a:schemeClr val="bg1"/>
                </a:solidFill>
                <a:latin typeface="Times New Roman" panose="02020603050405020304" pitchFamily="18" charset="0"/>
                <a:cs typeface="Times New Roman" panose="02020603050405020304" pitchFamily="18" charset="0"/>
              </a:rPr>
              <a:t>Table </a:t>
            </a:r>
            <a:r>
              <a:rPr lang="en-US" sz="2500" dirty="0" smtClean="0">
                <a:solidFill>
                  <a:schemeClr val="bg1"/>
                </a:solidFill>
                <a:latin typeface="Times New Roman" panose="02020603050405020304" pitchFamily="18" charset="0"/>
                <a:cs typeface="Times New Roman" panose="02020603050405020304" pitchFamily="18" charset="0"/>
              </a:rPr>
              <a:t>1</a:t>
            </a:r>
            <a:r>
              <a:rPr lang="en-US" sz="2500" dirty="0">
                <a:solidFill>
                  <a:schemeClr val="bg1"/>
                </a:solidFill>
                <a:latin typeface="Times New Roman" panose="02020603050405020304" pitchFamily="18" charset="0"/>
                <a:cs typeface="Times New Roman" panose="02020603050405020304" pitchFamily="18" charset="0"/>
              </a:rPr>
              <a:t>: Machine Learning Algorithms for Malware </a:t>
            </a:r>
            <a:r>
              <a:rPr lang="en-US" sz="2500" dirty="0" smtClean="0">
                <a:solidFill>
                  <a:schemeClr val="bg1"/>
                </a:solidFill>
                <a:latin typeface="Times New Roman" panose="02020603050405020304" pitchFamily="18" charset="0"/>
                <a:cs typeface="Times New Roman" panose="02020603050405020304" pitchFamily="18" charset="0"/>
              </a:rPr>
              <a:t>Detection</a:t>
            </a:r>
            <a:endParaRPr lang="en-US" sz="2500" dirty="0">
              <a:solidFill>
                <a:schemeClr val="bg1"/>
              </a:solidFill>
              <a:latin typeface="Times New Roman" panose="02020603050405020304" pitchFamily="18" charset="0"/>
              <a:cs typeface="Times New Roman" panose="02020603050405020304" pitchFamily="18" charset="0"/>
            </a:endParaRPr>
          </a:p>
        </p:txBody>
      </p:sp>
      <p:pic>
        <p:nvPicPr>
          <p:cNvPr id="18" name="Picture 17"/>
          <p:cNvPicPr>
            <a:picLocks noChangeAspect="1"/>
          </p:cNvPicPr>
          <p:nvPr/>
        </p:nvPicPr>
        <p:blipFill>
          <a:blip r:embed="rId5"/>
          <a:stretch>
            <a:fillRect/>
          </a:stretch>
        </p:blipFill>
        <p:spPr>
          <a:xfrm>
            <a:off x="3657599" y="6979946"/>
            <a:ext cx="3809999" cy="3323824"/>
          </a:xfrm>
          <a:prstGeom prst="rect">
            <a:avLst/>
          </a:prstGeom>
        </p:spPr>
      </p:pic>
      <p:pic>
        <p:nvPicPr>
          <p:cNvPr id="20" name="Picture 19"/>
          <p:cNvPicPr>
            <a:picLocks noChangeAspect="1"/>
          </p:cNvPicPr>
          <p:nvPr/>
        </p:nvPicPr>
        <p:blipFill>
          <a:blip r:embed="rId6"/>
          <a:stretch>
            <a:fillRect/>
          </a:stretch>
        </p:blipFill>
        <p:spPr>
          <a:xfrm>
            <a:off x="7467598" y="6979946"/>
            <a:ext cx="3505200" cy="3307053"/>
          </a:xfrm>
          <a:prstGeom prst="rect">
            <a:avLst/>
          </a:prstGeom>
        </p:spPr>
      </p:pic>
      <p:pic>
        <p:nvPicPr>
          <p:cNvPr id="23" name="Picture 22"/>
          <p:cNvPicPr>
            <a:picLocks noChangeAspect="1"/>
          </p:cNvPicPr>
          <p:nvPr/>
        </p:nvPicPr>
        <p:blipFill>
          <a:blip r:embed="rId7"/>
          <a:stretch>
            <a:fillRect/>
          </a:stretch>
        </p:blipFill>
        <p:spPr>
          <a:xfrm>
            <a:off x="14706601" y="6959603"/>
            <a:ext cx="3581399" cy="3323329"/>
          </a:xfrm>
          <a:prstGeom prst="rect">
            <a:avLst/>
          </a:prstGeom>
        </p:spPr>
      </p:pic>
      <p:pic>
        <p:nvPicPr>
          <p:cNvPr id="24" name="Picture 23"/>
          <p:cNvPicPr>
            <a:picLocks noChangeAspect="1"/>
          </p:cNvPicPr>
          <p:nvPr/>
        </p:nvPicPr>
        <p:blipFill>
          <a:blip r:embed="rId8"/>
          <a:stretch>
            <a:fillRect/>
          </a:stretch>
        </p:blipFill>
        <p:spPr>
          <a:xfrm>
            <a:off x="10972798" y="6963175"/>
            <a:ext cx="3733803" cy="3319757"/>
          </a:xfrm>
          <a:prstGeom prst="rect">
            <a:avLst/>
          </a:prstGeom>
        </p:spPr>
      </p:pic>
      <p:pic>
        <p:nvPicPr>
          <p:cNvPr id="25" name="Picture 24"/>
          <p:cNvPicPr>
            <a:picLocks noChangeAspect="1"/>
          </p:cNvPicPr>
          <p:nvPr/>
        </p:nvPicPr>
        <p:blipFill>
          <a:blip r:embed="rId9"/>
          <a:stretch>
            <a:fillRect/>
          </a:stretch>
        </p:blipFill>
        <p:spPr>
          <a:xfrm>
            <a:off x="-1" y="6975871"/>
            <a:ext cx="3657600" cy="3311129"/>
          </a:xfrm>
          <a:prstGeom prst="rect">
            <a:avLst/>
          </a:prstGeom>
        </p:spPr>
      </p:pic>
      <p:cxnSp>
        <p:nvCxnSpPr>
          <p:cNvPr id="6" name="Straight Connector 5"/>
          <p:cNvCxnSpPr/>
          <p:nvPr/>
        </p:nvCxnSpPr>
        <p:spPr>
          <a:xfrm>
            <a:off x="3657599" y="6979946"/>
            <a:ext cx="0" cy="3323824"/>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7467598" y="6975871"/>
            <a:ext cx="0" cy="3311129"/>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10972798" y="6979946"/>
            <a:ext cx="0" cy="3302986"/>
          </a:xfrm>
          <a:prstGeom prst="line">
            <a:avLst/>
          </a:prstGeom>
          <a:ln w="28575"/>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a:xfrm>
            <a:off x="14706601" y="6979946"/>
            <a:ext cx="0" cy="3302986"/>
          </a:xfrm>
          <a:prstGeom prst="line">
            <a:avLst/>
          </a:prstGeom>
          <a:ln w="28575"/>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flipV="1">
            <a:off x="0" y="6942833"/>
            <a:ext cx="18288000" cy="33038"/>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414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972855"/>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086100"/>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5" name="TextBox 4"/>
          <p:cNvSpPr txBox="1"/>
          <p:nvPr/>
        </p:nvSpPr>
        <p:spPr>
          <a:xfrm>
            <a:off x="0" y="947954"/>
            <a:ext cx="18288000" cy="769441"/>
          </a:xfrm>
          <a:prstGeom prst="rect">
            <a:avLst/>
          </a:prstGeom>
        </p:spPr>
        <p:txBody>
          <a:bodyPr wrap="square" lIns="0" tIns="0" rIns="0" bIns="0" rtlCol="0" anchor="t">
            <a:spAutoFit/>
          </a:bodyPr>
          <a:lstStyle/>
          <a:p>
            <a:pPr marL="0" lvl="0" indent="0" algn="ctr"/>
            <a:r>
              <a:rPr lang="en-US" sz="5000" b="1" dirty="0" smtClean="0">
                <a:solidFill>
                  <a:srgbClr val="FFFFFF"/>
                </a:solidFill>
                <a:latin typeface="Neo Tech Bold"/>
                <a:ea typeface="Neo Tech Bold"/>
                <a:cs typeface="Neo Tech Bold"/>
                <a:sym typeface="Neo Tech Bold"/>
              </a:rPr>
              <a:t>Deep Learning Techniques</a:t>
            </a:r>
            <a:endParaRPr lang="en-US" sz="5000" b="1" dirty="0">
              <a:solidFill>
                <a:srgbClr val="FFFFFF"/>
              </a:solidFill>
              <a:latin typeface="Neo Tech Bold"/>
              <a:ea typeface="Neo Tech Bold"/>
              <a:cs typeface="Neo Tech Bold"/>
              <a:sym typeface="Neo Tech Bold"/>
            </a:endParaRPr>
          </a:p>
        </p:txBody>
      </p:sp>
      <p:pic>
        <p:nvPicPr>
          <p:cNvPr id="20" name="Picture 19"/>
          <p:cNvPicPr>
            <a:picLocks noChangeAspect="1"/>
          </p:cNvPicPr>
          <p:nvPr/>
        </p:nvPicPr>
        <p:blipFill>
          <a:blip r:embed="rId5"/>
          <a:stretch>
            <a:fillRect/>
          </a:stretch>
        </p:blipFill>
        <p:spPr>
          <a:xfrm>
            <a:off x="0" y="7200900"/>
            <a:ext cx="4588812" cy="3213100"/>
          </a:xfrm>
          <a:prstGeom prst="rect">
            <a:avLst/>
          </a:prstGeom>
        </p:spPr>
      </p:pic>
      <p:pic>
        <p:nvPicPr>
          <p:cNvPr id="21" name="Picture 20"/>
          <p:cNvPicPr>
            <a:picLocks noChangeAspect="1"/>
          </p:cNvPicPr>
          <p:nvPr/>
        </p:nvPicPr>
        <p:blipFill>
          <a:blip r:embed="rId6"/>
          <a:stretch>
            <a:fillRect/>
          </a:stretch>
        </p:blipFill>
        <p:spPr>
          <a:xfrm>
            <a:off x="4606572" y="7200900"/>
            <a:ext cx="4561074" cy="3217406"/>
          </a:xfrm>
          <a:prstGeom prst="rect">
            <a:avLst/>
          </a:prstGeom>
        </p:spPr>
      </p:pic>
      <p:pic>
        <p:nvPicPr>
          <p:cNvPr id="27" name="Picture 26"/>
          <p:cNvPicPr>
            <a:picLocks noChangeAspect="1"/>
          </p:cNvPicPr>
          <p:nvPr/>
        </p:nvPicPr>
        <p:blipFill rotWithShape="1">
          <a:blip r:embed="rId7"/>
          <a:srcRect l="1154" r="1804"/>
          <a:stretch/>
        </p:blipFill>
        <p:spPr>
          <a:xfrm>
            <a:off x="9195384" y="7200900"/>
            <a:ext cx="4352976" cy="3213100"/>
          </a:xfrm>
          <a:prstGeom prst="rect">
            <a:avLst/>
          </a:prstGeom>
        </p:spPr>
      </p:pic>
      <p:pic>
        <p:nvPicPr>
          <p:cNvPr id="28" name="Picture 27"/>
          <p:cNvPicPr>
            <a:picLocks noChangeAspect="1"/>
          </p:cNvPicPr>
          <p:nvPr/>
        </p:nvPicPr>
        <p:blipFill rotWithShape="1">
          <a:blip r:embed="rId8"/>
          <a:srcRect t="2337" b="5411"/>
          <a:stretch/>
        </p:blipFill>
        <p:spPr>
          <a:xfrm>
            <a:off x="13563601" y="7200900"/>
            <a:ext cx="4724399" cy="3213100"/>
          </a:xfrm>
          <a:prstGeom prst="rect">
            <a:avLst/>
          </a:prstGeom>
        </p:spPr>
      </p:pic>
      <p:cxnSp>
        <p:nvCxnSpPr>
          <p:cNvPr id="30" name="Straight Connector 29"/>
          <p:cNvCxnSpPr/>
          <p:nvPr/>
        </p:nvCxnSpPr>
        <p:spPr>
          <a:xfrm>
            <a:off x="4588813" y="7200900"/>
            <a:ext cx="0" cy="3213100"/>
          </a:xfrm>
          <a:prstGeom prst="line">
            <a:avLst/>
          </a:prstGeom>
          <a:ln w="28575"/>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a:xfrm>
            <a:off x="9167646" y="7200900"/>
            <a:ext cx="0" cy="3213100"/>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a:off x="13563601" y="7200900"/>
            <a:ext cx="0" cy="3213100"/>
          </a:xfrm>
          <a:prstGeom prst="line">
            <a:avLst/>
          </a:prstGeom>
          <a:ln w="28575"/>
        </p:spPr>
        <p:style>
          <a:lnRef idx="1">
            <a:schemeClr val="dk1"/>
          </a:lnRef>
          <a:fillRef idx="0">
            <a:schemeClr val="dk1"/>
          </a:fillRef>
          <a:effectRef idx="0">
            <a:schemeClr val="dk1"/>
          </a:effectRef>
          <a:fontRef idx="minor">
            <a:schemeClr val="tx1"/>
          </a:fontRef>
        </p:style>
      </p:cxnSp>
      <p:cxnSp>
        <p:nvCxnSpPr>
          <p:cNvPr id="36" name="Straight Connector 35"/>
          <p:cNvCxnSpPr/>
          <p:nvPr/>
        </p:nvCxnSpPr>
        <p:spPr>
          <a:xfrm>
            <a:off x="0" y="7200900"/>
            <a:ext cx="18288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a:xfrm>
            <a:off x="2514600" y="2445880"/>
            <a:ext cx="13258800" cy="3746797"/>
            <a:chOff x="2514600" y="2400300"/>
            <a:chExt cx="13258800" cy="3693730"/>
          </a:xfrm>
        </p:grpSpPr>
        <p:grpSp>
          <p:nvGrpSpPr>
            <p:cNvPr id="26" name="Group 25"/>
            <p:cNvGrpSpPr/>
            <p:nvPr/>
          </p:nvGrpSpPr>
          <p:grpSpPr>
            <a:xfrm>
              <a:off x="2514600" y="2424055"/>
              <a:ext cx="13258800" cy="3669975"/>
              <a:chOff x="2514600" y="2393561"/>
              <a:chExt cx="13258800" cy="3711482"/>
            </a:xfrm>
          </p:grpSpPr>
          <p:graphicFrame>
            <p:nvGraphicFramePr>
              <p:cNvPr id="19" name="Diagram 18"/>
              <p:cNvGraphicFramePr/>
              <p:nvPr>
                <p:extLst>
                  <p:ext uri="{D42A27DB-BD31-4B8C-83A1-F6EECF244321}">
                    <p14:modId xmlns:p14="http://schemas.microsoft.com/office/powerpoint/2010/main" val="394688810"/>
                  </p:ext>
                </p:extLst>
              </p:nvPr>
            </p:nvGraphicFramePr>
            <p:xfrm>
              <a:off x="2514600" y="2393561"/>
              <a:ext cx="13258800" cy="371148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cxnSp>
            <p:nvCxnSpPr>
              <p:cNvPr id="23" name="Straight Connector 22"/>
              <p:cNvCxnSpPr/>
              <p:nvPr/>
            </p:nvCxnSpPr>
            <p:spPr>
              <a:xfrm>
                <a:off x="2514600" y="5529504"/>
                <a:ext cx="13258800" cy="23732"/>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38" name="Straight Connector 37"/>
            <p:cNvCxnSpPr/>
            <p:nvPr/>
          </p:nvCxnSpPr>
          <p:spPr>
            <a:xfrm>
              <a:off x="2514600" y="2400300"/>
              <a:ext cx="0" cy="312205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5773400" y="2400300"/>
              <a:ext cx="0" cy="3145518"/>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2514600" y="5728289"/>
            <a:ext cx="13258800" cy="474464"/>
          </a:xfrm>
          <a:prstGeom prst="rect">
            <a:avLst/>
          </a:prstGeom>
          <a:noFill/>
        </p:spPr>
        <p:txBody>
          <a:bodyPr wrap="square" rtlCol="0">
            <a:spAutoFit/>
          </a:bodyPr>
          <a:lstStyle/>
          <a:p>
            <a:pPr algn="ctr"/>
            <a:r>
              <a:rPr lang="en-US" sz="2500" dirty="0">
                <a:solidFill>
                  <a:schemeClr val="bg1"/>
                </a:solidFill>
                <a:latin typeface="Times New Roman" panose="02020603050405020304" pitchFamily="18" charset="0"/>
                <a:cs typeface="Times New Roman" panose="02020603050405020304" pitchFamily="18" charset="0"/>
              </a:rPr>
              <a:t>Table 2</a:t>
            </a:r>
            <a:r>
              <a:rPr lang="en-US" sz="2500" dirty="0" smtClean="0">
                <a:solidFill>
                  <a:schemeClr val="bg1"/>
                </a:solidFill>
                <a:latin typeface="Times New Roman" panose="02020603050405020304" pitchFamily="18" charset="0"/>
                <a:cs typeface="Times New Roman" panose="02020603050405020304" pitchFamily="18" charset="0"/>
              </a:rPr>
              <a:t>: Deep </a:t>
            </a:r>
            <a:r>
              <a:rPr lang="en-US" sz="2500" dirty="0">
                <a:solidFill>
                  <a:schemeClr val="bg1"/>
                </a:solidFill>
                <a:latin typeface="Times New Roman" panose="02020603050405020304" pitchFamily="18" charset="0"/>
                <a:cs typeface="Times New Roman" panose="02020603050405020304" pitchFamily="18" charset="0"/>
              </a:rPr>
              <a:t>Learning Algorithms for Malware </a:t>
            </a:r>
            <a:r>
              <a:rPr lang="en-US" sz="2500" dirty="0" smtClean="0">
                <a:solidFill>
                  <a:schemeClr val="bg1"/>
                </a:solidFill>
                <a:latin typeface="Times New Roman" panose="02020603050405020304" pitchFamily="18" charset="0"/>
                <a:cs typeface="Times New Roman" panose="02020603050405020304" pitchFamily="18" charset="0"/>
              </a:rPr>
              <a:t>Detection</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6" name="Action Button: Movie 5">
            <a:hlinkClick r:id="" action="ppaction://noaction" highlightClick="1"/>
          </p:cNvPr>
          <p:cNvSpPr/>
          <p:nvPr/>
        </p:nvSpPr>
        <p:spPr>
          <a:xfrm>
            <a:off x="12892312" y="2546099"/>
            <a:ext cx="656048" cy="459291"/>
          </a:xfrm>
          <a:prstGeom prst="actionButtonMovi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Action Button: Document 6">
            <a:hlinkClick r:id="" action="ppaction://noaction" highlightClick="1"/>
          </p:cNvPr>
          <p:cNvSpPr/>
          <p:nvPr/>
        </p:nvSpPr>
        <p:spPr>
          <a:xfrm>
            <a:off x="4739641" y="2546100"/>
            <a:ext cx="671288" cy="459290"/>
          </a:xfrm>
          <a:prstGeom prst="actionButtonDocumen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Action Button: Information 7">
            <a:hlinkClick r:id="" action="ppaction://noaction" highlightClick="1"/>
          </p:cNvPr>
          <p:cNvSpPr/>
          <p:nvPr/>
        </p:nvSpPr>
        <p:spPr>
          <a:xfrm>
            <a:off x="4739640" y="3315504"/>
            <a:ext cx="671289" cy="464016"/>
          </a:xfrm>
          <a:prstGeom prst="actionButtonInform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Action Button: Information 23">
            <a:hlinkClick r:id="" action="ppaction://noaction" highlightClick="1"/>
          </p:cNvPr>
          <p:cNvSpPr/>
          <p:nvPr/>
        </p:nvSpPr>
        <p:spPr>
          <a:xfrm>
            <a:off x="12877071" y="3315504"/>
            <a:ext cx="671289" cy="464016"/>
          </a:xfrm>
          <a:prstGeom prst="actionButtonInform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Action Button: Beginning 8">
            <a:hlinkClick r:id="" action="ppaction://hlinkshowjump?jump=firstslide" highlightClick="1"/>
          </p:cNvPr>
          <p:cNvSpPr/>
          <p:nvPr/>
        </p:nvSpPr>
        <p:spPr>
          <a:xfrm>
            <a:off x="4724400" y="4089634"/>
            <a:ext cx="686529" cy="459291"/>
          </a:xfrm>
          <a:prstGeom prst="actionButtonBeginning">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Action Button: End 9">
            <a:hlinkClick r:id="" action="ppaction://hlinkshowjump?jump=lastslide" highlightClick="1"/>
          </p:cNvPr>
          <p:cNvSpPr/>
          <p:nvPr/>
        </p:nvSpPr>
        <p:spPr>
          <a:xfrm>
            <a:off x="12877070" y="4089634"/>
            <a:ext cx="686530" cy="459291"/>
          </a:xfrm>
          <a:prstGeom prst="actionButtonEnd">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Action Button: Sound 10">
            <a:hlinkClick r:id="" action="ppaction://noaction" highlightClick="1">
              <a:snd r:embed="rId14" name="applause.wav"/>
            </a:hlinkClick>
          </p:cNvPr>
          <p:cNvSpPr/>
          <p:nvPr/>
        </p:nvSpPr>
        <p:spPr>
          <a:xfrm>
            <a:off x="12892312" y="4867547"/>
            <a:ext cx="671288" cy="459291"/>
          </a:xfrm>
          <a:prstGeom prst="actionButtonSound">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9" name="Action Button: Sound 28">
            <a:hlinkClick r:id="" action="ppaction://noaction" highlightClick="1">
              <a:snd r:embed="rId14" name="applause.wav"/>
            </a:hlinkClick>
          </p:cNvPr>
          <p:cNvSpPr/>
          <p:nvPr/>
        </p:nvSpPr>
        <p:spPr>
          <a:xfrm>
            <a:off x="4739641" y="4867547"/>
            <a:ext cx="671288" cy="459291"/>
          </a:xfrm>
          <a:prstGeom prst="actionButtonSound">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3680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r>
              <a:rPr lang="en-US" dirty="0" err="1" smtClean="0">
                <a:latin typeface="Times New Roman" panose="02020603050405020304" pitchFamily="18" charset="0"/>
                <a:cs typeface="Times New Roman" panose="02020603050405020304" pitchFamily="18" charset="0"/>
              </a:rPr>
              <a:t>jhbkhguhs</a:t>
            </a:r>
            <a:endParaRPr lang="en-US" dirty="0">
              <a:latin typeface="Times New Roman" panose="02020603050405020304" pitchFamily="18" charset="0"/>
              <a:cs typeface="Times New Roman" panose="02020603050405020304" pitchFamily="18" charset="0"/>
            </a:endParaRPr>
          </a:p>
        </p:txBody>
      </p:sp>
      <p:sp>
        <p:nvSpPr>
          <p:cNvPr id="3" name="Freeform 3"/>
          <p:cNvSpPr/>
          <p:nvPr/>
        </p:nvSpPr>
        <p:spPr>
          <a:xfrm rot="5400000">
            <a:off x="14153947" y="4812053"/>
            <a:ext cx="8289535" cy="9287994"/>
          </a:xfrm>
          <a:custGeom>
            <a:avLst/>
            <a:gdLst/>
            <a:ahLst/>
            <a:cxnLst/>
            <a:rect l="l" t="t" r="r" b="b"/>
            <a:pathLst>
              <a:path w="8289535" h="9287994">
                <a:moveTo>
                  <a:pt x="0" y="0"/>
                </a:moveTo>
                <a:lnTo>
                  <a:pt x="8289535" y="0"/>
                </a:lnTo>
                <a:lnTo>
                  <a:pt x="8289535" y="9287995"/>
                </a:lnTo>
                <a:lnTo>
                  <a:pt x="0" y="9287995"/>
                </a:lnTo>
                <a:lnTo>
                  <a:pt x="0" y="0"/>
                </a:lnTo>
                <a:close/>
              </a:path>
            </a:pathLst>
          </a:custGeom>
          <a:blipFill>
            <a:blip r:embed="rId3">
              <a:alphaModFix amt="80000"/>
            </a:blip>
            <a:stretch>
              <a:fillRect/>
            </a:stretch>
          </a:blipFill>
        </p:spPr>
      </p:sp>
      <p:sp>
        <p:nvSpPr>
          <p:cNvPr id="4" name="Freeform 4"/>
          <p:cNvSpPr/>
          <p:nvPr/>
        </p:nvSpPr>
        <p:spPr>
          <a:xfrm>
            <a:off x="-3780264" y="-3313816"/>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6" name="TextBox 6"/>
          <p:cNvSpPr txBox="1"/>
          <p:nvPr/>
        </p:nvSpPr>
        <p:spPr>
          <a:xfrm>
            <a:off x="15240" y="841931"/>
            <a:ext cx="18288000" cy="769441"/>
          </a:xfrm>
          <a:prstGeom prst="rect">
            <a:avLst/>
          </a:prstGeom>
        </p:spPr>
        <p:txBody>
          <a:bodyPr wrap="square" lIns="0" tIns="0" rIns="0" bIns="0" rtlCol="0" anchor="t">
            <a:spAutoFit/>
          </a:bodyPr>
          <a:lstStyle/>
          <a:p>
            <a:pPr marL="0" lvl="0" indent="0" algn="ctr"/>
            <a:r>
              <a:rPr lang="en-US" sz="5000" b="1" dirty="0">
                <a:solidFill>
                  <a:srgbClr val="FFFFFF"/>
                </a:solidFill>
                <a:latin typeface="Neo Tech Bold"/>
                <a:ea typeface="Neo Tech Bold"/>
                <a:cs typeface="Neo Tech Bold"/>
                <a:sym typeface="Neo Tech Bold"/>
              </a:rPr>
              <a:t>The </a:t>
            </a:r>
            <a:r>
              <a:rPr lang="en-US" sz="5000" b="1" dirty="0" smtClean="0">
                <a:solidFill>
                  <a:srgbClr val="FFFFFF"/>
                </a:solidFill>
                <a:latin typeface="Neo Tech Bold"/>
                <a:ea typeface="Neo Tech Bold"/>
                <a:cs typeface="Neo Tech Bold"/>
                <a:sym typeface="Neo Tech Bold"/>
              </a:rPr>
              <a:t>AI-based Hybrid Framework</a:t>
            </a:r>
            <a:endParaRPr lang="en-US" sz="5000" b="1" dirty="0">
              <a:solidFill>
                <a:srgbClr val="FFFFFF"/>
              </a:solidFill>
              <a:latin typeface="Neo Tech Bold"/>
              <a:ea typeface="Neo Tech Bold"/>
              <a:cs typeface="Neo Tech Bold"/>
              <a:sym typeface="Neo Tech Bold"/>
            </a:endParaRPr>
          </a:p>
        </p:txBody>
      </p:sp>
      <p:sp>
        <p:nvSpPr>
          <p:cNvPr id="9" name="TextBox 9"/>
          <p:cNvSpPr txBox="1"/>
          <p:nvPr/>
        </p:nvSpPr>
        <p:spPr>
          <a:xfrm>
            <a:off x="1527255" y="2382913"/>
            <a:ext cx="15544800" cy="320601"/>
          </a:xfrm>
          <a:prstGeom prst="rect">
            <a:avLst/>
          </a:prstGeom>
        </p:spPr>
        <p:txBody>
          <a:bodyPr wrap="square" lIns="0" tIns="0" rIns="0" bIns="0" rtlCol="0" anchor="t">
            <a:spAutoFit/>
          </a:bodyPr>
          <a:lstStyle/>
          <a:p>
            <a:pPr lvl="0">
              <a:lnSpc>
                <a:spcPts val="2519"/>
              </a:lnSpc>
              <a:spcBef>
                <a:spcPct val="0"/>
              </a:spcBef>
            </a:pPr>
            <a:r>
              <a:rPr lang="en-US" sz="2500" dirty="0">
                <a:solidFill>
                  <a:srgbClr val="FFFFFF"/>
                </a:solidFill>
                <a:latin typeface="Times New Roman" panose="02020603050405020304" pitchFamily="18" charset="0"/>
                <a:ea typeface="Neo Tech"/>
                <a:cs typeface="Times New Roman" panose="02020603050405020304" pitchFamily="18" charset="0"/>
                <a:sym typeface="Neo Tech"/>
              </a:rPr>
              <a:t>A hybrid AI-based framework is proposed and performed by the researchers combining both static and dynamic analysis. </a:t>
            </a:r>
          </a:p>
        </p:txBody>
      </p:sp>
      <p:grpSp>
        <p:nvGrpSpPr>
          <p:cNvPr id="20" name="Group 19"/>
          <p:cNvGrpSpPr/>
          <p:nvPr/>
        </p:nvGrpSpPr>
        <p:grpSpPr>
          <a:xfrm>
            <a:off x="800100" y="3281064"/>
            <a:ext cx="5029200" cy="2880219"/>
            <a:chOff x="1524000" y="4092080"/>
            <a:chExt cx="5029200" cy="2880219"/>
          </a:xfrm>
        </p:grpSpPr>
        <p:sp>
          <p:nvSpPr>
            <p:cNvPr id="12" name="Frame 11"/>
            <p:cNvSpPr/>
            <p:nvPr/>
          </p:nvSpPr>
          <p:spPr>
            <a:xfrm>
              <a:off x="1524000" y="4092080"/>
              <a:ext cx="5029200" cy="2880219"/>
            </a:xfrm>
            <a:prstGeom prst="frame">
              <a:avLst/>
            </a:prstGeom>
            <a:solidFill>
              <a:srgbClr val="002060"/>
            </a:solid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13" name="TextBox 12"/>
            <p:cNvSpPr txBox="1"/>
            <p:nvPr/>
          </p:nvSpPr>
          <p:spPr>
            <a:xfrm>
              <a:off x="1905000" y="4469517"/>
              <a:ext cx="4267200" cy="430887"/>
            </a:xfrm>
            <a:prstGeom prst="rect">
              <a:avLst/>
            </a:prstGeom>
            <a:noFill/>
          </p:spPr>
          <p:txBody>
            <a:bodyPr wrap="square" rtlCol="0">
              <a:spAutoFit/>
            </a:bodyPr>
            <a:lstStyle/>
            <a:p>
              <a:pPr algn="ctr"/>
              <a:r>
                <a:rPr lang="en-US" sz="2200" b="1" dirty="0" smtClean="0">
                  <a:solidFill>
                    <a:schemeClr val="bg1"/>
                  </a:solidFill>
                  <a:latin typeface="Times New Roman" panose="02020603050405020304" pitchFamily="18" charset="0"/>
                  <a:cs typeface="Times New Roman" panose="02020603050405020304" pitchFamily="18" charset="0"/>
                </a:rPr>
                <a:t>Key features</a:t>
              </a:r>
              <a:endParaRPr lang="en-US" sz="2200" b="1" dirty="0">
                <a:solidFill>
                  <a:schemeClr val="bg1"/>
                </a:solidFill>
                <a:latin typeface="Times New Roman" panose="02020603050405020304" pitchFamily="18" charset="0"/>
                <a:cs typeface="Times New Roman" panose="02020603050405020304" pitchFamily="18" charset="0"/>
              </a:endParaRPr>
            </a:p>
          </p:txBody>
        </p:sp>
        <p:cxnSp>
          <p:nvCxnSpPr>
            <p:cNvPr id="17" name="Straight Connector 16"/>
            <p:cNvCxnSpPr/>
            <p:nvPr/>
          </p:nvCxnSpPr>
          <p:spPr>
            <a:xfrm>
              <a:off x="1905000" y="4915783"/>
              <a:ext cx="4267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981200" y="5107400"/>
              <a:ext cx="4114800" cy="1061829"/>
            </a:xfrm>
            <a:prstGeom prst="rect">
              <a:avLst/>
            </a:prstGeom>
            <a:noFill/>
          </p:spPr>
          <p:txBody>
            <a:bodyPr wrap="square" rtlCol="0">
              <a:spAutoFit/>
            </a:bodyPr>
            <a:lstStyle/>
            <a:p>
              <a:pPr marL="342900" indent="-342900">
                <a:buFont typeface="Courier New" panose="02070309020205020404" pitchFamily="49" charset="0"/>
                <a:buChar char="o"/>
              </a:pPr>
              <a:r>
                <a:rPr lang="en-US" sz="2100" dirty="0" smtClean="0">
                  <a:solidFill>
                    <a:schemeClr val="bg1"/>
                  </a:solidFill>
                  <a:latin typeface="Times New Roman" panose="02020603050405020304" pitchFamily="18" charset="0"/>
                  <a:cs typeface="Times New Roman" panose="02020603050405020304" pitchFamily="18" charset="0"/>
                </a:rPr>
                <a:t>ML + DI + AI</a:t>
              </a:r>
            </a:p>
            <a:p>
              <a:pPr marL="342900" indent="-342900">
                <a:buFont typeface="Courier New" panose="02070309020205020404" pitchFamily="49" charset="0"/>
                <a:buChar char="o"/>
              </a:pPr>
              <a:r>
                <a:rPr lang="en-US" sz="2100" dirty="0" smtClean="0">
                  <a:solidFill>
                    <a:schemeClr val="bg1"/>
                  </a:solidFill>
                  <a:latin typeface="Times New Roman" panose="02020603050405020304" pitchFamily="18" charset="0"/>
                  <a:cs typeface="Times New Roman" panose="02020603050405020304" pitchFamily="18" charset="0"/>
                </a:rPr>
                <a:t>Hybrid feature extraction</a:t>
              </a:r>
            </a:p>
            <a:p>
              <a:pPr marL="342900" indent="-342900">
                <a:buFont typeface="Courier New" panose="02070309020205020404" pitchFamily="49" charset="0"/>
                <a:buChar char="o"/>
              </a:pPr>
              <a:r>
                <a:rPr lang="en-US" sz="2100" dirty="0" smtClean="0">
                  <a:solidFill>
                    <a:schemeClr val="bg1"/>
                  </a:solidFill>
                  <a:latin typeface="Times New Roman" panose="02020603050405020304" pitchFamily="18" charset="0"/>
                  <a:cs typeface="Times New Roman" panose="02020603050405020304" pitchFamily="18" charset="0"/>
                </a:rPr>
                <a:t>Real time detection</a:t>
              </a:r>
              <a:endParaRPr lang="en-US" sz="2100" dirty="0">
                <a:solidFill>
                  <a:schemeClr val="bg1"/>
                </a:solidFill>
                <a:latin typeface="Times New Roman" panose="02020603050405020304" pitchFamily="18" charset="0"/>
                <a:cs typeface="Times New Roman" panose="02020603050405020304" pitchFamily="18" charset="0"/>
              </a:endParaRPr>
            </a:p>
          </p:txBody>
        </p:sp>
      </p:grpSp>
      <p:grpSp>
        <p:nvGrpSpPr>
          <p:cNvPr id="21" name="Group 20"/>
          <p:cNvGrpSpPr/>
          <p:nvPr/>
        </p:nvGrpSpPr>
        <p:grpSpPr>
          <a:xfrm>
            <a:off x="6629400" y="3281064"/>
            <a:ext cx="5029200" cy="2880219"/>
            <a:chOff x="1482645" y="4233108"/>
            <a:chExt cx="5029200" cy="2807197"/>
          </a:xfrm>
        </p:grpSpPr>
        <p:sp>
          <p:nvSpPr>
            <p:cNvPr id="22" name="Frame 21"/>
            <p:cNvSpPr/>
            <p:nvPr/>
          </p:nvSpPr>
          <p:spPr>
            <a:xfrm>
              <a:off x="1482645" y="4233108"/>
              <a:ext cx="5029200" cy="2807197"/>
            </a:xfrm>
            <a:prstGeom prst="frame">
              <a:avLst/>
            </a:prstGeom>
            <a:solidFill>
              <a:srgbClr val="002060"/>
            </a:solid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23" name="TextBox 22"/>
            <p:cNvSpPr txBox="1"/>
            <p:nvPr/>
          </p:nvSpPr>
          <p:spPr>
            <a:xfrm>
              <a:off x="1905000" y="4601409"/>
              <a:ext cx="4267200" cy="430887"/>
            </a:xfrm>
            <a:prstGeom prst="rect">
              <a:avLst/>
            </a:prstGeom>
            <a:noFill/>
          </p:spPr>
          <p:txBody>
            <a:bodyPr wrap="square" rtlCol="0">
              <a:spAutoFit/>
            </a:bodyPr>
            <a:lstStyle/>
            <a:p>
              <a:pPr algn="ctr"/>
              <a:r>
                <a:rPr lang="en-US" sz="2200" b="1" dirty="0" smtClean="0">
                  <a:solidFill>
                    <a:schemeClr val="bg1"/>
                  </a:solidFill>
                  <a:latin typeface="Times New Roman" panose="02020603050405020304" pitchFamily="18" charset="0"/>
                  <a:cs typeface="Times New Roman" panose="02020603050405020304" pitchFamily="18" charset="0"/>
                </a:rPr>
                <a:t>Framework Steps</a:t>
              </a:r>
              <a:endParaRPr lang="en-US" sz="2200" b="1" dirty="0">
                <a:solidFill>
                  <a:schemeClr val="bg1"/>
                </a:solidFill>
                <a:latin typeface="Times New Roman" panose="02020603050405020304" pitchFamily="18" charset="0"/>
                <a:cs typeface="Times New Roman" panose="02020603050405020304" pitchFamily="18" charset="0"/>
              </a:endParaRPr>
            </a:p>
          </p:txBody>
        </p:sp>
        <p:cxnSp>
          <p:nvCxnSpPr>
            <p:cNvPr id="24" name="Straight Connector 23"/>
            <p:cNvCxnSpPr/>
            <p:nvPr/>
          </p:nvCxnSpPr>
          <p:spPr>
            <a:xfrm>
              <a:off x="1905000" y="5055003"/>
              <a:ext cx="4267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981200" y="5222687"/>
              <a:ext cx="4114800" cy="1349881"/>
            </a:xfrm>
            <a:prstGeom prst="rect">
              <a:avLst/>
            </a:prstGeom>
            <a:noFill/>
          </p:spPr>
          <p:txBody>
            <a:bodyPr wrap="square" rtlCol="0">
              <a:spAutoFit/>
            </a:bodyPr>
            <a:lstStyle/>
            <a:p>
              <a:pPr marL="342900" indent="-342900">
                <a:buFont typeface="Courier New" panose="02070309020205020404" pitchFamily="49" charset="0"/>
                <a:buChar char="o"/>
              </a:pPr>
              <a:r>
                <a:rPr lang="en-US" sz="2100" dirty="0" smtClean="0">
                  <a:solidFill>
                    <a:schemeClr val="bg1"/>
                  </a:solidFill>
                  <a:latin typeface="Times New Roman" panose="02020603050405020304" pitchFamily="18" charset="0"/>
                  <a:cs typeface="Times New Roman" panose="02020603050405020304" pitchFamily="18" charset="0"/>
                </a:rPr>
                <a:t>Static and dynamic </a:t>
              </a:r>
              <a:r>
                <a:rPr lang="en-US" sz="2100" dirty="0">
                  <a:solidFill>
                    <a:schemeClr val="bg1"/>
                  </a:solidFill>
                  <a:latin typeface="Times New Roman" panose="02020603050405020304" pitchFamily="18" charset="0"/>
                  <a:cs typeface="Times New Roman" panose="02020603050405020304" pitchFamily="18" charset="0"/>
                </a:rPr>
                <a:t>analysis </a:t>
              </a:r>
              <a:endParaRPr lang="en-US" sz="2100" dirty="0" smtClean="0">
                <a:solidFill>
                  <a:schemeClr val="bg1"/>
                </a:solidFill>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100" dirty="0" smtClean="0">
                  <a:solidFill>
                    <a:schemeClr val="bg1"/>
                  </a:solidFill>
                  <a:latin typeface="Times New Roman" panose="02020603050405020304" pitchFamily="18" charset="0"/>
                  <a:cs typeface="Times New Roman" panose="02020603050405020304" pitchFamily="18" charset="0"/>
                </a:rPr>
                <a:t>Feature fusion</a:t>
              </a:r>
            </a:p>
            <a:p>
              <a:pPr marL="342900" indent="-342900">
                <a:buFont typeface="Courier New" panose="02070309020205020404" pitchFamily="49" charset="0"/>
                <a:buChar char="o"/>
              </a:pPr>
              <a:r>
                <a:rPr lang="en-US" sz="2100" dirty="0" smtClean="0">
                  <a:solidFill>
                    <a:schemeClr val="bg1"/>
                  </a:solidFill>
                  <a:latin typeface="Times New Roman" panose="02020603050405020304" pitchFamily="18" charset="0"/>
                  <a:cs typeface="Times New Roman" panose="02020603050405020304" pitchFamily="18" charset="0"/>
                </a:rPr>
                <a:t>Classification </a:t>
              </a:r>
              <a:r>
                <a:rPr lang="en-US" sz="2100" dirty="0">
                  <a:solidFill>
                    <a:schemeClr val="bg1"/>
                  </a:solidFill>
                  <a:latin typeface="Times New Roman" panose="02020603050405020304" pitchFamily="18" charset="0"/>
                  <a:cs typeface="Times New Roman" panose="02020603050405020304" pitchFamily="18" charset="0"/>
                </a:rPr>
                <a:t>using ensemble </a:t>
              </a:r>
              <a:r>
                <a:rPr lang="en-US" sz="2100" dirty="0" smtClean="0">
                  <a:solidFill>
                    <a:schemeClr val="bg1"/>
                  </a:solidFill>
                  <a:latin typeface="Times New Roman" panose="02020603050405020304" pitchFamily="18" charset="0"/>
                  <a:cs typeface="Times New Roman" panose="02020603050405020304" pitchFamily="18" charset="0"/>
                </a:rPr>
                <a:t>model</a:t>
              </a:r>
              <a:endParaRPr lang="en-US" sz="2100" dirty="0">
                <a:solidFill>
                  <a:schemeClr val="bg1"/>
                </a:solidFill>
                <a:latin typeface="Times New Roman" panose="02020603050405020304" pitchFamily="18" charset="0"/>
                <a:cs typeface="Times New Roman" panose="02020603050405020304" pitchFamily="18" charset="0"/>
              </a:endParaRPr>
            </a:p>
          </p:txBody>
        </p:sp>
      </p:grpSp>
      <p:grpSp>
        <p:nvGrpSpPr>
          <p:cNvPr id="28" name="Group 27"/>
          <p:cNvGrpSpPr/>
          <p:nvPr/>
        </p:nvGrpSpPr>
        <p:grpSpPr>
          <a:xfrm>
            <a:off x="12458700" y="3281064"/>
            <a:ext cx="5029200" cy="2880220"/>
            <a:chOff x="1482645" y="4233108"/>
            <a:chExt cx="5029200" cy="2807197"/>
          </a:xfrm>
        </p:grpSpPr>
        <p:sp>
          <p:nvSpPr>
            <p:cNvPr id="29" name="Frame 28"/>
            <p:cNvSpPr/>
            <p:nvPr/>
          </p:nvSpPr>
          <p:spPr>
            <a:xfrm>
              <a:off x="1482645" y="4233108"/>
              <a:ext cx="5029200" cy="2807197"/>
            </a:xfrm>
            <a:prstGeom prst="frame">
              <a:avLst/>
            </a:prstGeom>
            <a:solidFill>
              <a:srgbClr val="002060"/>
            </a:solid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30" name="TextBox 29"/>
            <p:cNvSpPr txBox="1"/>
            <p:nvPr/>
          </p:nvSpPr>
          <p:spPr>
            <a:xfrm>
              <a:off x="1905000" y="4601409"/>
              <a:ext cx="4267200" cy="430887"/>
            </a:xfrm>
            <a:prstGeom prst="rect">
              <a:avLst/>
            </a:prstGeom>
            <a:noFill/>
          </p:spPr>
          <p:txBody>
            <a:bodyPr wrap="square" rtlCol="0">
              <a:spAutoFit/>
            </a:bodyPr>
            <a:lstStyle/>
            <a:p>
              <a:pPr algn="ctr"/>
              <a:r>
                <a:rPr lang="en-US" sz="2200" b="1" dirty="0" smtClean="0">
                  <a:solidFill>
                    <a:schemeClr val="bg1"/>
                  </a:solidFill>
                  <a:latin typeface="Times New Roman" panose="02020603050405020304" pitchFamily="18" charset="0"/>
                  <a:cs typeface="Times New Roman" panose="02020603050405020304" pitchFamily="18" charset="0"/>
                </a:rPr>
                <a:t>Advantages</a:t>
              </a:r>
              <a:endParaRPr lang="en-US" sz="2200" b="1" dirty="0">
                <a:solidFill>
                  <a:schemeClr val="bg1"/>
                </a:solidFill>
                <a:latin typeface="Times New Roman" panose="02020603050405020304" pitchFamily="18" charset="0"/>
                <a:cs typeface="Times New Roman" panose="02020603050405020304" pitchFamily="18" charset="0"/>
              </a:endParaRPr>
            </a:p>
          </p:txBody>
        </p:sp>
        <p:cxnSp>
          <p:nvCxnSpPr>
            <p:cNvPr id="31" name="Straight Connector 30"/>
            <p:cNvCxnSpPr/>
            <p:nvPr/>
          </p:nvCxnSpPr>
          <p:spPr>
            <a:xfrm>
              <a:off x="1905000" y="5055003"/>
              <a:ext cx="4267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1981200" y="5226771"/>
              <a:ext cx="4114800" cy="1034908"/>
            </a:xfrm>
            <a:prstGeom prst="rect">
              <a:avLst/>
            </a:prstGeom>
            <a:noFill/>
          </p:spPr>
          <p:txBody>
            <a:bodyPr wrap="square" rtlCol="0">
              <a:spAutoFit/>
            </a:bodyPr>
            <a:lstStyle/>
            <a:p>
              <a:pPr marL="342900" indent="-342900">
                <a:buFont typeface="Courier New" panose="02070309020205020404" pitchFamily="49" charset="0"/>
                <a:buChar char="o"/>
              </a:pPr>
              <a:r>
                <a:rPr lang="en-US" sz="2100" dirty="0" smtClean="0">
                  <a:solidFill>
                    <a:schemeClr val="bg1"/>
                  </a:solidFill>
                  <a:latin typeface="Times New Roman" panose="02020603050405020304" pitchFamily="18" charset="0"/>
                  <a:cs typeface="Times New Roman" panose="02020603050405020304" pitchFamily="18" charset="0"/>
                </a:rPr>
                <a:t>Improved </a:t>
              </a:r>
              <a:r>
                <a:rPr lang="en-US" sz="2100" dirty="0">
                  <a:solidFill>
                    <a:schemeClr val="bg1"/>
                  </a:solidFill>
                  <a:latin typeface="Times New Roman" panose="02020603050405020304" pitchFamily="18" charset="0"/>
                  <a:cs typeface="Times New Roman" panose="02020603050405020304" pitchFamily="18" charset="0"/>
                </a:rPr>
                <a:t>accuracy</a:t>
              </a:r>
            </a:p>
            <a:p>
              <a:pPr marL="342900" indent="-342900">
                <a:buFont typeface="Courier New" panose="02070309020205020404" pitchFamily="49" charset="0"/>
                <a:buChar char="o"/>
              </a:pPr>
              <a:r>
                <a:rPr lang="en-US" sz="2100" dirty="0" smtClean="0">
                  <a:solidFill>
                    <a:schemeClr val="bg1"/>
                  </a:solidFill>
                  <a:latin typeface="Times New Roman" panose="02020603050405020304" pitchFamily="18" charset="0"/>
                  <a:cs typeface="Times New Roman" panose="02020603050405020304" pitchFamily="18" charset="0"/>
                </a:rPr>
                <a:t>Reduced </a:t>
              </a:r>
              <a:r>
                <a:rPr lang="en-US" sz="2100" dirty="0">
                  <a:solidFill>
                    <a:schemeClr val="bg1"/>
                  </a:solidFill>
                  <a:latin typeface="Times New Roman" panose="02020603050405020304" pitchFamily="18" charset="0"/>
                  <a:cs typeface="Times New Roman" panose="02020603050405020304" pitchFamily="18" charset="0"/>
                </a:rPr>
                <a:t>false </a:t>
              </a:r>
              <a:r>
                <a:rPr lang="en-US" sz="2100" dirty="0" smtClean="0">
                  <a:solidFill>
                    <a:schemeClr val="bg1"/>
                  </a:solidFill>
                  <a:latin typeface="Times New Roman" panose="02020603050405020304" pitchFamily="18" charset="0"/>
                  <a:cs typeface="Times New Roman" panose="02020603050405020304" pitchFamily="18" charset="0"/>
                </a:rPr>
                <a:t>positives</a:t>
              </a:r>
              <a:endParaRPr lang="en-US" sz="2100" dirty="0">
                <a:solidFill>
                  <a:schemeClr val="bg1"/>
                </a:solidFill>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US" sz="2100" dirty="0" smtClean="0">
                  <a:solidFill>
                    <a:schemeClr val="bg1"/>
                  </a:solidFill>
                  <a:latin typeface="Times New Roman" panose="02020603050405020304" pitchFamily="18" charset="0"/>
                  <a:cs typeface="Times New Roman" panose="02020603050405020304" pitchFamily="18" charset="0"/>
                </a:rPr>
                <a:t>Robust </a:t>
              </a:r>
              <a:r>
                <a:rPr lang="en-US" sz="2100" dirty="0">
                  <a:solidFill>
                    <a:schemeClr val="bg1"/>
                  </a:solidFill>
                  <a:latin typeface="Times New Roman" panose="02020603050405020304" pitchFamily="18" charset="0"/>
                  <a:cs typeface="Times New Roman" panose="02020603050405020304" pitchFamily="18" charset="0"/>
                </a:rPr>
                <a:t>against obfuscation</a:t>
              </a:r>
            </a:p>
          </p:txBody>
        </p:sp>
      </p:grpSp>
      <p:graphicFrame>
        <p:nvGraphicFramePr>
          <p:cNvPr id="33" name="Table 32"/>
          <p:cNvGraphicFramePr>
            <a:graphicFrameLocks noGrp="1"/>
          </p:cNvGraphicFramePr>
          <p:nvPr>
            <p:extLst>
              <p:ext uri="{D42A27DB-BD31-4B8C-83A1-F6EECF244321}">
                <p14:modId xmlns:p14="http://schemas.microsoft.com/office/powerpoint/2010/main" val="451983616"/>
              </p:ext>
            </p:extLst>
          </p:nvPr>
        </p:nvGraphicFramePr>
        <p:xfrm>
          <a:off x="3048000" y="6738396"/>
          <a:ext cx="12192000" cy="2164896"/>
        </p:xfrm>
        <a:graphic>
          <a:graphicData uri="http://schemas.openxmlformats.org/drawingml/2006/table">
            <a:tbl>
              <a:tblPr firstRow="1" bandRow="1">
                <a:tableStyleId>{BDBED569-4797-4DF1-A0F4-6AAB3CD982D8}</a:tableStyleId>
              </a:tblPr>
              <a:tblGrid>
                <a:gridCol w="4064000"/>
                <a:gridCol w="4064000"/>
                <a:gridCol w="4064000"/>
              </a:tblGrid>
              <a:tr h="571860">
                <a:tc>
                  <a:txBody>
                    <a:bodyPr/>
                    <a:lstStyle/>
                    <a:p>
                      <a:pPr algn="ctr"/>
                      <a:r>
                        <a:rPr lang="en-US" sz="2200" dirty="0" smtClean="0">
                          <a:solidFill>
                            <a:schemeClr val="bg1"/>
                          </a:solidFill>
                          <a:latin typeface="Times New Roman" panose="02020603050405020304" pitchFamily="18" charset="0"/>
                          <a:cs typeface="Times New Roman" panose="02020603050405020304" pitchFamily="18" charset="0"/>
                        </a:rPr>
                        <a:t>Environment</a:t>
                      </a:r>
                      <a:endParaRPr lang="en-US" sz="220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solidFill>
                            <a:schemeClr val="bg1"/>
                          </a:solidFill>
                          <a:latin typeface="Times New Roman" panose="02020603050405020304" pitchFamily="18" charset="0"/>
                          <a:cs typeface="Times New Roman" panose="02020603050405020304" pitchFamily="18" charset="0"/>
                        </a:rPr>
                        <a:t>Dataset Split</a:t>
                      </a:r>
                      <a:endParaRPr lang="en-US" sz="200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solidFill>
                            <a:schemeClr val="bg1"/>
                          </a:solidFill>
                          <a:latin typeface="Times New Roman" panose="02020603050405020304" pitchFamily="18" charset="0"/>
                          <a:cs typeface="Times New Roman" panose="02020603050405020304" pitchFamily="18" charset="0"/>
                        </a:rPr>
                        <a:t>Models Used</a:t>
                      </a:r>
                      <a:endParaRPr lang="en-US" sz="2000" dirty="0">
                        <a:solidFill>
                          <a:schemeClr val="bg1"/>
                        </a:solidFill>
                        <a:latin typeface="Times New Roman" panose="02020603050405020304" pitchFamily="18" charset="0"/>
                        <a:cs typeface="Times New Roman" panose="02020603050405020304" pitchFamily="18" charset="0"/>
                      </a:endParaRPr>
                    </a:p>
                  </a:txBody>
                  <a:tcPr/>
                </a:tc>
              </a:tr>
              <a:tr h="531012">
                <a:tc>
                  <a:txBody>
                    <a:bodyPr/>
                    <a:lstStyle/>
                    <a:p>
                      <a:pPr algn="ctr"/>
                      <a:r>
                        <a:rPr lang="en-US" sz="2000" b="1" dirty="0" smtClean="0">
                          <a:solidFill>
                            <a:schemeClr val="bg1"/>
                          </a:solidFill>
                          <a:latin typeface="Times New Roman" panose="02020603050405020304" pitchFamily="18" charset="0"/>
                          <a:cs typeface="Times New Roman" panose="02020603050405020304" pitchFamily="18" charset="0"/>
                        </a:rPr>
                        <a:t>Programming Language: </a:t>
                      </a:r>
                      <a:r>
                        <a:rPr lang="en-US" sz="2000" dirty="0" smtClean="0">
                          <a:solidFill>
                            <a:schemeClr val="bg1"/>
                          </a:solidFill>
                          <a:latin typeface="Times New Roman" panose="02020603050405020304" pitchFamily="18" charset="0"/>
                          <a:cs typeface="Times New Roman" panose="02020603050405020304" pitchFamily="18" charset="0"/>
                        </a:rPr>
                        <a:t>Python </a:t>
                      </a:r>
                    </a:p>
                  </a:txBody>
                  <a:tcPr/>
                </a:tc>
                <a:tc>
                  <a:txBody>
                    <a:bodyPr/>
                    <a:lstStyle/>
                    <a:p>
                      <a:pPr algn="ctr"/>
                      <a:r>
                        <a:rPr lang="en-US" sz="2000" b="1" dirty="0" smtClean="0">
                          <a:solidFill>
                            <a:schemeClr val="bg1"/>
                          </a:solidFill>
                          <a:latin typeface="Times New Roman" panose="02020603050405020304" pitchFamily="18" charset="0"/>
                          <a:cs typeface="Times New Roman" panose="02020603050405020304" pitchFamily="18" charset="0"/>
                        </a:rPr>
                        <a:t>Training: </a:t>
                      </a:r>
                      <a:r>
                        <a:rPr lang="en-US" sz="2000" dirty="0" smtClean="0">
                          <a:solidFill>
                            <a:schemeClr val="bg1"/>
                          </a:solidFill>
                          <a:latin typeface="Times New Roman" panose="02020603050405020304" pitchFamily="18" charset="0"/>
                          <a:cs typeface="Times New Roman" panose="02020603050405020304" pitchFamily="18" charset="0"/>
                        </a:rPr>
                        <a:t>70%</a:t>
                      </a:r>
                      <a:endParaRPr lang="en-US" sz="200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solidFill>
                            <a:schemeClr val="bg1"/>
                          </a:solidFill>
                          <a:latin typeface="Times New Roman" panose="02020603050405020304" pitchFamily="18" charset="0"/>
                          <a:cs typeface="Times New Roman" panose="02020603050405020304" pitchFamily="18" charset="0"/>
                        </a:rPr>
                        <a:t>Random Forest</a:t>
                      </a:r>
                      <a:endParaRPr lang="en-US" sz="2000" dirty="0">
                        <a:solidFill>
                          <a:schemeClr val="bg1"/>
                        </a:solidFill>
                        <a:latin typeface="Times New Roman" panose="02020603050405020304" pitchFamily="18" charset="0"/>
                        <a:cs typeface="Times New Roman" panose="02020603050405020304" pitchFamily="18" charset="0"/>
                      </a:endParaRPr>
                    </a:p>
                  </a:txBody>
                  <a:tcPr/>
                </a:tc>
              </a:tr>
              <a:tr h="531012">
                <a:tc>
                  <a:txBody>
                    <a:bodyPr/>
                    <a:lstStyle/>
                    <a:p>
                      <a:pPr algn="ctr"/>
                      <a:r>
                        <a:rPr lang="en-US" sz="2000" b="1" dirty="0" smtClean="0">
                          <a:solidFill>
                            <a:schemeClr val="bg1"/>
                          </a:solidFill>
                          <a:latin typeface="Times New Roman" panose="02020603050405020304" pitchFamily="18" charset="0"/>
                          <a:cs typeface="Times New Roman" panose="02020603050405020304" pitchFamily="18" charset="0"/>
                        </a:rPr>
                        <a:t>Tools: </a:t>
                      </a:r>
                      <a:r>
                        <a:rPr lang="en-US" sz="2000" dirty="0" err="1" smtClean="0">
                          <a:solidFill>
                            <a:schemeClr val="bg1"/>
                          </a:solidFill>
                          <a:latin typeface="Times New Roman" panose="02020603050405020304" pitchFamily="18" charset="0"/>
                          <a:cs typeface="Times New Roman" panose="02020603050405020304" pitchFamily="18" charset="0"/>
                        </a:rPr>
                        <a:t>TensorFlow</a:t>
                      </a:r>
                      <a:r>
                        <a:rPr lang="en-US" sz="2000" dirty="0" smtClean="0">
                          <a:solidFill>
                            <a:schemeClr val="bg1"/>
                          </a:solidFill>
                          <a:latin typeface="Times New Roman" panose="02020603050405020304" pitchFamily="18" charset="0"/>
                          <a:cs typeface="Times New Roman" panose="02020603050405020304" pitchFamily="18" charset="0"/>
                        </a:rPr>
                        <a:t>, </a:t>
                      </a:r>
                      <a:r>
                        <a:rPr lang="en-US" sz="2000" dirty="0" err="1" smtClean="0">
                          <a:solidFill>
                            <a:schemeClr val="bg1"/>
                          </a:solidFill>
                          <a:latin typeface="Times New Roman" panose="02020603050405020304" pitchFamily="18" charset="0"/>
                          <a:cs typeface="Times New Roman" panose="02020603050405020304" pitchFamily="18" charset="0"/>
                        </a:rPr>
                        <a:t>Scikit</a:t>
                      </a:r>
                      <a:r>
                        <a:rPr lang="en-US" sz="2000" dirty="0" smtClean="0">
                          <a:solidFill>
                            <a:schemeClr val="bg1"/>
                          </a:solidFill>
                          <a:latin typeface="Times New Roman" panose="02020603050405020304" pitchFamily="18" charset="0"/>
                          <a:cs typeface="Times New Roman" panose="02020603050405020304" pitchFamily="18" charset="0"/>
                        </a:rPr>
                        <a:t>-learn</a:t>
                      </a:r>
                    </a:p>
                  </a:txBody>
                  <a:tcPr/>
                </a:tc>
                <a:tc>
                  <a:txBody>
                    <a:bodyPr/>
                    <a:lstStyle/>
                    <a:p>
                      <a:pPr algn="ctr"/>
                      <a:r>
                        <a:rPr lang="en-US" sz="2000" b="1" dirty="0" smtClean="0">
                          <a:solidFill>
                            <a:schemeClr val="bg1"/>
                          </a:solidFill>
                          <a:latin typeface="Times New Roman" panose="02020603050405020304" pitchFamily="18" charset="0"/>
                          <a:cs typeface="Times New Roman" panose="02020603050405020304" pitchFamily="18" charset="0"/>
                        </a:rPr>
                        <a:t>Testing:</a:t>
                      </a:r>
                      <a:r>
                        <a:rPr lang="en-US" sz="2000" dirty="0" smtClean="0">
                          <a:solidFill>
                            <a:schemeClr val="bg1"/>
                          </a:solidFill>
                          <a:latin typeface="Times New Roman" panose="02020603050405020304" pitchFamily="18" charset="0"/>
                          <a:cs typeface="Times New Roman" panose="02020603050405020304" pitchFamily="18" charset="0"/>
                        </a:rPr>
                        <a:t> 30%</a:t>
                      </a:r>
                      <a:endParaRPr lang="en-US" sz="200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solidFill>
                            <a:schemeClr val="bg1"/>
                          </a:solidFill>
                          <a:latin typeface="Times New Roman" panose="02020603050405020304" pitchFamily="18" charset="0"/>
                          <a:cs typeface="Times New Roman" panose="02020603050405020304" pitchFamily="18" charset="0"/>
                        </a:rPr>
                        <a:t>Support Vector Machine</a:t>
                      </a:r>
                      <a:endParaRPr lang="en-US" sz="2000" dirty="0">
                        <a:solidFill>
                          <a:schemeClr val="bg1"/>
                        </a:solidFill>
                        <a:latin typeface="Times New Roman" panose="02020603050405020304" pitchFamily="18" charset="0"/>
                        <a:cs typeface="Times New Roman" panose="02020603050405020304" pitchFamily="18" charset="0"/>
                      </a:endParaRPr>
                    </a:p>
                  </a:txBody>
                  <a:tcPr/>
                </a:tc>
              </a:tr>
              <a:tr h="531012">
                <a:tc>
                  <a:txBody>
                    <a:bodyPr/>
                    <a:lstStyle/>
                    <a:p>
                      <a:pPr algn="ctr"/>
                      <a:r>
                        <a:rPr lang="en-US" sz="2000" b="1" dirty="0" smtClean="0">
                          <a:solidFill>
                            <a:schemeClr val="bg1"/>
                          </a:solidFill>
                          <a:latin typeface="Times New Roman" panose="02020603050405020304" pitchFamily="18" charset="0"/>
                          <a:cs typeface="Times New Roman" panose="02020603050405020304" pitchFamily="18" charset="0"/>
                        </a:rPr>
                        <a:t>Hardware: </a:t>
                      </a:r>
                      <a:r>
                        <a:rPr lang="en-US" sz="2000" dirty="0" smtClean="0">
                          <a:solidFill>
                            <a:schemeClr val="bg1"/>
                          </a:solidFill>
                          <a:latin typeface="Times New Roman" panose="02020603050405020304" pitchFamily="18" charset="0"/>
                          <a:cs typeface="Times New Roman" panose="02020603050405020304" pitchFamily="18" charset="0"/>
                        </a:rPr>
                        <a:t>GPU-enabled system </a:t>
                      </a:r>
                    </a:p>
                  </a:txBody>
                  <a:tcPr/>
                </a:tc>
                <a:tc>
                  <a:txBody>
                    <a:bodyPr/>
                    <a:lstStyle/>
                    <a:p>
                      <a:pPr algn="ctr"/>
                      <a:r>
                        <a:rPr lang="en-US" sz="2000" b="1" dirty="0" smtClean="0">
                          <a:solidFill>
                            <a:schemeClr val="bg1"/>
                          </a:solidFill>
                          <a:latin typeface="Times New Roman" panose="02020603050405020304" pitchFamily="18" charset="0"/>
                          <a:cs typeface="Times New Roman" panose="02020603050405020304" pitchFamily="18" charset="0"/>
                        </a:rPr>
                        <a:t>Total:</a:t>
                      </a:r>
                      <a:r>
                        <a:rPr lang="en-US" sz="2000" dirty="0" smtClean="0">
                          <a:solidFill>
                            <a:schemeClr val="bg1"/>
                          </a:solidFill>
                          <a:latin typeface="Times New Roman" panose="02020603050405020304" pitchFamily="18" charset="0"/>
                          <a:cs typeface="Times New Roman" panose="02020603050405020304" pitchFamily="18" charset="0"/>
                        </a:rPr>
                        <a:t> 100%</a:t>
                      </a:r>
                      <a:endParaRPr lang="en-US" sz="2000"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ctr"/>
                      <a:r>
                        <a:rPr lang="en-US" sz="2000" dirty="0" smtClean="0">
                          <a:solidFill>
                            <a:schemeClr val="bg1"/>
                          </a:solidFill>
                          <a:latin typeface="Times New Roman" panose="02020603050405020304" pitchFamily="18" charset="0"/>
                          <a:cs typeface="Times New Roman" panose="02020603050405020304" pitchFamily="18" charset="0"/>
                        </a:rPr>
                        <a:t>CNN and ANN</a:t>
                      </a:r>
                      <a:endParaRPr lang="en-US" sz="2000" dirty="0">
                        <a:solidFill>
                          <a:schemeClr val="bg1"/>
                        </a:solidFill>
                        <a:latin typeface="Times New Roman" panose="02020603050405020304" pitchFamily="18" charset="0"/>
                        <a:cs typeface="Times New Roman" panose="02020603050405020304" pitchFamily="18" charset="0"/>
                      </a:endParaRPr>
                    </a:p>
                  </a:txBody>
                  <a:tcPr/>
                </a:tc>
              </a:tr>
            </a:tbl>
          </a:graphicData>
        </a:graphic>
      </p:graphicFrame>
      <p:sp>
        <p:nvSpPr>
          <p:cNvPr id="35" name="TextBox 34"/>
          <p:cNvSpPr txBox="1"/>
          <p:nvPr/>
        </p:nvSpPr>
        <p:spPr>
          <a:xfrm>
            <a:off x="3048000" y="9011535"/>
            <a:ext cx="12192000" cy="400110"/>
          </a:xfrm>
          <a:prstGeom prst="rect">
            <a:avLst/>
          </a:prstGeom>
          <a:noFill/>
        </p:spPr>
        <p:txBody>
          <a:bodyPr wrap="square" rtlCol="0">
            <a:spAutoFit/>
          </a:bodyPr>
          <a:lstStyle/>
          <a:p>
            <a:pPr algn="ctr"/>
            <a:r>
              <a:rPr lang="en-US" sz="2000" dirty="0" smtClean="0">
                <a:solidFill>
                  <a:srgbClr val="FFFF00"/>
                </a:solidFill>
                <a:latin typeface="Times New Roman" panose="02020603050405020304" pitchFamily="18" charset="0"/>
                <a:cs typeface="Times New Roman" panose="02020603050405020304" pitchFamily="18" charset="0"/>
              </a:rPr>
              <a:t>Table 3: Experimental Setup</a:t>
            </a:r>
            <a:endParaRPr lang="en-US" sz="2000" dirty="0">
              <a:solidFill>
                <a:srgbClr val="FFFF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00" y="5492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14153947" y="4812052"/>
            <a:ext cx="8289535" cy="9287994"/>
          </a:xfrm>
          <a:custGeom>
            <a:avLst/>
            <a:gdLst/>
            <a:ahLst/>
            <a:cxnLst/>
            <a:rect l="l" t="t" r="r" b="b"/>
            <a:pathLst>
              <a:path w="8289535" h="9287994">
                <a:moveTo>
                  <a:pt x="0" y="0"/>
                </a:moveTo>
                <a:lnTo>
                  <a:pt x="8289535" y="0"/>
                </a:lnTo>
                <a:lnTo>
                  <a:pt x="8289535" y="9287995"/>
                </a:lnTo>
                <a:lnTo>
                  <a:pt x="0" y="9287995"/>
                </a:lnTo>
                <a:lnTo>
                  <a:pt x="0" y="0"/>
                </a:lnTo>
                <a:close/>
              </a:path>
            </a:pathLst>
          </a:custGeom>
          <a:blipFill>
            <a:blip r:embed="rId3">
              <a:alphaModFix amt="80000"/>
            </a:blip>
            <a:stretch>
              <a:fillRect/>
            </a:stretch>
          </a:blipFill>
        </p:spPr>
      </p:sp>
      <p:sp>
        <p:nvSpPr>
          <p:cNvPr id="4" name="Freeform 4"/>
          <p:cNvSpPr/>
          <p:nvPr/>
        </p:nvSpPr>
        <p:spPr>
          <a:xfrm>
            <a:off x="-3962548" y="-1186480"/>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9" name="TextBox 9"/>
          <p:cNvSpPr txBox="1"/>
          <p:nvPr/>
        </p:nvSpPr>
        <p:spPr>
          <a:xfrm>
            <a:off x="-457200" y="823843"/>
            <a:ext cx="18288000" cy="769441"/>
          </a:xfrm>
          <a:prstGeom prst="rect">
            <a:avLst/>
          </a:prstGeom>
        </p:spPr>
        <p:txBody>
          <a:bodyPr wrap="square" lIns="0" tIns="0" rIns="0" bIns="0" rtlCol="0" anchor="t">
            <a:spAutoFit/>
          </a:bodyPr>
          <a:lstStyle/>
          <a:p>
            <a:pPr marL="0" lvl="0" indent="0" algn="ctr"/>
            <a:r>
              <a:rPr lang="en-US" sz="5000" b="1" dirty="0" smtClean="0">
                <a:solidFill>
                  <a:srgbClr val="FFFFFF"/>
                </a:solidFill>
                <a:latin typeface="Neo Tech Bold"/>
                <a:ea typeface="Neo Tech Bold"/>
                <a:cs typeface="Neo Tech Bold"/>
                <a:sym typeface="Neo Tech Bold"/>
              </a:rPr>
              <a:t>System Architecture</a:t>
            </a:r>
            <a:endParaRPr lang="en-US" sz="5000" b="1" dirty="0">
              <a:solidFill>
                <a:srgbClr val="FFFFFF"/>
              </a:solidFill>
              <a:latin typeface="Neo Tech Bold"/>
              <a:ea typeface="Neo Tech Bold"/>
              <a:cs typeface="Neo Tech Bold"/>
              <a:sym typeface="Neo Tech Bold"/>
            </a:endParaRPr>
          </a:p>
        </p:txBody>
      </p:sp>
      <p:grpSp>
        <p:nvGrpSpPr>
          <p:cNvPr id="51" name="Group 50"/>
          <p:cNvGrpSpPr/>
          <p:nvPr/>
        </p:nvGrpSpPr>
        <p:grpSpPr>
          <a:xfrm>
            <a:off x="1752600" y="2362200"/>
            <a:ext cx="13868400" cy="3924300"/>
            <a:chOff x="2126793" y="2362200"/>
            <a:chExt cx="13430764" cy="4057616"/>
          </a:xfrm>
        </p:grpSpPr>
        <p:grpSp>
          <p:nvGrpSpPr>
            <p:cNvPr id="50" name="Group 49"/>
            <p:cNvGrpSpPr/>
            <p:nvPr/>
          </p:nvGrpSpPr>
          <p:grpSpPr>
            <a:xfrm>
              <a:off x="2126793" y="2362200"/>
              <a:ext cx="13411200" cy="4057616"/>
              <a:chOff x="2438398" y="2385060"/>
              <a:chExt cx="13411200" cy="4057616"/>
            </a:xfrm>
          </p:grpSpPr>
          <p:grpSp>
            <p:nvGrpSpPr>
              <p:cNvPr id="31" name="Group 30"/>
              <p:cNvGrpSpPr/>
              <p:nvPr/>
            </p:nvGrpSpPr>
            <p:grpSpPr>
              <a:xfrm>
                <a:off x="2438398" y="2385060"/>
                <a:ext cx="13411200" cy="4057616"/>
                <a:chOff x="3020897" y="2460861"/>
                <a:chExt cx="12484818" cy="2903812"/>
              </a:xfrm>
            </p:grpSpPr>
            <p:sp>
              <p:nvSpPr>
                <p:cNvPr id="16" name="Snip Same Side Corner Rectangle 15"/>
                <p:cNvSpPr/>
                <p:nvPr/>
              </p:nvSpPr>
              <p:spPr>
                <a:xfrm>
                  <a:off x="3020897" y="2460861"/>
                  <a:ext cx="12484818" cy="2895600"/>
                </a:xfrm>
                <a:prstGeom prst="snip2SameRect">
                  <a:avLst/>
                </a:prstGeom>
                <a:solidFill>
                  <a:srgbClr val="00206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8371632" y="2469073"/>
                  <a:ext cx="0" cy="289560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284728" y="2793486"/>
                  <a:ext cx="4961026" cy="1867479"/>
                </a:xfrm>
                <a:prstGeom prst="rect">
                  <a:avLst/>
                </a:prstGeom>
                <a:noFill/>
              </p:spPr>
              <p:txBody>
                <a:bodyPr wrap="square" rtlCol="0">
                  <a:spAutoFit/>
                </a:bodyPr>
                <a:lstStyle/>
                <a:p>
                  <a:pPr algn="ctr"/>
                  <a:r>
                    <a:rPr lang="en-US" sz="2500" dirty="0">
                      <a:solidFill>
                        <a:schemeClr val="bg1"/>
                      </a:solidFill>
                      <a:latin typeface="Times New Roman" panose="02020603050405020304" pitchFamily="18" charset="0"/>
                      <a:ea typeface="Times New Roman" panose="02020603050405020304" pitchFamily="18" charset="0"/>
                    </a:rPr>
                    <a:t>Common datasets used in malware detection include</a:t>
                  </a:r>
                  <a:r>
                    <a:rPr lang="en-US" sz="2500" dirty="0" smtClean="0">
                      <a:solidFill>
                        <a:schemeClr val="bg1"/>
                      </a:solidFill>
                      <a:latin typeface="Times New Roman" panose="02020603050405020304" pitchFamily="18" charset="0"/>
                      <a:ea typeface="Times New Roman" panose="02020603050405020304" pitchFamily="18" charset="0"/>
                    </a:rPr>
                    <a:t>:</a:t>
                  </a:r>
                </a:p>
                <a:p>
                  <a:pPr algn="ctr"/>
                  <a:endParaRPr lang="en-US" sz="2000" dirty="0">
                    <a:solidFill>
                      <a:schemeClr val="bg1"/>
                    </a:solidFill>
                    <a:latin typeface="Times New Roman" panose="02020603050405020304" pitchFamily="18" charset="0"/>
                    <a:ea typeface="Times New Roman" panose="02020603050405020304" pitchFamily="18" charset="0"/>
                  </a:endParaRPr>
                </a:p>
                <a:p>
                  <a:pPr marL="342900" marR="0" lvl="0" indent="-342900" algn="just">
                    <a:buSzPts val="1000"/>
                    <a:buFont typeface="Symbol" panose="05050102010706020507" pitchFamily="18" charset="2"/>
                    <a:buChar char=""/>
                    <a:tabLst>
                      <a:tab pos="457200" algn="l"/>
                    </a:tabLst>
                  </a:pPr>
                  <a:r>
                    <a:rPr lang="en-US" sz="2200" dirty="0">
                      <a:solidFill>
                        <a:schemeClr val="bg1"/>
                      </a:solidFill>
                      <a:latin typeface="Times New Roman" panose="02020603050405020304" pitchFamily="18" charset="0"/>
                      <a:ea typeface="Times New Roman" panose="02020603050405020304" pitchFamily="18" charset="0"/>
                    </a:rPr>
                    <a:t>EMBER </a:t>
                  </a:r>
                  <a:r>
                    <a:rPr lang="en-US" sz="2200" dirty="0" smtClean="0">
                      <a:solidFill>
                        <a:schemeClr val="bg1"/>
                      </a:solidFill>
                      <a:latin typeface="Times New Roman" panose="02020603050405020304" pitchFamily="18" charset="0"/>
                      <a:ea typeface="Times New Roman" panose="02020603050405020304" pitchFamily="18" charset="0"/>
                    </a:rPr>
                    <a:t>Dataset</a:t>
                  </a:r>
                  <a:endParaRPr lang="en-US" sz="2200" dirty="0">
                    <a:solidFill>
                      <a:schemeClr val="bg1"/>
                    </a:solidFill>
                    <a:latin typeface="Times New Roman" panose="02020603050405020304" pitchFamily="18" charset="0"/>
                    <a:ea typeface="Times New Roman" panose="02020603050405020304" pitchFamily="18" charset="0"/>
                  </a:endParaRPr>
                </a:p>
                <a:p>
                  <a:pPr marL="342900" marR="0" lvl="0" indent="-342900" algn="just">
                    <a:buSzPts val="1000"/>
                    <a:buFont typeface="Symbol" panose="05050102010706020507" pitchFamily="18" charset="2"/>
                    <a:buChar char=""/>
                    <a:tabLst>
                      <a:tab pos="457200" algn="l"/>
                    </a:tabLst>
                  </a:pPr>
                  <a:r>
                    <a:rPr lang="en-US" sz="2200" dirty="0" smtClean="0">
                      <a:solidFill>
                        <a:schemeClr val="bg1"/>
                      </a:solidFill>
                      <a:latin typeface="Times New Roman" panose="02020603050405020304" pitchFamily="18" charset="0"/>
                      <a:ea typeface="Times New Roman" panose="02020603050405020304" pitchFamily="18" charset="0"/>
                    </a:rPr>
                    <a:t>Virus-Share</a:t>
                  </a:r>
                  <a:endParaRPr lang="en-US" sz="2200" dirty="0">
                    <a:solidFill>
                      <a:schemeClr val="bg1"/>
                    </a:solidFill>
                    <a:latin typeface="Times New Roman" panose="02020603050405020304" pitchFamily="18" charset="0"/>
                    <a:ea typeface="Times New Roman" panose="02020603050405020304" pitchFamily="18" charset="0"/>
                  </a:endParaRPr>
                </a:p>
                <a:p>
                  <a:pPr marL="342900" marR="0" lvl="0" indent="-342900" algn="just">
                    <a:buSzPts val="1000"/>
                    <a:buFont typeface="Symbol" panose="05050102010706020507" pitchFamily="18" charset="2"/>
                    <a:buChar char=""/>
                    <a:tabLst>
                      <a:tab pos="457200" algn="l"/>
                    </a:tabLst>
                  </a:pPr>
                  <a:r>
                    <a:rPr lang="en-US" sz="2200" dirty="0" smtClean="0">
                      <a:solidFill>
                        <a:schemeClr val="bg1"/>
                      </a:solidFill>
                      <a:latin typeface="Times New Roman" panose="02020603050405020304" pitchFamily="18" charset="0"/>
                      <a:ea typeface="Times New Roman" panose="02020603050405020304" pitchFamily="18" charset="0"/>
                    </a:rPr>
                    <a:t>CICIDS</a:t>
                  </a:r>
                  <a:endParaRPr lang="en-US" sz="2200" dirty="0">
                    <a:solidFill>
                      <a:schemeClr val="bg1"/>
                    </a:solidFill>
                    <a:latin typeface="Times New Roman" panose="02020603050405020304" pitchFamily="18" charset="0"/>
                    <a:ea typeface="Times New Roman" panose="02020603050405020304" pitchFamily="18" charset="0"/>
                  </a:endParaRPr>
                </a:p>
                <a:p>
                  <a:pPr marL="342900" marR="0" lvl="0" indent="-342900" algn="just">
                    <a:buSzPts val="1000"/>
                    <a:buFont typeface="Symbol" panose="05050102010706020507" pitchFamily="18" charset="2"/>
                    <a:buChar char=""/>
                    <a:tabLst>
                      <a:tab pos="457200" algn="l"/>
                    </a:tabLst>
                  </a:pPr>
                  <a:r>
                    <a:rPr lang="en-US" sz="2200" dirty="0">
                      <a:solidFill>
                        <a:schemeClr val="bg1"/>
                      </a:solidFill>
                      <a:latin typeface="Times New Roman" panose="02020603050405020304" pitchFamily="18" charset="0"/>
                      <a:ea typeface="Times New Roman" panose="02020603050405020304" pitchFamily="18" charset="0"/>
                    </a:rPr>
                    <a:t>Microsoft Malware </a:t>
                  </a:r>
                  <a:r>
                    <a:rPr lang="en-US" sz="2200" dirty="0" smtClean="0">
                      <a:solidFill>
                        <a:schemeClr val="bg1"/>
                      </a:solidFill>
                      <a:latin typeface="Times New Roman" panose="02020603050405020304" pitchFamily="18" charset="0"/>
                      <a:ea typeface="Times New Roman" panose="02020603050405020304" pitchFamily="18" charset="0"/>
                    </a:rPr>
                    <a:t>Dataset</a:t>
                  </a:r>
                  <a:endParaRPr lang="en-US" sz="2200" dirty="0">
                    <a:solidFill>
                      <a:schemeClr val="bg1"/>
                    </a:solidFill>
                    <a:effectLst/>
                    <a:latin typeface="Times New Roman" panose="02020603050405020304" pitchFamily="18" charset="0"/>
                    <a:ea typeface="Times New Roman" panose="02020603050405020304" pitchFamily="18" charset="0"/>
                  </a:endParaRPr>
                </a:p>
              </p:txBody>
            </p:sp>
            <p:sp>
              <p:nvSpPr>
                <p:cNvPr id="27" name="TextBox 26"/>
                <p:cNvSpPr txBox="1"/>
                <p:nvPr/>
              </p:nvSpPr>
              <p:spPr>
                <a:xfrm>
                  <a:off x="8581892" y="2859772"/>
                  <a:ext cx="3321854" cy="1081772"/>
                </a:xfrm>
                <a:prstGeom prst="rect">
                  <a:avLst/>
                </a:prstGeom>
                <a:noFill/>
              </p:spPr>
              <p:txBody>
                <a:bodyPr wrap="square" rtlCol="0">
                  <a:spAutoFit/>
                </a:bodyPr>
                <a:lstStyle/>
                <a:p>
                  <a:pPr algn="just"/>
                  <a:r>
                    <a:rPr lang="en-US" sz="2500" dirty="0" smtClean="0">
                      <a:solidFill>
                        <a:schemeClr val="bg1"/>
                      </a:solidFill>
                      <a:latin typeface="Times New Roman" panose="02020603050405020304" pitchFamily="18" charset="0"/>
                      <a:ea typeface="Times New Roman" panose="02020603050405020304" pitchFamily="18" charset="0"/>
                    </a:rPr>
                    <a:t>The key Challenges are:</a:t>
                  </a:r>
                </a:p>
                <a:p>
                  <a:pPr algn="just"/>
                  <a:endParaRPr lang="en-US" sz="2000" dirty="0">
                    <a:solidFill>
                      <a:schemeClr val="bg1"/>
                    </a:solidFill>
                    <a:latin typeface="Times New Roman" panose="02020603050405020304" pitchFamily="18" charset="0"/>
                    <a:ea typeface="Times New Roman" panose="02020603050405020304" pitchFamily="18" charset="0"/>
                  </a:endParaRPr>
                </a:p>
                <a:p>
                  <a:pPr marL="342900" marR="0" lvl="0" indent="-342900" algn="just">
                    <a:buSzPts val="1000"/>
                    <a:buFont typeface="Symbol" panose="05050102010706020507" pitchFamily="18" charset="2"/>
                    <a:buChar char=""/>
                    <a:tabLst>
                      <a:tab pos="457200" algn="l"/>
                    </a:tabLst>
                  </a:pPr>
                  <a:r>
                    <a:rPr lang="en-US" sz="2200" dirty="0">
                      <a:solidFill>
                        <a:schemeClr val="bg1"/>
                      </a:solidFill>
                      <a:latin typeface="Times New Roman" panose="02020603050405020304" pitchFamily="18" charset="0"/>
                      <a:ea typeface="Times New Roman" panose="02020603050405020304" pitchFamily="18" charset="0"/>
                    </a:rPr>
                    <a:t>Imbalanced data</a:t>
                  </a:r>
                </a:p>
                <a:p>
                  <a:pPr marL="342900" marR="0" lvl="0" indent="-342900" algn="just">
                    <a:buSzPts val="1000"/>
                    <a:buFont typeface="Symbol" panose="05050102010706020507" pitchFamily="18" charset="2"/>
                    <a:buChar char=""/>
                    <a:tabLst>
                      <a:tab pos="457200" algn="l"/>
                    </a:tabLst>
                  </a:pPr>
                  <a:r>
                    <a:rPr lang="en-US" sz="2200" dirty="0">
                      <a:solidFill>
                        <a:schemeClr val="bg1"/>
                      </a:solidFill>
                      <a:latin typeface="Times New Roman" panose="02020603050405020304" pitchFamily="18" charset="0"/>
                      <a:ea typeface="Times New Roman" panose="02020603050405020304" pitchFamily="18" charset="0"/>
                    </a:rPr>
                    <a:t>Lack of standard datasets</a:t>
                  </a:r>
                  <a:endParaRPr lang="en-US" sz="2200" dirty="0">
                    <a:solidFill>
                      <a:schemeClr val="bg1"/>
                    </a:solidFill>
                    <a:effectLst/>
                    <a:latin typeface="Times New Roman" panose="02020603050405020304" pitchFamily="18" charset="0"/>
                    <a:ea typeface="Times New Roman" panose="02020603050405020304" pitchFamily="18" charset="0"/>
                  </a:endParaRPr>
                </a:p>
              </p:txBody>
            </p:sp>
            <p:cxnSp>
              <p:nvCxnSpPr>
                <p:cNvPr id="28" name="Straight Connector 27"/>
                <p:cNvCxnSpPr/>
                <p:nvPr/>
              </p:nvCxnSpPr>
              <p:spPr>
                <a:xfrm>
                  <a:off x="11997378" y="2469073"/>
                  <a:ext cx="0" cy="289560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grpSp>
          <p:pic>
            <p:nvPicPr>
              <p:cNvPr id="29" name="Picture 28"/>
              <p:cNvPicPr>
                <a:picLocks noChangeAspect="1"/>
              </p:cNvPicPr>
              <p:nvPr/>
            </p:nvPicPr>
            <p:blipFill rotWithShape="1">
              <a:blip r:embed="rId5"/>
              <a:srcRect l="23333" t="53300" r="25000" b="13704"/>
              <a:stretch/>
            </p:blipFill>
            <p:spPr>
              <a:xfrm>
                <a:off x="12201782" y="5071275"/>
                <a:ext cx="3505200" cy="1238085"/>
              </a:xfrm>
              <a:prstGeom prst="rect">
                <a:avLst/>
              </a:prstGeom>
            </p:spPr>
          </p:pic>
          <p:pic>
            <p:nvPicPr>
              <p:cNvPr id="34" name="Picture 33"/>
              <p:cNvPicPr>
                <a:picLocks noChangeAspect="1"/>
              </p:cNvPicPr>
              <p:nvPr/>
            </p:nvPicPr>
            <p:blipFill rotWithShape="1">
              <a:blip r:embed="rId6"/>
              <a:srcRect l="23750" t="34444" r="24167" b="15777"/>
              <a:stretch/>
            </p:blipFill>
            <p:spPr>
              <a:xfrm>
                <a:off x="12201782" y="3639461"/>
                <a:ext cx="3505200" cy="1229797"/>
              </a:xfrm>
              <a:prstGeom prst="rect">
                <a:avLst/>
              </a:prstGeom>
            </p:spPr>
          </p:pic>
          <p:sp>
            <p:nvSpPr>
              <p:cNvPr id="35" name="TextBox 34"/>
              <p:cNvSpPr txBox="1"/>
              <p:nvPr/>
            </p:nvSpPr>
            <p:spPr>
              <a:xfrm>
                <a:off x="12399351" y="2588533"/>
                <a:ext cx="3138877" cy="763758"/>
              </a:xfrm>
              <a:prstGeom prst="rect">
                <a:avLst/>
              </a:prstGeom>
              <a:noFill/>
            </p:spPr>
            <p:txBody>
              <a:bodyPr wrap="square" rtlCol="0">
                <a:spAutoFit/>
              </a:bodyPr>
              <a:lstStyle/>
              <a:p>
                <a:r>
                  <a:rPr lang="en-US" sz="2100" dirty="0" smtClean="0">
                    <a:solidFill>
                      <a:schemeClr val="bg1"/>
                    </a:solidFill>
                    <a:latin typeface="Times New Roman" panose="02020603050405020304" pitchFamily="18" charset="0"/>
                    <a:cs typeface="Times New Roman" panose="02020603050405020304" pitchFamily="18" charset="0"/>
                  </a:rPr>
                  <a:t>CICIDS and Virus-share dataset are shown below</a:t>
                </a:r>
                <a:r>
                  <a:rPr lang="en-US" sz="2000" dirty="0" smtClean="0">
                    <a:solidFill>
                      <a:schemeClr val="bg1"/>
                    </a:solidFill>
                    <a:latin typeface="Times New Roman" panose="02020603050405020304" pitchFamily="18" charset="0"/>
                    <a:cs typeface="Times New Roman" panose="02020603050405020304" pitchFamily="18" charset="0"/>
                  </a:rPr>
                  <a:t>:</a:t>
                </a:r>
                <a:endParaRPr lang="en-US" sz="2000" dirty="0">
                  <a:solidFill>
                    <a:schemeClr val="bg1"/>
                  </a:solidFill>
                  <a:latin typeface="Times New Roman" panose="02020603050405020304" pitchFamily="18" charset="0"/>
                  <a:cs typeface="Times New Roman" panose="02020603050405020304" pitchFamily="18" charset="0"/>
                </a:endParaRPr>
              </a:p>
            </p:txBody>
          </p:sp>
        </p:grpSp>
        <p:cxnSp>
          <p:nvCxnSpPr>
            <p:cNvPr id="37" name="Straight Connector 36"/>
            <p:cNvCxnSpPr/>
            <p:nvPr/>
          </p:nvCxnSpPr>
          <p:spPr>
            <a:xfrm>
              <a:off x="11783719" y="3461842"/>
              <a:ext cx="3741996"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pic>
          <p:nvPicPr>
            <p:cNvPr id="40" name="Picture 39"/>
            <p:cNvPicPr>
              <a:picLocks noChangeAspect="1"/>
            </p:cNvPicPr>
            <p:nvPr/>
          </p:nvPicPr>
          <p:blipFill>
            <a:blip r:embed="rId7"/>
            <a:stretch>
              <a:fillRect/>
            </a:stretch>
          </p:blipFill>
          <p:spPr>
            <a:xfrm>
              <a:off x="11795999" y="4932165"/>
              <a:ext cx="3761558" cy="30483"/>
            </a:xfrm>
            <a:prstGeom prst="rect">
              <a:avLst/>
            </a:prstGeom>
          </p:spPr>
        </p:pic>
      </p:grpSp>
      <p:graphicFrame>
        <p:nvGraphicFramePr>
          <p:cNvPr id="54" name="Diagram 53"/>
          <p:cNvGraphicFramePr/>
          <p:nvPr>
            <p:extLst>
              <p:ext uri="{D42A27DB-BD31-4B8C-83A1-F6EECF244321}">
                <p14:modId xmlns:p14="http://schemas.microsoft.com/office/powerpoint/2010/main" val="3974207756"/>
              </p:ext>
            </p:extLst>
          </p:nvPr>
        </p:nvGraphicFramePr>
        <p:xfrm>
          <a:off x="1752600" y="6508688"/>
          <a:ext cx="13868399" cy="232486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5" name="TextBox 54"/>
          <p:cNvSpPr txBox="1"/>
          <p:nvPr/>
        </p:nvSpPr>
        <p:spPr>
          <a:xfrm>
            <a:off x="1752601" y="8686676"/>
            <a:ext cx="13848198" cy="400110"/>
          </a:xfrm>
          <a:prstGeom prst="rect">
            <a:avLst/>
          </a:prstGeom>
          <a:noFill/>
        </p:spPr>
        <p:txBody>
          <a:bodyPr wrap="square" rtlCol="0">
            <a:spAutoFit/>
          </a:bodyPr>
          <a:lstStyle/>
          <a:p>
            <a:pPr algn="ctr"/>
            <a:r>
              <a:rPr lang="en-US" sz="2000" dirty="0" smtClean="0">
                <a:solidFill>
                  <a:schemeClr val="bg1"/>
                </a:solidFill>
                <a:latin typeface="Times New Roman" panose="02020603050405020304" pitchFamily="18" charset="0"/>
                <a:cs typeface="Times New Roman" panose="02020603050405020304" pitchFamily="18" charset="0"/>
              </a:rPr>
              <a:t>Figure 6: Workflow of the Methodology</a:t>
            </a:r>
            <a:endParaRPr 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00" y="5492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14153947" y="4812052"/>
            <a:ext cx="8289535" cy="9287994"/>
          </a:xfrm>
          <a:custGeom>
            <a:avLst/>
            <a:gdLst/>
            <a:ahLst/>
            <a:cxnLst/>
            <a:rect l="l" t="t" r="r" b="b"/>
            <a:pathLst>
              <a:path w="8289535" h="9287994">
                <a:moveTo>
                  <a:pt x="0" y="0"/>
                </a:moveTo>
                <a:lnTo>
                  <a:pt x="8289535" y="0"/>
                </a:lnTo>
                <a:lnTo>
                  <a:pt x="8289535" y="9287995"/>
                </a:lnTo>
                <a:lnTo>
                  <a:pt x="0" y="9287995"/>
                </a:lnTo>
                <a:lnTo>
                  <a:pt x="0" y="0"/>
                </a:lnTo>
                <a:close/>
              </a:path>
            </a:pathLst>
          </a:custGeom>
          <a:blipFill>
            <a:blip r:embed="rId3">
              <a:alphaModFix amt="80000"/>
            </a:blip>
            <a:stretch>
              <a:fillRect/>
            </a:stretch>
          </a:blipFill>
        </p:spPr>
      </p:sp>
      <p:sp>
        <p:nvSpPr>
          <p:cNvPr id="4" name="Freeform 4"/>
          <p:cNvSpPr/>
          <p:nvPr/>
        </p:nvSpPr>
        <p:spPr>
          <a:xfrm>
            <a:off x="-3962400" y="-329095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7" name="Round Diagonal Corner Rectangle 6"/>
          <p:cNvSpPr/>
          <p:nvPr/>
        </p:nvSpPr>
        <p:spPr>
          <a:xfrm>
            <a:off x="914400" y="1104900"/>
            <a:ext cx="15544800" cy="8001000"/>
          </a:xfrm>
          <a:prstGeom prst="round2DiagRect">
            <a:avLst/>
          </a:prstGeom>
          <a:solidFill>
            <a:srgbClr val="00206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091367" y="2083361"/>
            <a:ext cx="6451437" cy="6324808"/>
          </a:xfrm>
          <a:prstGeom prst="rect">
            <a:avLst/>
          </a:prstGeom>
          <a:noFill/>
        </p:spPr>
        <p:txBody>
          <a:bodyPr wrap="square" rtlCol="0">
            <a:spAutoFit/>
          </a:bodyPr>
          <a:lstStyle/>
          <a:p>
            <a:pPr algn="just"/>
            <a:r>
              <a:rPr lang="en-US" sz="3000" dirty="0" smtClean="0">
                <a:solidFill>
                  <a:srgbClr val="FFFF00"/>
                </a:solidFill>
                <a:latin typeface="Times New Roman" panose="02020603050405020304" pitchFamily="18" charset="0"/>
                <a:cs typeface="Times New Roman" panose="02020603050405020304" pitchFamily="18" charset="0"/>
              </a:rPr>
              <a:t>Architecture Components/Methodology:</a:t>
            </a:r>
          </a:p>
          <a:p>
            <a:pPr algn="just"/>
            <a:endParaRPr lang="en-US" sz="2500" dirty="0" smtClean="0">
              <a:solidFill>
                <a:schemeClr val="bg1"/>
              </a:solidFill>
              <a:latin typeface="Times New Roman" panose="02020603050405020304" pitchFamily="18" charset="0"/>
              <a:cs typeface="Times New Roman" panose="02020603050405020304" pitchFamily="18" charset="0"/>
            </a:endParaRPr>
          </a:p>
          <a:p>
            <a:pPr algn="just"/>
            <a:r>
              <a:rPr lang="en-US" sz="2500" dirty="0" smtClean="0">
                <a:solidFill>
                  <a:schemeClr val="bg1"/>
                </a:solidFill>
                <a:latin typeface="Times New Roman" panose="02020603050405020304" pitchFamily="18" charset="0"/>
                <a:cs typeface="Times New Roman" panose="02020603050405020304" pitchFamily="18" charset="0"/>
              </a:rPr>
              <a:t>1. </a:t>
            </a:r>
            <a:r>
              <a:rPr lang="en-US" sz="2500" dirty="0" smtClean="0">
                <a:solidFill>
                  <a:srgbClr val="FFFF00"/>
                </a:solidFill>
                <a:latin typeface="Times New Roman" panose="02020603050405020304" pitchFamily="18" charset="0"/>
                <a:cs typeface="Times New Roman" panose="02020603050405020304" pitchFamily="18" charset="0"/>
              </a:rPr>
              <a:t>Data </a:t>
            </a:r>
            <a:r>
              <a:rPr lang="en-US" sz="2500" dirty="0">
                <a:solidFill>
                  <a:srgbClr val="FFFF00"/>
                </a:solidFill>
                <a:latin typeface="Times New Roman" panose="02020603050405020304" pitchFamily="18" charset="0"/>
                <a:cs typeface="Times New Roman" panose="02020603050405020304" pitchFamily="18" charset="0"/>
              </a:rPr>
              <a:t>Collection </a:t>
            </a:r>
            <a:r>
              <a:rPr lang="en-US" sz="2500" dirty="0" smtClean="0">
                <a:solidFill>
                  <a:srgbClr val="FFFF00"/>
                </a:solidFill>
                <a:latin typeface="Times New Roman" panose="02020603050405020304" pitchFamily="18" charset="0"/>
                <a:cs typeface="Times New Roman" panose="02020603050405020304" pitchFamily="18" charset="0"/>
              </a:rPr>
              <a:t>Module/Input: </a:t>
            </a:r>
            <a:r>
              <a:rPr lang="en-US" sz="2500" dirty="0">
                <a:solidFill>
                  <a:schemeClr val="bg1"/>
                </a:solidFill>
                <a:latin typeface="Times New Roman" panose="02020603050405020304" pitchFamily="18" charset="0"/>
                <a:cs typeface="Times New Roman" panose="02020603050405020304" pitchFamily="18" charset="0"/>
              </a:rPr>
              <a:t>Collects raw data such as executable files, network traffic, and system logs</a:t>
            </a:r>
            <a:r>
              <a:rPr lang="en-US" sz="2500" dirty="0" smtClean="0">
                <a:solidFill>
                  <a:schemeClr val="bg1"/>
                </a:solidFill>
                <a:latin typeface="Times New Roman" panose="02020603050405020304" pitchFamily="18" charset="0"/>
                <a:cs typeface="Times New Roman" panose="02020603050405020304" pitchFamily="18" charset="0"/>
              </a:rPr>
              <a:t>.</a:t>
            </a:r>
          </a:p>
          <a:p>
            <a:pPr algn="just"/>
            <a:r>
              <a:rPr lang="en-US" sz="2500" dirty="0" smtClean="0">
                <a:solidFill>
                  <a:schemeClr val="bg1"/>
                </a:solidFill>
                <a:latin typeface="Times New Roman" panose="02020603050405020304" pitchFamily="18" charset="0"/>
                <a:cs typeface="Times New Roman" panose="02020603050405020304" pitchFamily="18" charset="0"/>
              </a:rPr>
              <a:t> </a:t>
            </a:r>
            <a:endParaRPr lang="en-US" sz="2500" dirty="0">
              <a:solidFill>
                <a:schemeClr val="bg1"/>
              </a:solidFill>
              <a:latin typeface="Times New Roman" panose="02020603050405020304" pitchFamily="18" charset="0"/>
              <a:cs typeface="Times New Roman" panose="02020603050405020304" pitchFamily="18" charset="0"/>
            </a:endParaRPr>
          </a:p>
          <a:p>
            <a:pPr algn="just"/>
            <a:r>
              <a:rPr lang="en-US" sz="2500" dirty="0" smtClean="0">
                <a:solidFill>
                  <a:schemeClr val="bg1"/>
                </a:solidFill>
                <a:latin typeface="Times New Roman" panose="02020603050405020304" pitchFamily="18" charset="0"/>
                <a:cs typeface="Times New Roman" panose="02020603050405020304" pitchFamily="18" charset="0"/>
              </a:rPr>
              <a:t>2. </a:t>
            </a:r>
            <a:r>
              <a:rPr lang="en-US" sz="2500" dirty="0" smtClean="0">
                <a:solidFill>
                  <a:srgbClr val="FFFF00"/>
                </a:solidFill>
                <a:latin typeface="Times New Roman" panose="02020603050405020304" pitchFamily="18" charset="0"/>
                <a:cs typeface="Times New Roman" panose="02020603050405020304" pitchFamily="18" charset="0"/>
              </a:rPr>
              <a:t>Preprocessing </a:t>
            </a:r>
            <a:r>
              <a:rPr lang="en-US" sz="2500" dirty="0">
                <a:solidFill>
                  <a:srgbClr val="FFFF00"/>
                </a:solidFill>
                <a:latin typeface="Times New Roman" panose="02020603050405020304" pitchFamily="18" charset="0"/>
                <a:cs typeface="Times New Roman" panose="02020603050405020304" pitchFamily="18" charset="0"/>
              </a:rPr>
              <a:t>Module:</a:t>
            </a:r>
          </a:p>
          <a:p>
            <a:pPr marL="342900" indent="-342900" algn="just">
              <a:buFont typeface="Wingdings" panose="05000000000000000000" pitchFamily="2" charset="2"/>
              <a:buChar char="Ø"/>
            </a:pPr>
            <a:r>
              <a:rPr lang="en-US" sz="2500" dirty="0" smtClean="0">
                <a:solidFill>
                  <a:schemeClr val="bg1"/>
                </a:solidFill>
                <a:latin typeface="Times New Roman" panose="02020603050405020304" pitchFamily="18" charset="0"/>
                <a:cs typeface="Times New Roman" panose="02020603050405020304" pitchFamily="18" charset="0"/>
              </a:rPr>
              <a:t>Data </a:t>
            </a:r>
            <a:r>
              <a:rPr lang="en-US" sz="2500" dirty="0">
                <a:solidFill>
                  <a:schemeClr val="bg1"/>
                </a:solidFill>
                <a:latin typeface="Times New Roman" panose="02020603050405020304" pitchFamily="18" charset="0"/>
                <a:cs typeface="Times New Roman" panose="02020603050405020304" pitchFamily="18" charset="0"/>
              </a:rPr>
              <a:t>cleaning</a:t>
            </a:r>
          </a:p>
          <a:p>
            <a:pPr marL="342900" indent="-342900" algn="just">
              <a:buFont typeface="Wingdings" panose="05000000000000000000" pitchFamily="2" charset="2"/>
              <a:buChar char="Ø"/>
            </a:pPr>
            <a:r>
              <a:rPr lang="en-US" sz="2500" dirty="0" smtClean="0">
                <a:solidFill>
                  <a:schemeClr val="bg1"/>
                </a:solidFill>
                <a:latin typeface="Times New Roman" panose="02020603050405020304" pitchFamily="18" charset="0"/>
                <a:cs typeface="Times New Roman" panose="02020603050405020304" pitchFamily="18" charset="0"/>
              </a:rPr>
              <a:t>Noise </a:t>
            </a:r>
            <a:r>
              <a:rPr lang="en-US" sz="2500" dirty="0">
                <a:solidFill>
                  <a:schemeClr val="bg1"/>
                </a:solidFill>
                <a:latin typeface="Times New Roman" panose="02020603050405020304" pitchFamily="18" charset="0"/>
                <a:cs typeface="Times New Roman" panose="02020603050405020304" pitchFamily="18" charset="0"/>
              </a:rPr>
              <a:t>removal</a:t>
            </a:r>
          </a:p>
          <a:p>
            <a:pPr marL="342900" indent="-342900" algn="just">
              <a:buFont typeface="Wingdings" panose="05000000000000000000" pitchFamily="2" charset="2"/>
              <a:buChar char="Ø"/>
            </a:pPr>
            <a:r>
              <a:rPr lang="en-US" sz="2500" dirty="0" smtClean="0">
                <a:solidFill>
                  <a:schemeClr val="bg1"/>
                </a:solidFill>
                <a:latin typeface="Times New Roman" panose="02020603050405020304" pitchFamily="18" charset="0"/>
                <a:cs typeface="Times New Roman" panose="02020603050405020304" pitchFamily="18" charset="0"/>
              </a:rPr>
              <a:t>Normalization</a:t>
            </a:r>
          </a:p>
          <a:p>
            <a:pPr marL="342900" indent="-342900" algn="just">
              <a:buFont typeface="Wingdings" panose="05000000000000000000" pitchFamily="2" charset="2"/>
              <a:buChar char="Ø"/>
            </a:pPr>
            <a:endParaRPr lang="en-US" sz="2500" dirty="0">
              <a:solidFill>
                <a:schemeClr val="bg1"/>
              </a:solidFill>
              <a:latin typeface="Times New Roman" panose="02020603050405020304" pitchFamily="18" charset="0"/>
              <a:cs typeface="Times New Roman" panose="02020603050405020304" pitchFamily="18" charset="0"/>
            </a:endParaRPr>
          </a:p>
          <a:p>
            <a:pPr algn="just"/>
            <a:r>
              <a:rPr lang="en-US" sz="2500" dirty="0" smtClean="0">
                <a:solidFill>
                  <a:schemeClr val="bg1"/>
                </a:solidFill>
                <a:latin typeface="Times New Roman" panose="02020603050405020304" pitchFamily="18" charset="0"/>
                <a:cs typeface="Times New Roman" panose="02020603050405020304" pitchFamily="18" charset="0"/>
              </a:rPr>
              <a:t>3. </a:t>
            </a:r>
            <a:r>
              <a:rPr lang="en-US" sz="2500" dirty="0" smtClean="0">
                <a:solidFill>
                  <a:srgbClr val="FFFF00"/>
                </a:solidFill>
                <a:latin typeface="Times New Roman" panose="02020603050405020304" pitchFamily="18" charset="0"/>
                <a:cs typeface="Times New Roman" panose="02020603050405020304" pitchFamily="18" charset="0"/>
              </a:rPr>
              <a:t>Feature </a:t>
            </a:r>
            <a:r>
              <a:rPr lang="en-US" sz="2500" dirty="0">
                <a:solidFill>
                  <a:srgbClr val="FFFF00"/>
                </a:solidFill>
                <a:latin typeface="Times New Roman" panose="02020603050405020304" pitchFamily="18" charset="0"/>
                <a:cs typeface="Times New Roman" panose="02020603050405020304" pitchFamily="18" charset="0"/>
              </a:rPr>
              <a:t>Extraction Module: </a:t>
            </a:r>
            <a:r>
              <a:rPr lang="en-US" sz="2500" dirty="0">
                <a:solidFill>
                  <a:schemeClr val="bg1"/>
                </a:solidFill>
                <a:latin typeface="Times New Roman" panose="02020603050405020304" pitchFamily="18" charset="0"/>
                <a:cs typeface="Times New Roman" panose="02020603050405020304" pitchFamily="18" charset="0"/>
              </a:rPr>
              <a:t>Extracts relevant features such as</a:t>
            </a:r>
            <a:r>
              <a:rPr lang="en-US" sz="2500" dirty="0" smtClean="0">
                <a:solidFill>
                  <a:schemeClr val="bg1"/>
                </a:solidFill>
                <a:latin typeface="Times New Roman" panose="02020603050405020304" pitchFamily="18" charset="0"/>
                <a:cs typeface="Times New Roman" panose="02020603050405020304" pitchFamily="18" charset="0"/>
              </a:rPr>
              <a:t>:</a:t>
            </a:r>
            <a:endParaRPr lang="en-US" sz="2500" dirty="0">
              <a:solidFill>
                <a:schemeClr val="bg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500" dirty="0" smtClean="0">
                <a:solidFill>
                  <a:schemeClr val="bg1"/>
                </a:solidFill>
                <a:latin typeface="Times New Roman" panose="02020603050405020304" pitchFamily="18" charset="0"/>
                <a:cs typeface="Times New Roman" panose="02020603050405020304" pitchFamily="18" charset="0"/>
              </a:rPr>
              <a:t>API </a:t>
            </a:r>
            <a:r>
              <a:rPr lang="en-US" sz="2500" dirty="0">
                <a:solidFill>
                  <a:schemeClr val="bg1"/>
                </a:solidFill>
                <a:latin typeface="Times New Roman" panose="02020603050405020304" pitchFamily="18" charset="0"/>
                <a:cs typeface="Times New Roman" panose="02020603050405020304" pitchFamily="18" charset="0"/>
              </a:rPr>
              <a:t>call sequences</a:t>
            </a:r>
          </a:p>
          <a:p>
            <a:pPr marL="342900" indent="-342900" algn="just">
              <a:buFont typeface="Wingdings" panose="05000000000000000000" pitchFamily="2" charset="2"/>
              <a:buChar char="q"/>
            </a:pPr>
            <a:r>
              <a:rPr lang="en-US" sz="2500" dirty="0" err="1" smtClean="0">
                <a:solidFill>
                  <a:schemeClr val="bg1"/>
                </a:solidFill>
                <a:latin typeface="Times New Roman" panose="02020603050405020304" pitchFamily="18" charset="0"/>
                <a:cs typeface="Times New Roman" panose="02020603050405020304" pitchFamily="18" charset="0"/>
              </a:rPr>
              <a:t>Opcode</a:t>
            </a:r>
            <a:r>
              <a:rPr lang="en-US" sz="2500" dirty="0" smtClean="0">
                <a:solidFill>
                  <a:schemeClr val="bg1"/>
                </a:solidFill>
                <a:latin typeface="Times New Roman" panose="02020603050405020304" pitchFamily="18" charset="0"/>
                <a:cs typeface="Times New Roman" panose="02020603050405020304" pitchFamily="18" charset="0"/>
              </a:rPr>
              <a:t> </a:t>
            </a:r>
            <a:r>
              <a:rPr lang="en-US" sz="2500" dirty="0">
                <a:solidFill>
                  <a:schemeClr val="bg1"/>
                </a:solidFill>
                <a:latin typeface="Times New Roman" panose="02020603050405020304" pitchFamily="18" charset="0"/>
                <a:cs typeface="Times New Roman" panose="02020603050405020304" pitchFamily="18" charset="0"/>
              </a:rPr>
              <a:t>frequencies</a:t>
            </a:r>
          </a:p>
          <a:p>
            <a:pPr marL="342900" indent="-342900" algn="just">
              <a:buFont typeface="Wingdings" panose="05000000000000000000" pitchFamily="2" charset="2"/>
              <a:buChar char="q"/>
            </a:pPr>
            <a:r>
              <a:rPr lang="en-US" sz="2500" dirty="0" smtClean="0">
                <a:solidFill>
                  <a:schemeClr val="bg1"/>
                </a:solidFill>
                <a:latin typeface="Times New Roman" panose="02020603050405020304" pitchFamily="18" charset="0"/>
                <a:cs typeface="Times New Roman" panose="02020603050405020304" pitchFamily="18" charset="0"/>
              </a:rPr>
              <a:t>File metadata</a:t>
            </a:r>
            <a:endParaRPr lang="en-US" sz="2500" dirty="0">
              <a:solidFill>
                <a:schemeClr val="bg1"/>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9558968" y="2083361"/>
            <a:ext cx="5757232" cy="5093702"/>
          </a:xfrm>
          <a:prstGeom prst="rect">
            <a:avLst/>
          </a:prstGeom>
          <a:noFill/>
        </p:spPr>
        <p:txBody>
          <a:bodyPr wrap="square" rtlCol="0">
            <a:spAutoFit/>
          </a:bodyPr>
          <a:lstStyle/>
          <a:p>
            <a:pPr algn="just"/>
            <a:r>
              <a:rPr lang="en-US" sz="2500" smtClean="0">
                <a:solidFill>
                  <a:schemeClr val="bg1"/>
                </a:solidFill>
                <a:latin typeface="Times New Roman" panose="02020603050405020304" pitchFamily="18" charset="0"/>
                <a:cs typeface="Times New Roman" panose="02020603050405020304" pitchFamily="18" charset="0"/>
              </a:rPr>
              <a:t>4. </a:t>
            </a:r>
            <a:r>
              <a:rPr lang="en-US" sz="2500" smtClean="0">
                <a:solidFill>
                  <a:srgbClr val="FFFF00"/>
                </a:solidFill>
                <a:latin typeface="Times New Roman" panose="02020603050405020304" pitchFamily="18" charset="0"/>
                <a:cs typeface="Times New Roman" panose="02020603050405020304" pitchFamily="18" charset="0"/>
              </a:rPr>
              <a:t>Model </a:t>
            </a:r>
            <a:r>
              <a:rPr lang="en-US" sz="2500" dirty="0">
                <a:solidFill>
                  <a:srgbClr val="FFFF00"/>
                </a:solidFill>
                <a:latin typeface="Times New Roman" panose="02020603050405020304" pitchFamily="18" charset="0"/>
                <a:cs typeface="Times New Roman" panose="02020603050405020304" pitchFamily="18" charset="0"/>
              </a:rPr>
              <a:t>Training Module: </a:t>
            </a:r>
            <a:r>
              <a:rPr lang="en-US" sz="2500" dirty="0">
                <a:solidFill>
                  <a:schemeClr val="bg1"/>
                </a:solidFill>
                <a:latin typeface="Times New Roman" panose="02020603050405020304" pitchFamily="18" charset="0"/>
                <a:cs typeface="Times New Roman" panose="02020603050405020304" pitchFamily="18" charset="0"/>
              </a:rPr>
              <a:t>Machine Learning </a:t>
            </a:r>
            <a:r>
              <a:rPr lang="en-US" sz="2500" dirty="0" smtClean="0">
                <a:solidFill>
                  <a:schemeClr val="bg1"/>
                </a:solidFill>
                <a:latin typeface="Times New Roman" panose="02020603050405020304" pitchFamily="18" charset="0"/>
                <a:cs typeface="Times New Roman" panose="02020603050405020304" pitchFamily="18" charset="0"/>
              </a:rPr>
              <a:t>and </a:t>
            </a:r>
            <a:r>
              <a:rPr lang="en-US" sz="2500" dirty="0">
                <a:solidFill>
                  <a:schemeClr val="bg1"/>
                </a:solidFill>
                <a:latin typeface="Times New Roman" panose="02020603050405020304" pitchFamily="18" charset="0"/>
                <a:cs typeface="Times New Roman" panose="02020603050405020304" pitchFamily="18" charset="0"/>
              </a:rPr>
              <a:t>Deep Learning models are trained using labeled datasets</a:t>
            </a:r>
            <a:r>
              <a:rPr lang="en-US" sz="2500" dirty="0" smtClean="0">
                <a:solidFill>
                  <a:schemeClr val="bg1"/>
                </a:solidFill>
                <a:latin typeface="Times New Roman" panose="02020603050405020304" pitchFamily="18" charset="0"/>
                <a:cs typeface="Times New Roman" panose="02020603050405020304" pitchFamily="18" charset="0"/>
              </a:rPr>
              <a:t>.</a:t>
            </a:r>
          </a:p>
          <a:p>
            <a:pPr algn="just"/>
            <a:endParaRPr lang="en-US" sz="2500" dirty="0">
              <a:solidFill>
                <a:schemeClr val="bg1"/>
              </a:solidFill>
              <a:latin typeface="Times New Roman" panose="02020603050405020304" pitchFamily="18" charset="0"/>
              <a:cs typeface="Times New Roman" panose="02020603050405020304" pitchFamily="18" charset="0"/>
            </a:endParaRPr>
          </a:p>
          <a:p>
            <a:pPr algn="just"/>
            <a:r>
              <a:rPr lang="en-US" sz="2500" dirty="0">
                <a:solidFill>
                  <a:schemeClr val="bg1"/>
                </a:solidFill>
                <a:latin typeface="Times New Roman" panose="02020603050405020304" pitchFamily="18" charset="0"/>
                <a:cs typeface="Times New Roman" panose="02020603050405020304" pitchFamily="18" charset="0"/>
              </a:rPr>
              <a:t>5. </a:t>
            </a:r>
            <a:r>
              <a:rPr lang="en-US" sz="2500" dirty="0">
                <a:solidFill>
                  <a:srgbClr val="FFFF00"/>
                </a:solidFill>
                <a:latin typeface="Times New Roman" panose="02020603050405020304" pitchFamily="18" charset="0"/>
                <a:cs typeface="Times New Roman" panose="02020603050405020304" pitchFamily="18" charset="0"/>
              </a:rPr>
              <a:t>Detection Engine:</a:t>
            </a:r>
            <a:r>
              <a:rPr lang="en-US" sz="2500" dirty="0">
                <a:solidFill>
                  <a:schemeClr val="bg1"/>
                </a:solidFill>
                <a:latin typeface="Times New Roman" panose="02020603050405020304" pitchFamily="18" charset="0"/>
                <a:cs typeface="Times New Roman" panose="02020603050405020304" pitchFamily="18" charset="0"/>
              </a:rPr>
              <a:t> Classifies incoming files as:</a:t>
            </a:r>
          </a:p>
          <a:p>
            <a:pPr marL="342900" indent="-342900" algn="just">
              <a:buFont typeface="Wingdings" panose="05000000000000000000" pitchFamily="2" charset="2"/>
              <a:buChar char="v"/>
            </a:pPr>
            <a:r>
              <a:rPr lang="en-US" sz="2500" dirty="0" smtClean="0">
                <a:solidFill>
                  <a:schemeClr val="bg1"/>
                </a:solidFill>
                <a:latin typeface="Times New Roman" panose="02020603050405020304" pitchFamily="18" charset="0"/>
                <a:cs typeface="Times New Roman" panose="02020603050405020304" pitchFamily="18" charset="0"/>
              </a:rPr>
              <a:t> </a:t>
            </a:r>
            <a:r>
              <a:rPr lang="en-US" sz="2500" dirty="0">
                <a:solidFill>
                  <a:schemeClr val="bg1"/>
                </a:solidFill>
                <a:latin typeface="Times New Roman" panose="02020603050405020304" pitchFamily="18" charset="0"/>
                <a:cs typeface="Times New Roman" panose="02020603050405020304" pitchFamily="18" charset="0"/>
              </a:rPr>
              <a:t>Benign</a:t>
            </a:r>
          </a:p>
          <a:p>
            <a:pPr marL="342900" indent="-342900" algn="just">
              <a:buFont typeface="Wingdings" panose="05000000000000000000" pitchFamily="2" charset="2"/>
              <a:buChar char="v"/>
            </a:pPr>
            <a:r>
              <a:rPr lang="en-US" sz="2500" dirty="0" smtClean="0">
                <a:solidFill>
                  <a:schemeClr val="bg1"/>
                </a:solidFill>
                <a:latin typeface="Times New Roman" panose="02020603050405020304" pitchFamily="18" charset="0"/>
                <a:cs typeface="Times New Roman" panose="02020603050405020304" pitchFamily="18" charset="0"/>
              </a:rPr>
              <a:t> Malicious</a:t>
            </a:r>
          </a:p>
          <a:p>
            <a:pPr algn="just"/>
            <a:endParaRPr lang="en-US" sz="2500" dirty="0">
              <a:solidFill>
                <a:schemeClr val="bg1"/>
              </a:solidFill>
              <a:latin typeface="Times New Roman" panose="02020603050405020304" pitchFamily="18" charset="0"/>
              <a:cs typeface="Times New Roman" panose="02020603050405020304" pitchFamily="18" charset="0"/>
            </a:endParaRPr>
          </a:p>
          <a:p>
            <a:pPr algn="just"/>
            <a:r>
              <a:rPr lang="en-US" sz="2500" dirty="0">
                <a:solidFill>
                  <a:schemeClr val="bg1"/>
                </a:solidFill>
                <a:latin typeface="Times New Roman" panose="02020603050405020304" pitchFamily="18" charset="0"/>
                <a:cs typeface="Times New Roman" panose="02020603050405020304" pitchFamily="18" charset="0"/>
              </a:rPr>
              <a:t>6. </a:t>
            </a:r>
            <a:r>
              <a:rPr lang="en-US" sz="2500" dirty="0">
                <a:solidFill>
                  <a:srgbClr val="FFFF00"/>
                </a:solidFill>
                <a:latin typeface="Times New Roman" panose="02020603050405020304" pitchFamily="18" charset="0"/>
                <a:cs typeface="Times New Roman" panose="02020603050405020304" pitchFamily="18" charset="0"/>
              </a:rPr>
              <a:t>Response Module: </a:t>
            </a:r>
            <a:r>
              <a:rPr lang="en-US" sz="2500" dirty="0">
                <a:solidFill>
                  <a:schemeClr val="bg1"/>
                </a:solidFill>
                <a:latin typeface="Times New Roman" panose="02020603050405020304" pitchFamily="18" charset="0"/>
                <a:cs typeface="Times New Roman" panose="02020603050405020304" pitchFamily="18" charset="0"/>
              </a:rPr>
              <a:t>Takes action such as:</a:t>
            </a:r>
          </a:p>
          <a:p>
            <a:pPr marL="342900" indent="-342900" algn="just">
              <a:buFont typeface="Wingdings" panose="05000000000000000000" pitchFamily="2" charset="2"/>
              <a:buChar char="§"/>
            </a:pPr>
            <a:r>
              <a:rPr lang="en-US" sz="2500" dirty="0" smtClean="0">
                <a:solidFill>
                  <a:schemeClr val="bg1"/>
                </a:solidFill>
                <a:latin typeface="Times New Roman" panose="02020603050405020304" pitchFamily="18" charset="0"/>
                <a:cs typeface="Times New Roman" panose="02020603050405020304" pitchFamily="18" charset="0"/>
              </a:rPr>
              <a:t>Blocking </a:t>
            </a:r>
            <a:r>
              <a:rPr lang="en-US" sz="2500" dirty="0">
                <a:solidFill>
                  <a:schemeClr val="bg1"/>
                </a:solidFill>
                <a:latin typeface="Times New Roman" panose="02020603050405020304" pitchFamily="18" charset="0"/>
                <a:cs typeface="Times New Roman" panose="02020603050405020304" pitchFamily="18" charset="0"/>
              </a:rPr>
              <a:t>file</a:t>
            </a:r>
          </a:p>
          <a:p>
            <a:pPr marL="342900" indent="-342900" algn="just">
              <a:buFont typeface="Wingdings" panose="05000000000000000000" pitchFamily="2" charset="2"/>
              <a:buChar char="§"/>
            </a:pPr>
            <a:r>
              <a:rPr lang="en-US" sz="2500" dirty="0" smtClean="0">
                <a:solidFill>
                  <a:schemeClr val="bg1"/>
                </a:solidFill>
                <a:latin typeface="Times New Roman" panose="02020603050405020304" pitchFamily="18" charset="0"/>
                <a:cs typeface="Times New Roman" panose="02020603050405020304" pitchFamily="18" charset="0"/>
              </a:rPr>
              <a:t>Alerting </a:t>
            </a:r>
            <a:r>
              <a:rPr lang="en-US" sz="2500" dirty="0">
                <a:solidFill>
                  <a:schemeClr val="bg1"/>
                </a:solidFill>
                <a:latin typeface="Times New Roman" panose="02020603050405020304" pitchFamily="18" charset="0"/>
                <a:cs typeface="Times New Roman" panose="02020603050405020304" pitchFamily="18" charset="0"/>
              </a:rPr>
              <a:t>user</a:t>
            </a:r>
          </a:p>
          <a:p>
            <a:pPr marL="342900" indent="-342900" algn="just">
              <a:buFont typeface="Wingdings" panose="05000000000000000000" pitchFamily="2" charset="2"/>
              <a:buChar char="§"/>
            </a:pPr>
            <a:r>
              <a:rPr lang="en-US" sz="2500" dirty="0" smtClean="0">
                <a:solidFill>
                  <a:schemeClr val="bg1"/>
                </a:solidFill>
                <a:latin typeface="Times New Roman" panose="02020603050405020304" pitchFamily="18" charset="0"/>
                <a:cs typeface="Times New Roman" panose="02020603050405020304" pitchFamily="18" charset="0"/>
              </a:rPr>
              <a:t>Logging </a:t>
            </a:r>
            <a:r>
              <a:rPr lang="en-US" sz="2500" dirty="0">
                <a:solidFill>
                  <a:schemeClr val="bg1"/>
                </a:solidFill>
                <a:latin typeface="Times New Roman" panose="02020603050405020304" pitchFamily="18" charset="0"/>
                <a:cs typeface="Times New Roman" panose="02020603050405020304" pitchFamily="18" charset="0"/>
              </a:rPr>
              <a:t>attack</a:t>
            </a:r>
          </a:p>
        </p:txBody>
      </p:sp>
    </p:spTree>
    <p:extLst>
      <p:ext uri="{BB962C8B-B14F-4D97-AF65-F5344CB8AC3E}">
        <p14:creationId xmlns:p14="http://schemas.microsoft.com/office/powerpoint/2010/main" val="3902394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11606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5" name="TextBox 9"/>
          <p:cNvSpPr txBox="1"/>
          <p:nvPr/>
        </p:nvSpPr>
        <p:spPr>
          <a:xfrm>
            <a:off x="38100" y="727763"/>
            <a:ext cx="18288000" cy="769441"/>
          </a:xfrm>
          <a:prstGeom prst="rect">
            <a:avLst/>
          </a:prstGeom>
        </p:spPr>
        <p:txBody>
          <a:bodyPr wrap="square" lIns="0" tIns="0" rIns="0" bIns="0" rtlCol="0" anchor="t">
            <a:spAutoFit/>
          </a:bodyPr>
          <a:lstStyle/>
          <a:p>
            <a:pPr marL="0" lvl="0" indent="0" algn="ctr"/>
            <a:r>
              <a:rPr lang="en-US" sz="5000" b="1" dirty="0" smtClean="0">
                <a:solidFill>
                  <a:srgbClr val="FFFFFF"/>
                </a:solidFill>
                <a:latin typeface="Neo Tech Bold"/>
                <a:ea typeface="Neo Tech Bold"/>
                <a:cs typeface="Neo Tech Bold"/>
                <a:sym typeface="Neo Tech Bold"/>
              </a:rPr>
              <a:t>Results and Discussions</a:t>
            </a:r>
            <a:endParaRPr lang="en-US" sz="5000" b="1" dirty="0">
              <a:solidFill>
                <a:srgbClr val="FFFFFF"/>
              </a:solidFill>
              <a:latin typeface="Neo Tech Bold"/>
              <a:ea typeface="Neo Tech Bold"/>
              <a:cs typeface="Neo Tech Bold"/>
              <a:sym typeface="Neo Tech Bold"/>
            </a:endParaRPr>
          </a:p>
        </p:txBody>
      </p:sp>
      <p:sp>
        <p:nvSpPr>
          <p:cNvPr id="6" name="TextBox 5"/>
          <p:cNvSpPr txBox="1"/>
          <p:nvPr/>
        </p:nvSpPr>
        <p:spPr>
          <a:xfrm>
            <a:off x="1905000" y="2105040"/>
            <a:ext cx="14554200" cy="2400657"/>
          </a:xfrm>
          <a:prstGeom prst="rect">
            <a:avLst/>
          </a:prstGeom>
          <a:noFill/>
        </p:spPr>
        <p:txBody>
          <a:bodyPr wrap="square" rtlCol="0">
            <a:spAutoFit/>
          </a:bodyPr>
          <a:lstStyle/>
          <a:p>
            <a:pPr algn="ctr"/>
            <a:r>
              <a:rPr lang="en-US" sz="2500" dirty="0">
                <a:solidFill>
                  <a:schemeClr val="bg1"/>
                </a:solidFill>
                <a:latin typeface="Times New Roman" panose="02020603050405020304" pitchFamily="18" charset="0"/>
                <a:cs typeface="Times New Roman" panose="02020603050405020304" pitchFamily="18" charset="0"/>
              </a:rPr>
              <a:t>The experimental results demonstrate that AI-based models outperform traditional </a:t>
            </a:r>
            <a:r>
              <a:rPr lang="en-US" sz="2500" dirty="0" smtClean="0">
                <a:solidFill>
                  <a:schemeClr val="bg1"/>
                </a:solidFill>
                <a:latin typeface="Times New Roman" panose="02020603050405020304" pitchFamily="18" charset="0"/>
                <a:cs typeface="Times New Roman" panose="02020603050405020304" pitchFamily="18" charset="0"/>
              </a:rPr>
              <a:t>methods. From Observations we notice that Deep </a:t>
            </a:r>
            <a:r>
              <a:rPr lang="en-US" sz="2500" dirty="0">
                <a:solidFill>
                  <a:schemeClr val="bg1"/>
                </a:solidFill>
                <a:latin typeface="Times New Roman" panose="02020603050405020304" pitchFamily="18" charset="0"/>
                <a:cs typeface="Times New Roman" panose="02020603050405020304" pitchFamily="18" charset="0"/>
              </a:rPr>
              <a:t>Learning models achieve higher </a:t>
            </a:r>
            <a:r>
              <a:rPr lang="en-US" sz="2500" dirty="0" smtClean="0">
                <a:solidFill>
                  <a:schemeClr val="bg1"/>
                </a:solidFill>
                <a:latin typeface="Times New Roman" panose="02020603050405020304" pitchFamily="18" charset="0"/>
                <a:cs typeface="Times New Roman" panose="02020603050405020304" pitchFamily="18" charset="0"/>
              </a:rPr>
              <a:t>accuracy than Machine Learning models. Also, Artificial Neural Network has an important role in increasing the accuracy. Hybrid </a:t>
            </a:r>
            <a:r>
              <a:rPr lang="en-US" sz="2500" dirty="0">
                <a:solidFill>
                  <a:schemeClr val="bg1"/>
                </a:solidFill>
                <a:latin typeface="Times New Roman" panose="02020603050405020304" pitchFamily="18" charset="0"/>
                <a:cs typeface="Times New Roman" panose="02020603050405020304" pitchFamily="18" charset="0"/>
              </a:rPr>
              <a:t>models reduce false </a:t>
            </a:r>
            <a:r>
              <a:rPr lang="en-US" sz="2500" dirty="0" smtClean="0">
                <a:solidFill>
                  <a:schemeClr val="bg1"/>
                </a:solidFill>
                <a:latin typeface="Times New Roman" panose="02020603050405020304" pitchFamily="18" charset="0"/>
                <a:cs typeface="Times New Roman" panose="02020603050405020304" pitchFamily="18" charset="0"/>
              </a:rPr>
              <a:t>positives and feature </a:t>
            </a:r>
            <a:r>
              <a:rPr lang="en-US" sz="2500" dirty="0">
                <a:solidFill>
                  <a:schemeClr val="bg1"/>
                </a:solidFill>
                <a:latin typeface="Times New Roman" panose="02020603050405020304" pitchFamily="18" charset="0"/>
                <a:cs typeface="Times New Roman" panose="02020603050405020304" pitchFamily="18" charset="0"/>
              </a:rPr>
              <a:t>quality significantly impacts performance. Performance is </a:t>
            </a:r>
            <a:r>
              <a:rPr lang="en-US" sz="2500" dirty="0" smtClean="0">
                <a:solidFill>
                  <a:schemeClr val="bg1"/>
                </a:solidFill>
                <a:latin typeface="Times New Roman" panose="02020603050405020304" pitchFamily="18" charset="0"/>
                <a:cs typeface="Times New Roman" panose="02020603050405020304" pitchFamily="18" charset="0"/>
              </a:rPr>
              <a:t>measured using Accuracy, Precision, Recall, F1-score, ROC-AUC and False </a:t>
            </a:r>
            <a:r>
              <a:rPr lang="en-US" sz="2500" dirty="0">
                <a:solidFill>
                  <a:schemeClr val="bg1"/>
                </a:solidFill>
                <a:latin typeface="Times New Roman" panose="02020603050405020304" pitchFamily="18" charset="0"/>
                <a:cs typeface="Times New Roman" panose="02020603050405020304" pitchFamily="18" charset="0"/>
              </a:rPr>
              <a:t>Positive </a:t>
            </a:r>
            <a:r>
              <a:rPr lang="en-US" sz="2500" dirty="0" smtClean="0">
                <a:solidFill>
                  <a:schemeClr val="bg1"/>
                </a:solidFill>
                <a:latin typeface="Times New Roman" panose="02020603050405020304" pitchFamily="18" charset="0"/>
                <a:cs typeface="Times New Roman" panose="02020603050405020304" pitchFamily="18" charset="0"/>
              </a:rPr>
              <a:t>Rate.</a:t>
            </a:r>
            <a:endParaRPr lang="en-US" sz="2500" dirty="0">
              <a:solidFill>
                <a:schemeClr val="bg1"/>
              </a:solidFill>
              <a:latin typeface="Times New Roman" panose="02020603050405020304" pitchFamily="18" charset="0"/>
              <a:cs typeface="Times New Roman" panose="02020603050405020304" pitchFamily="18" charset="0"/>
            </a:endParaRPr>
          </a:p>
          <a:p>
            <a:pPr algn="ctr"/>
            <a:endParaRPr lang="en-US" sz="2500" dirty="0">
              <a:solidFill>
                <a:schemeClr val="bg1"/>
              </a:solidFill>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231537110"/>
              </p:ext>
            </p:extLst>
          </p:nvPr>
        </p:nvGraphicFramePr>
        <p:xfrm>
          <a:off x="1905000" y="4858973"/>
          <a:ext cx="14554200" cy="3720355"/>
        </p:xfrm>
        <a:graphic>
          <a:graphicData uri="http://schemas.openxmlformats.org/drawingml/2006/table">
            <a:tbl>
              <a:tblPr firstRow="1" bandRow="1">
                <a:tableStyleId>{BDBED569-4797-4DF1-A0F4-6AAB3CD982D8}</a:tableStyleId>
              </a:tblPr>
              <a:tblGrid>
                <a:gridCol w="3638550"/>
                <a:gridCol w="3638550"/>
                <a:gridCol w="3638550"/>
                <a:gridCol w="3638550"/>
              </a:tblGrid>
              <a:tr h="744071">
                <a:tc>
                  <a:txBody>
                    <a:bodyPr/>
                    <a:lstStyle/>
                    <a:p>
                      <a:pPr marL="0" marR="0" algn="ctr">
                        <a:lnSpc>
                          <a:spcPct val="115000"/>
                        </a:lnSpc>
                        <a:spcBef>
                          <a:spcPts val="0"/>
                        </a:spcBef>
                        <a:spcAft>
                          <a:spcPts val="0"/>
                        </a:spcAft>
                      </a:pPr>
                      <a:r>
                        <a:rPr lang="en-US" sz="2500" b="1" dirty="0" smtClean="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Method</a:t>
                      </a:r>
                      <a:endParaRPr lang="en-US" sz="2500" dirty="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b="1" dirty="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Accuracy</a:t>
                      </a:r>
                      <a:endParaRPr lang="en-US" sz="2500" dirty="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b="1" dirty="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Advantages</a:t>
                      </a:r>
                      <a:endParaRPr lang="en-US" sz="2500" dirty="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b="1" dirty="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Limitations</a:t>
                      </a:r>
                      <a:endParaRPr lang="en-US" sz="2500" dirty="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r>
              <a:tr h="744071">
                <a:tc>
                  <a:txBody>
                    <a:bodyPr/>
                    <a:lstStyle/>
                    <a:p>
                      <a:pPr marL="0" marR="0" algn="ctr">
                        <a:lnSpc>
                          <a:spcPct val="115000"/>
                        </a:lnSpc>
                        <a:spcBef>
                          <a:spcPts val="0"/>
                        </a:spcBef>
                        <a:spcAft>
                          <a:spcPts val="0"/>
                        </a:spcAft>
                      </a:pPr>
                      <a:r>
                        <a:rPr lang="en-US" sz="250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Signature-Based</a:t>
                      </a:r>
                      <a:endParaRPr lang="en-US" sz="250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dirty="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Low</a:t>
                      </a:r>
                      <a:endParaRPr lang="en-US" sz="2500" dirty="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Fast</a:t>
                      </a:r>
                      <a:endParaRPr lang="en-US" sz="250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Cannot detect new malware</a:t>
                      </a:r>
                      <a:endParaRPr lang="en-US" sz="250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r>
              <a:tr h="744071">
                <a:tc>
                  <a:txBody>
                    <a:bodyPr/>
                    <a:lstStyle/>
                    <a:p>
                      <a:pPr marL="0" marR="0" algn="ctr">
                        <a:lnSpc>
                          <a:spcPct val="115000"/>
                        </a:lnSpc>
                        <a:spcBef>
                          <a:spcPts val="0"/>
                        </a:spcBef>
                        <a:spcAft>
                          <a:spcPts val="0"/>
                        </a:spcAft>
                      </a:pPr>
                      <a:r>
                        <a:rPr lang="en-US" sz="250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Machine Learning</a:t>
                      </a:r>
                      <a:endParaRPr lang="en-US" sz="250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dirty="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Medium</a:t>
                      </a:r>
                      <a:endParaRPr lang="en-US" sz="2500" dirty="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dirty="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Detects unknown threats</a:t>
                      </a:r>
                      <a:endParaRPr lang="en-US" sz="2500" dirty="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Feature dependent</a:t>
                      </a:r>
                      <a:endParaRPr lang="en-US" sz="250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r>
              <a:tr h="744071">
                <a:tc>
                  <a:txBody>
                    <a:bodyPr/>
                    <a:lstStyle/>
                    <a:p>
                      <a:pPr marL="0" marR="0" algn="ctr">
                        <a:lnSpc>
                          <a:spcPct val="115000"/>
                        </a:lnSpc>
                        <a:spcBef>
                          <a:spcPts val="0"/>
                        </a:spcBef>
                        <a:spcAft>
                          <a:spcPts val="0"/>
                        </a:spcAft>
                      </a:pPr>
                      <a:r>
                        <a:rPr lang="en-US" sz="250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Deep Learning</a:t>
                      </a:r>
                      <a:endParaRPr lang="en-US" sz="250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dirty="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High</a:t>
                      </a:r>
                      <a:endParaRPr lang="en-US" sz="2500" dirty="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Automatic feature learning</a:t>
                      </a:r>
                      <a:endParaRPr lang="en-US" sz="250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High computation cost</a:t>
                      </a:r>
                      <a:endParaRPr lang="en-US" sz="250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r>
              <a:tr h="744071">
                <a:tc>
                  <a:txBody>
                    <a:bodyPr/>
                    <a:lstStyle/>
                    <a:p>
                      <a:pPr marL="0" marR="0" algn="ctr">
                        <a:lnSpc>
                          <a:spcPct val="115000"/>
                        </a:lnSpc>
                        <a:spcBef>
                          <a:spcPts val="0"/>
                        </a:spcBef>
                        <a:spcAft>
                          <a:spcPts val="0"/>
                        </a:spcAft>
                      </a:pPr>
                      <a:r>
                        <a:rPr lang="en-US" sz="250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Hybrid Approach</a:t>
                      </a:r>
                      <a:endParaRPr lang="en-US" sz="250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dirty="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Very High</a:t>
                      </a:r>
                      <a:endParaRPr lang="en-US" sz="2500" dirty="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Best performance</a:t>
                      </a:r>
                      <a:endParaRPr lang="en-US" sz="250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c>
                  <a:txBody>
                    <a:bodyPr/>
                    <a:lstStyle/>
                    <a:p>
                      <a:pPr marL="0" marR="0" algn="ctr">
                        <a:lnSpc>
                          <a:spcPct val="115000"/>
                        </a:lnSpc>
                        <a:spcBef>
                          <a:spcPts val="0"/>
                        </a:spcBef>
                        <a:spcAft>
                          <a:spcPts val="0"/>
                        </a:spcAft>
                      </a:pPr>
                      <a:r>
                        <a:rPr lang="en-US" sz="2500" dirty="0">
                          <a:solidFill>
                            <a:schemeClr val="bg1"/>
                          </a:solidFill>
                          <a:effectLst/>
                          <a:latin typeface="Times New Roman" panose="02020603050405020304" pitchFamily="18" charset="0"/>
                          <a:ea typeface="Times New Roman" panose="02020603050405020304" pitchFamily="18" charset="0"/>
                          <a:cs typeface="Vrinda" panose="020B0502040204020203" pitchFamily="34" charset="0"/>
                        </a:rPr>
                        <a:t>Complex implementation</a:t>
                      </a:r>
                      <a:endParaRPr lang="en-US" sz="2500" dirty="0">
                        <a:solidFill>
                          <a:schemeClr val="bg1"/>
                        </a:solidFill>
                        <a:effectLst/>
                        <a:latin typeface="Cambria" panose="02040503050406030204" pitchFamily="18" charset="0"/>
                        <a:ea typeface="MS Mincho"/>
                        <a:cs typeface="Vrinda" panose="020B0502040204020203" pitchFamily="34" charset="0"/>
                      </a:endParaRPr>
                    </a:p>
                  </a:txBody>
                  <a:tcPr marL="9525" marR="9525" marT="9525" marB="9525" anchor="ctr"/>
                </a:tc>
              </a:tr>
            </a:tbl>
          </a:graphicData>
        </a:graphic>
      </p:graphicFrame>
      <p:sp>
        <p:nvSpPr>
          <p:cNvPr id="8" name="TextBox 7"/>
          <p:cNvSpPr txBox="1"/>
          <p:nvPr/>
        </p:nvSpPr>
        <p:spPr>
          <a:xfrm>
            <a:off x="2034120" y="8782305"/>
            <a:ext cx="14425080" cy="498855"/>
          </a:xfrm>
          <a:prstGeom prst="rect">
            <a:avLst/>
          </a:prstGeom>
          <a:noFill/>
        </p:spPr>
        <p:txBody>
          <a:bodyPr wrap="square" rtlCol="0">
            <a:spAutoFit/>
          </a:bodyPr>
          <a:lstStyle/>
          <a:p>
            <a:pPr algn="ctr">
              <a:lnSpc>
                <a:spcPct val="115000"/>
              </a:lnSpc>
              <a:spcAft>
                <a:spcPts val="1000"/>
              </a:spcAft>
            </a:pPr>
            <a:r>
              <a:rPr lang="en-US" sz="2500" b="1" dirty="0">
                <a:solidFill>
                  <a:schemeClr val="bg1"/>
                </a:solidFill>
                <a:latin typeface="Times New Roman" panose="02020603050405020304" pitchFamily="18" charset="0"/>
                <a:ea typeface="Times New Roman" panose="02020603050405020304" pitchFamily="18" charset="0"/>
                <a:cs typeface="Vrinda" panose="020B0502040204020203" pitchFamily="34" charset="0"/>
              </a:rPr>
              <a:t>Table 3</a:t>
            </a:r>
            <a:r>
              <a:rPr lang="en-US" sz="2500" b="1" dirty="0" smtClean="0">
                <a:solidFill>
                  <a:schemeClr val="bg1"/>
                </a:solidFill>
                <a:latin typeface="Times New Roman" panose="02020603050405020304" pitchFamily="18" charset="0"/>
                <a:ea typeface="Times New Roman" panose="02020603050405020304" pitchFamily="18" charset="0"/>
                <a:cs typeface="Vrinda" panose="020B0502040204020203" pitchFamily="34" charset="0"/>
              </a:rPr>
              <a:t>: </a:t>
            </a:r>
            <a:r>
              <a:rPr lang="en-US" sz="2500" b="1" dirty="0">
                <a:solidFill>
                  <a:schemeClr val="bg1"/>
                </a:solidFill>
                <a:latin typeface="Times New Roman" panose="02020603050405020304" pitchFamily="18" charset="0"/>
                <a:ea typeface="Times New Roman" panose="02020603050405020304" pitchFamily="18" charset="0"/>
                <a:cs typeface="Vrinda" panose="020B0502040204020203" pitchFamily="34" charset="0"/>
              </a:rPr>
              <a:t>Comparative Analysis of the </a:t>
            </a:r>
            <a:r>
              <a:rPr lang="en-US" sz="2500" b="1" dirty="0" smtClean="0">
                <a:solidFill>
                  <a:schemeClr val="bg1"/>
                </a:solidFill>
                <a:latin typeface="Times New Roman" panose="02020603050405020304" pitchFamily="18" charset="0"/>
                <a:ea typeface="Times New Roman" panose="02020603050405020304" pitchFamily="18" charset="0"/>
                <a:cs typeface="Vrinda" panose="020B0502040204020203" pitchFamily="34" charset="0"/>
              </a:rPr>
              <a:t>Methods</a:t>
            </a:r>
            <a:endParaRPr lang="en-US" sz="2500" dirty="0">
              <a:solidFill>
                <a:schemeClr val="bg1"/>
              </a:solidFill>
              <a:effectLst/>
              <a:latin typeface="Cambria" panose="02040503050406030204" pitchFamily="18" charset="0"/>
              <a:ea typeface="MS Mincho"/>
              <a:cs typeface="Vrinda" panose="020B0502040204020203" pitchFamily="34" charset="0"/>
            </a:endParaRPr>
          </a:p>
        </p:txBody>
      </p:sp>
    </p:spTree>
    <p:extLst>
      <p:ext uri="{BB962C8B-B14F-4D97-AF65-F5344CB8AC3E}">
        <p14:creationId xmlns:p14="http://schemas.microsoft.com/office/powerpoint/2010/main" val="3182332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11606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pic>
        <p:nvPicPr>
          <p:cNvPr id="5" name="Picture 4"/>
          <p:cNvPicPr>
            <a:picLocks noChangeAspect="1"/>
          </p:cNvPicPr>
          <p:nvPr/>
        </p:nvPicPr>
        <p:blipFill>
          <a:blip r:embed="rId5"/>
          <a:stretch>
            <a:fillRect/>
          </a:stretch>
        </p:blipFill>
        <p:spPr>
          <a:xfrm>
            <a:off x="2209800" y="1181100"/>
            <a:ext cx="14020800" cy="7494969"/>
          </a:xfrm>
          <a:prstGeom prst="rect">
            <a:avLst/>
          </a:prstGeom>
        </p:spPr>
      </p:pic>
      <p:sp>
        <p:nvSpPr>
          <p:cNvPr id="7" name="TextBox 6"/>
          <p:cNvSpPr txBox="1"/>
          <p:nvPr/>
        </p:nvSpPr>
        <p:spPr>
          <a:xfrm>
            <a:off x="2209800" y="8804052"/>
            <a:ext cx="14020800" cy="477054"/>
          </a:xfrm>
          <a:prstGeom prst="rect">
            <a:avLst/>
          </a:prstGeom>
          <a:noFill/>
        </p:spPr>
        <p:txBody>
          <a:bodyPr wrap="square" rtlCol="0">
            <a:spAutoFit/>
          </a:bodyPr>
          <a:lstStyle/>
          <a:p>
            <a:pPr algn="ctr"/>
            <a:r>
              <a:rPr lang="en-US" sz="2500" dirty="0" smtClean="0">
                <a:solidFill>
                  <a:schemeClr val="bg1"/>
                </a:solidFill>
                <a:latin typeface="Times New Roman" panose="02020603050405020304" pitchFamily="18" charset="0"/>
                <a:cs typeface="Times New Roman" panose="02020603050405020304" pitchFamily="18" charset="0"/>
              </a:rPr>
              <a:t>Figure 6: Comparative Analysis of Methods(Multi-criteria)</a:t>
            </a:r>
            <a:endParaRPr lang="en-US" sz="25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4841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11606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5" name="Freeform 5"/>
          <p:cNvSpPr/>
          <p:nvPr/>
        </p:nvSpPr>
        <p:spPr>
          <a:xfrm>
            <a:off x="12736102" y="4861268"/>
            <a:ext cx="3530384" cy="2490526"/>
          </a:xfrm>
          <a:custGeom>
            <a:avLst/>
            <a:gdLst/>
            <a:ahLst/>
            <a:cxnLst/>
            <a:rect l="l" t="t" r="r" b="b"/>
            <a:pathLst>
              <a:path w="3530384" h="2490526">
                <a:moveTo>
                  <a:pt x="0" y="0"/>
                </a:moveTo>
                <a:lnTo>
                  <a:pt x="3530385" y="0"/>
                </a:lnTo>
                <a:lnTo>
                  <a:pt x="3530385" y="2490526"/>
                </a:lnTo>
                <a:lnTo>
                  <a:pt x="0" y="2490526"/>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7224576" y="3960277"/>
            <a:ext cx="3425219" cy="3391517"/>
          </a:xfrm>
          <a:custGeom>
            <a:avLst/>
            <a:gdLst/>
            <a:ahLst/>
            <a:cxnLst/>
            <a:rect l="l" t="t" r="r" b="b"/>
            <a:pathLst>
              <a:path w="2586636" h="3385650">
                <a:moveTo>
                  <a:pt x="0" y="0"/>
                </a:moveTo>
                <a:lnTo>
                  <a:pt x="2586636" y="0"/>
                </a:lnTo>
                <a:lnTo>
                  <a:pt x="2586636" y="3385649"/>
                </a:lnTo>
                <a:lnTo>
                  <a:pt x="0" y="3385649"/>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7" name="Freeform 7"/>
          <p:cNvSpPr/>
          <p:nvPr/>
        </p:nvSpPr>
        <p:spPr>
          <a:xfrm>
            <a:off x="2029282" y="4307812"/>
            <a:ext cx="3108988" cy="3043982"/>
          </a:xfrm>
          <a:custGeom>
            <a:avLst/>
            <a:gdLst/>
            <a:ahLst/>
            <a:cxnLst/>
            <a:rect l="l" t="t" r="r" b="b"/>
            <a:pathLst>
              <a:path w="3227977" h="3043982">
                <a:moveTo>
                  <a:pt x="0" y="0"/>
                </a:moveTo>
                <a:lnTo>
                  <a:pt x="3227977" y="0"/>
                </a:lnTo>
                <a:lnTo>
                  <a:pt x="3227977" y="3043982"/>
                </a:lnTo>
                <a:lnTo>
                  <a:pt x="0" y="3043982"/>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8" name="TextBox 8"/>
          <p:cNvSpPr txBox="1"/>
          <p:nvPr/>
        </p:nvSpPr>
        <p:spPr>
          <a:xfrm>
            <a:off x="0" y="1157800"/>
            <a:ext cx="18288000" cy="769441"/>
          </a:xfrm>
          <a:prstGeom prst="rect">
            <a:avLst/>
          </a:prstGeom>
        </p:spPr>
        <p:txBody>
          <a:bodyPr wrap="square" lIns="0" tIns="0" rIns="0" bIns="0" rtlCol="0" anchor="t">
            <a:spAutoFit/>
          </a:bodyPr>
          <a:lstStyle/>
          <a:p>
            <a:pPr marL="0" lvl="0" indent="0" algn="ctr"/>
            <a:r>
              <a:rPr lang="en-US" sz="5000" b="1" dirty="0" smtClean="0">
                <a:solidFill>
                  <a:srgbClr val="FFFFFF"/>
                </a:solidFill>
                <a:latin typeface="Neo Tech Bold"/>
                <a:ea typeface="Neo Tech Bold"/>
                <a:cs typeface="Neo Tech Bold"/>
                <a:sym typeface="Neo Tech Bold"/>
              </a:rPr>
              <a:t>Case Study</a:t>
            </a:r>
            <a:endParaRPr lang="en-US" sz="5000" b="1" dirty="0">
              <a:solidFill>
                <a:srgbClr val="FFFFFF"/>
              </a:solidFill>
              <a:latin typeface="Neo Tech Bold"/>
              <a:ea typeface="Neo Tech Bold"/>
              <a:cs typeface="Neo Tech Bold"/>
              <a:sym typeface="Neo Tech Bold"/>
            </a:endParaRPr>
          </a:p>
        </p:txBody>
      </p:sp>
      <p:sp>
        <p:nvSpPr>
          <p:cNvPr id="9" name="TextBox 9"/>
          <p:cNvSpPr txBox="1"/>
          <p:nvPr/>
        </p:nvSpPr>
        <p:spPr>
          <a:xfrm>
            <a:off x="2029281" y="7699329"/>
            <a:ext cx="3130587" cy="718145"/>
          </a:xfrm>
          <a:prstGeom prst="rect">
            <a:avLst/>
          </a:prstGeom>
        </p:spPr>
        <p:txBody>
          <a:bodyPr wrap="square" lIns="0" tIns="0" rIns="0" bIns="0" rtlCol="0" anchor="t">
            <a:spAutoFit/>
          </a:bodyPr>
          <a:lstStyle/>
          <a:p>
            <a:pPr marL="0" lvl="0" indent="0" algn="ctr">
              <a:lnSpc>
                <a:spcPts val="2799"/>
              </a:lnSpc>
              <a:spcBef>
                <a:spcPct val="0"/>
              </a:spcBef>
            </a:pPr>
            <a:r>
              <a:rPr lang="en-US" sz="2100" b="1" dirty="0" smtClean="0">
                <a:solidFill>
                  <a:srgbClr val="FFFFFF"/>
                </a:solidFill>
                <a:latin typeface="Times New Roman" panose="02020603050405020304" pitchFamily="18" charset="0"/>
                <a:ea typeface="Neo Tech Bold"/>
                <a:cs typeface="Times New Roman" panose="02020603050405020304" pitchFamily="18" charset="0"/>
                <a:sym typeface="Neo Tech Bold"/>
              </a:rPr>
              <a:t>Detecting ransom-ware using AI-based models</a:t>
            </a:r>
            <a:endParaRPr lang="en-US" sz="2100" b="1" dirty="0">
              <a:solidFill>
                <a:srgbClr val="FFFFFF"/>
              </a:solidFill>
              <a:latin typeface="Times New Roman" panose="02020603050405020304" pitchFamily="18" charset="0"/>
              <a:ea typeface="Neo Tech Bold"/>
              <a:cs typeface="Times New Roman" panose="02020603050405020304" pitchFamily="18" charset="0"/>
              <a:sym typeface="Neo Tech Bold"/>
            </a:endParaRPr>
          </a:p>
        </p:txBody>
      </p:sp>
      <p:sp>
        <p:nvSpPr>
          <p:cNvPr id="10" name="TextBox 10"/>
          <p:cNvSpPr txBox="1"/>
          <p:nvPr/>
        </p:nvSpPr>
        <p:spPr>
          <a:xfrm>
            <a:off x="7224576" y="7699329"/>
            <a:ext cx="3446817" cy="1077218"/>
          </a:xfrm>
          <a:prstGeom prst="rect">
            <a:avLst/>
          </a:prstGeom>
        </p:spPr>
        <p:txBody>
          <a:bodyPr wrap="square" lIns="0" tIns="0" rIns="0" bIns="0" rtlCol="0" anchor="t">
            <a:spAutoFit/>
          </a:bodyPr>
          <a:lstStyle/>
          <a:p>
            <a:pPr marL="0" lvl="0" indent="0" algn="ctr">
              <a:lnSpc>
                <a:spcPts val="2799"/>
              </a:lnSpc>
              <a:spcBef>
                <a:spcPct val="0"/>
              </a:spcBef>
            </a:pPr>
            <a:r>
              <a:rPr lang="en-US" sz="2100" b="1" dirty="0" smtClean="0">
                <a:solidFill>
                  <a:srgbClr val="FFFFFF"/>
                </a:solidFill>
                <a:latin typeface="Times New Roman" panose="02020603050405020304" pitchFamily="18" charset="0"/>
                <a:ea typeface="Neo Tech Bold"/>
                <a:cs typeface="Times New Roman" panose="02020603050405020304" pitchFamily="18" charset="0"/>
                <a:sym typeface="Neo Tech Bold"/>
              </a:rPr>
              <a:t>Dataset collected, feature extracted, model trained using supervised learning</a:t>
            </a:r>
            <a:endParaRPr lang="en-US" sz="2100" b="1" dirty="0">
              <a:solidFill>
                <a:srgbClr val="FFFFFF"/>
              </a:solidFill>
              <a:latin typeface="Times New Roman" panose="02020603050405020304" pitchFamily="18" charset="0"/>
              <a:ea typeface="Neo Tech Bold"/>
              <a:cs typeface="Times New Roman" panose="02020603050405020304" pitchFamily="18" charset="0"/>
              <a:sym typeface="Neo Tech Bold"/>
            </a:endParaRPr>
          </a:p>
        </p:txBody>
      </p:sp>
      <p:sp>
        <p:nvSpPr>
          <p:cNvPr id="11" name="TextBox 11"/>
          <p:cNvSpPr txBox="1"/>
          <p:nvPr/>
        </p:nvSpPr>
        <p:spPr>
          <a:xfrm>
            <a:off x="12692906" y="7699328"/>
            <a:ext cx="3573580" cy="718145"/>
          </a:xfrm>
          <a:prstGeom prst="rect">
            <a:avLst/>
          </a:prstGeom>
        </p:spPr>
        <p:txBody>
          <a:bodyPr wrap="square" lIns="0" tIns="0" rIns="0" bIns="0" rtlCol="0" anchor="t">
            <a:spAutoFit/>
          </a:bodyPr>
          <a:lstStyle/>
          <a:p>
            <a:pPr marL="0" lvl="0" indent="0" algn="ctr">
              <a:lnSpc>
                <a:spcPts val="2799"/>
              </a:lnSpc>
              <a:spcBef>
                <a:spcPct val="0"/>
              </a:spcBef>
            </a:pPr>
            <a:r>
              <a:rPr lang="en-US" sz="2100" b="1" dirty="0" smtClean="0">
                <a:solidFill>
                  <a:srgbClr val="FFFFFF"/>
                </a:solidFill>
                <a:latin typeface="Times New Roman" panose="02020603050405020304" pitchFamily="18" charset="0"/>
                <a:ea typeface="Neo Tech Bold"/>
                <a:cs typeface="Times New Roman" panose="02020603050405020304" pitchFamily="18" charset="0"/>
                <a:sym typeface="Neo Tech Bold"/>
              </a:rPr>
              <a:t>Accuracy improved, Data encryption was prevented </a:t>
            </a:r>
            <a:endParaRPr lang="en-US" sz="2100" b="1" dirty="0">
              <a:solidFill>
                <a:srgbClr val="FFFFFF"/>
              </a:solidFill>
              <a:latin typeface="Times New Roman" panose="02020603050405020304" pitchFamily="18" charset="0"/>
              <a:ea typeface="Neo Tech Bold"/>
              <a:cs typeface="Times New Roman" panose="02020603050405020304" pitchFamily="18" charset="0"/>
              <a:sym typeface="Neo Tech Bold"/>
            </a:endParaRPr>
          </a:p>
        </p:txBody>
      </p:sp>
      <p:sp>
        <p:nvSpPr>
          <p:cNvPr id="14" name="TextBox 8"/>
          <p:cNvSpPr txBox="1"/>
          <p:nvPr/>
        </p:nvSpPr>
        <p:spPr>
          <a:xfrm>
            <a:off x="2029281" y="3097039"/>
            <a:ext cx="3444292" cy="538609"/>
          </a:xfrm>
          <a:prstGeom prst="rect">
            <a:avLst/>
          </a:prstGeom>
        </p:spPr>
        <p:txBody>
          <a:bodyPr wrap="square" lIns="0" tIns="0" rIns="0" bIns="0" rtlCol="0" anchor="t">
            <a:spAutoFit/>
          </a:bodyPr>
          <a:lstStyle/>
          <a:p>
            <a:pPr marL="0" lvl="0" indent="0" algn="ctr"/>
            <a:r>
              <a:rPr lang="en-US" sz="3500" b="1" dirty="0" smtClean="0">
                <a:solidFill>
                  <a:srgbClr val="FFFF00"/>
                </a:solidFill>
                <a:latin typeface="Times New Roman" panose="02020603050405020304" pitchFamily="18" charset="0"/>
                <a:ea typeface="Neo Tech Bold"/>
                <a:cs typeface="Times New Roman" panose="02020603050405020304" pitchFamily="18" charset="0"/>
                <a:sym typeface="Neo Tech Bold"/>
              </a:rPr>
              <a:t>Topic</a:t>
            </a:r>
            <a:endParaRPr lang="en-US" sz="3500" b="1" dirty="0">
              <a:solidFill>
                <a:srgbClr val="FFFF00"/>
              </a:solidFill>
              <a:latin typeface="Times New Roman" panose="02020603050405020304" pitchFamily="18" charset="0"/>
              <a:ea typeface="Neo Tech Bold"/>
              <a:cs typeface="Times New Roman" panose="02020603050405020304" pitchFamily="18" charset="0"/>
              <a:sym typeface="Neo Tech Bold"/>
            </a:endParaRPr>
          </a:p>
        </p:txBody>
      </p:sp>
      <p:sp>
        <p:nvSpPr>
          <p:cNvPr id="15" name="TextBox 8"/>
          <p:cNvSpPr txBox="1"/>
          <p:nvPr/>
        </p:nvSpPr>
        <p:spPr>
          <a:xfrm>
            <a:off x="7545900" y="3097039"/>
            <a:ext cx="2804167" cy="538609"/>
          </a:xfrm>
          <a:prstGeom prst="rect">
            <a:avLst/>
          </a:prstGeom>
        </p:spPr>
        <p:txBody>
          <a:bodyPr wrap="square" lIns="0" tIns="0" rIns="0" bIns="0" rtlCol="0" anchor="t">
            <a:spAutoFit/>
          </a:bodyPr>
          <a:lstStyle/>
          <a:p>
            <a:pPr marL="0" lvl="0" indent="0" algn="ctr"/>
            <a:r>
              <a:rPr lang="en-US" sz="3500" b="1" dirty="0" smtClean="0">
                <a:solidFill>
                  <a:srgbClr val="FFFF00"/>
                </a:solidFill>
                <a:latin typeface="Times New Roman" panose="02020603050405020304" pitchFamily="18" charset="0"/>
                <a:ea typeface="Neo Tech Bold"/>
                <a:cs typeface="Times New Roman" panose="02020603050405020304" pitchFamily="18" charset="0"/>
                <a:sym typeface="Neo Tech Bold"/>
              </a:rPr>
              <a:t>Process</a:t>
            </a:r>
            <a:endParaRPr lang="en-US" sz="3500" b="1" dirty="0">
              <a:solidFill>
                <a:srgbClr val="FFFF00"/>
              </a:solidFill>
              <a:latin typeface="Times New Roman" panose="02020603050405020304" pitchFamily="18" charset="0"/>
              <a:ea typeface="Neo Tech Bold"/>
              <a:cs typeface="Times New Roman" panose="02020603050405020304" pitchFamily="18" charset="0"/>
              <a:sym typeface="Neo Tech Bold"/>
            </a:endParaRPr>
          </a:p>
        </p:txBody>
      </p:sp>
      <p:sp>
        <p:nvSpPr>
          <p:cNvPr id="16" name="TextBox 8"/>
          <p:cNvSpPr txBox="1"/>
          <p:nvPr/>
        </p:nvSpPr>
        <p:spPr>
          <a:xfrm>
            <a:off x="12751342" y="3084057"/>
            <a:ext cx="3471949" cy="555106"/>
          </a:xfrm>
          <a:prstGeom prst="rect">
            <a:avLst/>
          </a:prstGeom>
        </p:spPr>
        <p:txBody>
          <a:bodyPr wrap="square" lIns="0" tIns="0" rIns="0" bIns="0" rtlCol="0" anchor="t">
            <a:spAutoFit/>
          </a:bodyPr>
          <a:lstStyle/>
          <a:p>
            <a:pPr marL="0" lvl="0" indent="0" algn="ctr"/>
            <a:r>
              <a:rPr lang="en-US" sz="3500" b="1" dirty="0" smtClean="0">
                <a:solidFill>
                  <a:srgbClr val="FFFF00"/>
                </a:solidFill>
                <a:latin typeface="Times New Roman" panose="02020603050405020304" pitchFamily="18" charset="0"/>
                <a:ea typeface="Neo Tech Bold"/>
                <a:cs typeface="Times New Roman" panose="02020603050405020304" pitchFamily="18" charset="0"/>
                <a:sym typeface="Neo Tech Bold"/>
              </a:rPr>
              <a:t>Outcome</a:t>
            </a:r>
            <a:endParaRPr lang="en-US" sz="3500" b="1" dirty="0">
              <a:solidFill>
                <a:srgbClr val="FFFF00"/>
              </a:solidFill>
              <a:latin typeface="Times New Roman" panose="02020603050405020304" pitchFamily="18" charset="0"/>
              <a:ea typeface="Neo Tech Bold"/>
              <a:cs typeface="Times New Roman" panose="02020603050405020304" pitchFamily="18" charset="0"/>
              <a:sym typeface="Neo Tech Bold"/>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11606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6" name="TextBox 6"/>
          <p:cNvSpPr txBox="1"/>
          <p:nvPr/>
        </p:nvSpPr>
        <p:spPr>
          <a:xfrm>
            <a:off x="1632271" y="1037946"/>
            <a:ext cx="7511729" cy="692497"/>
          </a:xfrm>
          <a:prstGeom prst="rect">
            <a:avLst/>
          </a:prstGeom>
        </p:spPr>
        <p:txBody>
          <a:bodyPr wrap="square" lIns="0" tIns="0" rIns="0" bIns="0" rtlCol="0" anchor="t">
            <a:spAutoFit/>
          </a:bodyPr>
          <a:lstStyle/>
          <a:p>
            <a:pPr lvl="0"/>
            <a:r>
              <a:rPr lang="en-US" sz="4500" b="1" dirty="0">
                <a:solidFill>
                  <a:srgbClr val="FFFFFF"/>
                </a:solidFill>
                <a:latin typeface="Neo Tech Bold"/>
                <a:ea typeface="Neo Tech Bold"/>
                <a:cs typeface="Neo Tech Bold"/>
                <a:sym typeface="Neo Tech Bold"/>
              </a:rPr>
              <a:t>Limitations </a:t>
            </a:r>
            <a:r>
              <a:rPr lang="en-US" sz="4500" b="1" dirty="0" smtClean="0">
                <a:solidFill>
                  <a:srgbClr val="FFFFFF"/>
                </a:solidFill>
                <a:latin typeface="Neo Tech Bold"/>
                <a:ea typeface="Neo Tech Bold"/>
                <a:cs typeface="Neo Tech Bold"/>
                <a:sym typeface="Neo Tech Bold"/>
              </a:rPr>
              <a:t>&amp; Challenges</a:t>
            </a:r>
            <a:endParaRPr lang="en-US" sz="4500" b="1" dirty="0">
              <a:solidFill>
                <a:srgbClr val="FFFFFF"/>
              </a:solidFill>
              <a:latin typeface="Neo Tech Bold"/>
              <a:ea typeface="Neo Tech Bold"/>
              <a:cs typeface="Neo Tech Bold"/>
              <a:sym typeface="Neo Tech Bold"/>
            </a:endParaRPr>
          </a:p>
        </p:txBody>
      </p:sp>
      <p:sp>
        <p:nvSpPr>
          <p:cNvPr id="14" name="Hexagon 13"/>
          <p:cNvSpPr/>
          <p:nvPr/>
        </p:nvSpPr>
        <p:spPr>
          <a:xfrm>
            <a:off x="2743200" y="2488677"/>
            <a:ext cx="4602480" cy="727197"/>
          </a:xfrm>
          <a:prstGeom prst="hexagon">
            <a:avLst/>
          </a:prstGeom>
          <a:solidFill>
            <a:srgbClr val="00206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anose="02020603050405020304" pitchFamily="18" charset="0"/>
                <a:cs typeface="Times New Roman" panose="02020603050405020304" pitchFamily="18" charset="0"/>
              </a:rPr>
              <a:t>Data imbalance </a:t>
            </a:r>
          </a:p>
        </p:txBody>
      </p:sp>
      <p:sp>
        <p:nvSpPr>
          <p:cNvPr id="16" name="Hexagon 15"/>
          <p:cNvSpPr/>
          <p:nvPr/>
        </p:nvSpPr>
        <p:spPr>
          <a:xfrm>
            <a:off x="2773680" y="4771526"/>
            <a:ext cx="4572000" cy="728505"/>
          </a:xfrm>
          <a:prstGeom prst="hexagon">
            <a:avLst/>
          </a:prstGeom>
          <a:solidFill>
            <a:srgbClr val="00206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anose="02020603050405020304" pitchFamily="18" charset="0"/>
                <a:cs typeface="Times New Roman" panose="02020603050405020304" pitchFamily="18" charset="0"/>
              </a:rPr>
              <a:t>High computational cost</a:t>
            </a:r>
          </a:p>
        </p:txBody>
      </p:sp>
      <p:sp>
        <p:nvSpPr>
          <p:cNvPr id="17" name="Hexagon 16"/>
          <p:cNvSpPr/>
          <p:nvPr/>
        </p:nvSpPr>
        <p:spPr>
          <a:xfrm>
            <a:off x="2743200" y="7058065"/>
            <a:ext cx="4602480" cy="728505"/>
          </a:xfrm>
          <a:prstGeom prst="hexagon">
            <a:avLst/>
          </a:prstGeom>
          <a:solidFill>
            <a:srgbClr val="00206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anose="02020603050405020304" pitchFamily="18" charset="0"/>
                <a:cs typeface="Times New Roman" panose="02020603050405020304" pitchFamily="18" charset="0"/>
              </a:rPr>
              <a:t>Limited dataset availability</a:t>
            </a:r>
          </a:p>
        </p:txBody>
      </p:sp>
      <p:sp>
        <p:nvSpPr>
          <p:cNvPr id="18" name="Hexagon 17"/>
          <p:cNvSpPr/>
          <p:nvPr/>
        </p:nvSpPr>
        <p:spPr>
          <a:xfrm>
            <a:off x="2743200" y="8200525"/>
            <a:ext cx="4602480" cy="752975"/>
          </a:xfrm>
          <a:prstGeom prst="hexagon">
            <a:avLst/>
          </a:prstGeom>
          <a:solidFill>
            <a:srgbClr val="00206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anose="02020603050405020304" pitchFamily="18" charset="0"/>
                <a:cs typeface="Times New Roman" panose="02020603050405020304" pitchFamily="18" charset="0"/>
              </a:rPr>
              <a:t>High computational requirements</a:t>
            </a:r>
          </a:p>
        </p:txBody>
      </p:sp>
      <p:sp>
        <p:nvSpPr>
          <p:cNvPr id="19" name="Hexagon 18"/>
          <p:cNvSpPr/>
          <p:nvPr/>
        </p:nvSpPr>
        <p:spPr>
          <a:xfrm>
            <a:off x="2743200" y="3628101"/>
            <a:ext cx="4602480" cy="727197"/>
          </a:xfrm>
          <a:prstGeom prst="hexagon">
            <a:avLst/>
          </a:prstGeom>
          <a:solidFill>
            <a:srgbClr val="00206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anose="02020603050405020304" pitchFamily="18" charset="0"/>
                <a:cs typeface="Times New Roman" panose="02020603050405020304" pitchFamily="18" charset="0"/>
              </a:rPr>
              <a:t>Model generalization issues</a:t>
            </a:r>
          </a:p>
        </p:txBody>
      </p:sp>
      <p:sp>
        <p:nvSpPr>
          <p:cNvPr id="20" name="Hexagon 19"/>
          <p:cNvSpPr/>
          <p:nvPr/>
        </p:nvSpPr>
        <p:spPr>
          <a:xfrm>
            <a:off x="2773680" y="5913332"/>
            <a:ext cx="4572000" cy="728505"/>
          </a:xfrm>
          <a:prstGeom prst="hexagon">
            <a:avLst/>
          </a:prstGeom>
          <a:solidFill>
            <a:srgbClr val="00206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2519"/>
              </a:lnSpc>
              <a:spcBef>
                <a:spcPct val="0"/>
              </a:spcBef>
            </a:pPr>
            <a:r>
              <a:rPr lang="en-US" sz="2000" dirty="0">
                <a:solidFill>
                  <a:srgbClr val="FFFFFF"/>
                </a:solidFill>
                <a:latin typeface="Times New Roman" panose="02020603050405020304" pitchFamily="18" charset="0"/>
                <a:ea typeface="Neo Tech"/>
                <a:cs typeface="Times New Roman" panose="02020603050405020304" pitchFamily="18" charset="0"/>
                <a:sym typeface="Neo Tech"/>
              </a:rPr>
              <a:t>Lack of </a:t>
            </a:r>
            <a:r>
              <a:rPr lang="en-US" sz="2000" dirty="0" smtClean="0">
                <a:solidFill>
                  <a:srgbClr val="FFFFFF"/>
                </a:solidFill>
                <a:latin typeface="Times New Roman" panose="02020603050405020304" pitchFamily="18" charset="0"/>
                <a:ea typeface="Neo Tech"/>
                <a:cs typeface="Times New Roman" panose="02020603050405020304" pitchFamily="18" charset="0"/>
                <a:sym typeface="Neo Tech"/>
              </a:rPr>
              <a:t>Explain-ability</a:t>
            </a:r>
            <a:endParaRPr lang="en-US" sz="2000" dirty="0">
              <a:solidFill>
                <a:srgbClr val="FFFFFF"/>
              </a:solidFill>
              <a:latin typeface="Times New Roman" panose="02020603050405020304" pitchFamily="18" charset="0"/>
              <a:ea typeface="Neo Tech"/>
              <a:cs typeface="Times New Roman" panose="02020603050405020304" pitchFamily="18" charset="0"/>
              <a:sym typeface="Neo Tech"/>
            </a:endParaRPr>
          </a:p>
        </p:txBody>
      </p:sp>
      <p:pic>
        <p:nvPicPr>
          <p:cNvPr id="30" name="Picture 29"/>
          <p:cNvPicPr>
            <a:picLocks noChangeAspect="1"/>
          </p:cNvPicPr>
          <p:nvPr/>
        </p:nvPicPr>
        <p:blipFill>
          <a:blip r:embed="rId5"/>
          <a:stretch>
            <a:fillRect/>
          </a:stretch>
        </p:blipFill>
        <p:spPr>
          <a:xfrm>
            <a:off x="10088880" y="2240178"/>
            <a:ext cx="6713322" cy="671332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11606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5" name="TextBox 6"/>
          <p:cNvSpPr txBox="1"/>
          <p:nvPr/>
        </p:nvSpPr>
        <p:spPr>
          <a:xfrm>
            <a:off x="4827665" y="1402605"/>
            <a:ext cx="8632665" cy="769441"/>
          </a:xfrm>
          <a:prstGeom prst="rect">
            <a:avLst/>
          </a:prstGeom>
        </p:spPr>
        <p:txBody>
          <a:bodyPr wrap="square" lIns="0" tIns="0" rIns="0" bIns="0" rtlCol="0" anchor="t">
            <a:spAutoFit/>
          </a:bodyPr>
          <a:lstStyle/>
          <a:p>
            <a:pPr lvl="0"/>
            <a:r>
              <a:rPr lang="en-US" sz="5000" b="1" dirty="0" smtClean="0">
                <a:solidFill>
                  <a:srgbClr val="FFFFFF"/>
                </a:solidFill>
                <a:latin typeface="Neo Tech Bold"/>
                <a:ea typeface="Neo Tech Bold"/>
                <a:cs typeface="Neo Tech Bold"/>
                <a:sym typeface="Neo Tech Bold"/>
              </a:rPr>
              <a:t>Conclusion and Future Work</a:t>
            </a:r>
            <a:endParaRPr lang="en-US" sz="5000" b="1" dirty="0">
              <a:solidFill>
                <a:srgbClr val="FFFFFF"/>
              </a:solidFill>
              <a:latin typeface="Neo Tech Bold"/>
              <a:ea typeface="Neo Tech Bold"/>
              <a:cs typeface="Neo Tech Bold"/>
              <a:sym typeface="Neo Tech Bold"/>
            </a:endParaRPr>
          </a:p>
        </p:txBody>
      </p:sp>
      <p:sp>
        <p:nvSpPr>
          <p:cNvPr id="6" name="TextBox 5"/>
          <p:cNvSpPr txBox="1"/>
          <p:nvPr/>
        </p:nvSpPr>
        <p:spPr>
          <a:xfrm>
            <a:off x="2209797" y="3009900"/>
            <a:ext cx="13868400" cy="5478423"/>
          </a:xfrm>
          <a:prstGeom prst="rect">
            <a:avLst/>
          </a:prstGeom>
          <a:noFill/>
        </p:spPr>
        <p:txBody>
          <a:bodyPr wrap="square" rtlCol="0">
            <a:spAutoFit/>
          </a:bodyPr>
          <a:lstStyle/>
          <a:p>
            <a:pPr algn="ctr"/>
            <a:r>
              <a:rPr lang="en-US" sz="2500" dirty="0">
                <a:solidFill>
                  <a:schemeClr val="bg1"/>
                </a:solidFill>
                <a:latin typeface="Times New Roman" panose="02020603050405020304" pitchFamily="18" charset="0"/>
                <a:cs typeface="Times New Roman" panose="02020603050405020304" pitchFamily="18" charset="0"/>
              </a:rPr>
              <a:t>AI significantly improves malware detection by analyzing large volumes of data and identifying patterns that traditional methods may miss. It can detect new and unknown threats (zero-day attacks) using behavior-based analysis rather than relying only on known signatures. However, challenges still exist, such as false positives, vulnerability to adversarial attacks, high computational costs, and the need for large, high-quality datasets. Therefore, further research is required to make these systems more accurate, efficient, and secure for real-world applications.</a:t>
            </a:r>
          </a:p>
          <a:p>
            <a:pPr algn="ctr"/>
            <a:endParaRPr lang="en-US" sz="2500" dirty="0" smtClean="0">
              <a:solidFill>
                <a:schemeClr val="bg1"/>
              </a:solidFill>
              <a:latin typeface="Times New Roman" panose="02020603050405020304" pitchFamily="18" charset="0"/>
              <a:cs typeface="Times New Roman" panose="02020603050405020304" pitchFamily="18" charset="0"/>
            </a:endParaRPr>
          </a:p>
          <a:p>
            <a:pPr algn="ctr"/>
            <a:endParaRPr lang="en-US" sz="2500" dirty="0">
              <a:solidFill>
                <a:schemeClr val="bg1"/>
              </a:solidFill>
              <a:latin typeface="Times New Roman" panose="02020603050405020304" pitchFamily="18" charset="0"/>
              <a:cs typeface="Times New Roman" panose="02020603050405020304" pitchFamily="18" charset="0"/>
            </a:endParaRPr>
          </a:p>
          <a:p>
            <a:pPr algn="ctr"/>
            <a:r>
              <a:rPr lang="en-US" sz="2500" dirty="0">
                <a:solidFill>
                  <a:schemeClr val="bg1"/>
                </a:solidFill>
                <a:latin typeface="Times New Roman" panose="02020603050405020304" pitchFamily="18" charset="0"/>
                <a:cs typeface="Times New Roman" panose="02020603050405020304" pitchFamily="18" charset="0"/>
              </a:rPr>
              <a:t>Emerging approaches like Explainable AI (XAI), Federated Learning, and Edge AI are helping to address these issues. Explainable AI makes model decisions transparent and understandable, increasing trust in AI systems. Federated Learning enhances privacy by training models across multiple devices without sharing sensitive data, while Edge AI enables real-time malware detection directly on local devices, reducing latency and improving data security. Together, these technologies represent promising directions for the future of AI-based </a:t>
            </a:r>
            <a:r>
              <a:rPr lang="en-US" sz="2500" dirty="0" smtClean="0">
                <a:solidFill>
                  <a:schemeClr val="bg1"/>
                </a:solidFill>
                <a:latin typeface="Times New Roman" panose="02020603050405020304" pitchFamily="18" charset="0"/>
                <a:cs typeface="Times New Roman" panose="02020603050405020304" pitchFamily="18" charset="0"/>
              </a:rPr>
              <a:t>cyber security</a:t>
            </a:r>
            <a:r>
              <a:rPr lang="en-US" sz="2500" dirty="0">
                <a:solidFill>
                  <a:schemeClr val="bg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803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rot="5400000">
            <a:off x="14153947" y="4812052"/>
            <a:ext cx="8289535" cy="9287994"/>
          </a:xfrm>
          <a:custGeom>
            <a:avLst/>
            <a:gdLst/>
            <a:ahLst/>
            <a:cxnLst/>
            <a:rect l="l" t="t" r="r" b="b"/>
            <a:pathLst>
              <a:path w="8289535" h="9287994">
                <a:moveTo>
                  <a:pt x="0" y="0"/>
                </a:moveTo>
                <a:lnTo>
                  <a:pt x="8289535" y="0"/>
                </a:lnTo>
                <a:lnTo>
                  <a:pt x="8289535" y="9287995"/>
                </a:lnTo>
                <a:lnTo>
                  <a:pt x="0" y="9287995"/>
                </a:lnTo>
                <a:lnTo>
                  <a:pt x="0" y="0"/>
                </a:lnTo>
                <a:close/>
              </a:path>
            </a:pathLst>
          </a:custGeom>
          <a:blipFill>
            <a:blip r:embed="rId3">
              <a:alphaModFix amt="80000"/>
            </a:blip>
            <a:stretch>
              <a:fillRect/>
            </a:stretch>
          </a:blipFill>
        </p:spPr>
      </p:sp>
      <p:sp>
        <p:nvSpPr>
          <p:cNvPr id="4" name="Freeform 4"/>
          <p:cNvSpPr/>
          <p:nvPr/>
        </p:nvSpPr>
        <p:spPr>
          <a:xfrm>
            <a:off x="-3780264" y="-331381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5" name="TextBox 5"/>
          <p:cNvSpPr txBox="1"/>
          <p:nvPr/>
        </p:nvSpPr>
        <p:spPr>
          <a:xfrm>
            <a:off x="4449106" y="917181"/>
            <a:ext cx="9389786" cy="769441"/>
          </a:xfrm>
          <a:prstGeom prst="rect">
            <a:avLst/>
          </a:prstGeom>
        </p:spPr>
        <p:txBody>
          <a:bodyPr lIns="0" tIns="0" rIns="0" bIns="0" rtlCol="0" anchor="t">
            <a:spAutoFit/>
          </a:bodyPr>
          <a:lstStyle/>
          <a:p>
            <a:pPr marL="0" lvl="0" indent="0" algn="ctr"/>
            <a:r>
              <a:rPr lang="en-US" sz="5000" b="1" dirty="0" smtClean="0">
                <a:solidFill>
                  <a:srgbClr val="FFFFFF"/>
                </a:solidFill>
                <a:latin typeface="Neo Tech Bold"/>
                <a:ea typeface="Neo Tech Bold"/>
                <a:cs typeface="Neo Tech Bold"/>
                <a:sym typeface="Neo Tech Bold"/>
              </a:rPr>
              <a:t>Bibliography</a:t>
            </a:r>
            <a:endParaRPr lang="en-US" sz="5000" b="1" dirty="0">
              <a:solidFill>
                <a:srgbClr val="FFFFFF"/>
              </a:solidFill>
              <a:latin typeface="Neo Tech Bold"/>
              <a:ea typeface="Neo Tech Bold"/>
              <a:cs typeface="Neo Tech Bold"/>
              <a:sym typeface="Neo Tech Bold"/>
            </a:endParaRPr>
          </a:p>
        </p:txBody>
      </p:sp>
      <p:sp>
        <p:nvSpPr>
          <p:cNvPr id="8" name="TextBox 7"/>
          <p:cNvSpPr txBox="1"/>
          <p:nvPr/>
        </p:nvSpPr>
        <p:spPr>
          <a:xfrm>
            <a:off x="1606149" y="2603803"/>
            <a:ext cx="15075701" cy="6186309"/>
          </a:xfrm>
          <a:prstGeom prst="rect">
            <a:avLst/>
          </a:prstGeom>
          <a:noFill/>
        </p:spPr>
        <p:txBody>
          <a:bodyPr wrap="square" rtlCol="0">
            <a:spAutoFit/>
          </a:bodyPr>
          <a:lstStyle/>
          <a:p>
            <a:pPr algn="just"/>
            <a:r>
              <a:rPr lang="en-US" sz="2200" dirty="0">
                <a:solidFill>
                  <a:schemeClr val="bg1"/>
                </a:solidFill>
                <a:latin typeface="Times New Roman" panose="02020603050405020304" pitchFamily="18" charset="0"/>
                <a:cs typeface="Times New Roman" panose="02020603050405020304" pitchFamily="18" charset="0"/>
              </a:rPr>
              <a:t>1. U. Bayer, P. </a:t>
            </a:r>
            <a:r>
              <a:rPr lang="en-US" sz="2200" dirty="0" err="1">
                <a:solidFill>
                  <a:schemeClr val="bg1"/>
                </a:solidFill>
                <a:latin typeface="Times New Roman" panose="02020603050405020304" pitchFamily="18" charset="0"/>
                <a:cs typeface="Times New Roman" panose="02020603050405020304" pitchFamily="18" charset="0"/>
              </a:rPr>
              <a:t>Milani</a:t>
            </a:r>
            <a:r>
              <a:rPr lang="en-US" sz="2200" dirty="0">
                <a:solidFill>
                  <a:schemeClr val="bg1"/>
                </a:solidFill>
                <a:latin typeface="Times New Roman" panose="02020603050405020304" pitchFamily="18" charset="0"/>
                <a:cs typeface="Times New Roman" panose="02020603050405020304" pitchFamily="18" charset="0"/>
              </a:rPr>
              <a:t> </a:t>
            </a:r>
            <a:r>
              <a:rPr lang="en-US" sz="2200" dirty="0" err="1">
                <a:solidFill>
                  <a:schemeClr val="bg1"/>
                </a:solidFill>
                <a:latin typeface="Times New Roman" panose="02020603050405020304" pitchFamily="18" charset="0"/>
                <a:cs typeface="Times New Roman" panose="02020603050405020304" pitchFamily="18" charset="0"/>
              </a:rPr>
              <a:t>Comparetti</a:t>
            </a:r>
            <a:r>
              <a:rPr lang="en-US" sz="2200" dirty="0">
                <a:solidFill>
                  <a:schemeClr val="bg1"/>
                </a:solidFill>
                <a:latin typeface="Times New Roman" panose="02020603050405020304" pitchFamily="18" charset="0"/>
                <a:cs typeface="Times New Roman" panose="02020603050405020304" pitchFamily="18" charset="0"/>
              </a:rPr>
              <a:t>, C. </a:t>
            </a:r>
            <a:r>
              <a:rPr lang="en-US" sz="2200" dirty="0" err="1">
                <a:solidFill>
                  <a:schemeClr val="bg1"/>
                </a:solidFill>
                <a:latin typeface="Times New Roman" panose="02020603050405020304" pitchFamily="18" charset="0"/>
                <a:cs typeface="Times New Roman" panose="02020603050405020304" pitchFamily="18" charset="0"/>
              </a:rPr>
              <a:t>Hlauschek</a:t>
            </a:r>
            <a:r>
              <a:rPr lang="en-US" sz="2200" dirty="0">
                <a:solidFill>
                  <a:schemeClr val="bg1"/>
                </a:solidFill>
                <a:latin typeface="Times New Roman" panose="02020603050405020304" pitchFamily="18" charset="0"/>
                <a:cs typeface="Times New Roman" panose="02020603050405020304" pitchFamily="18" charset="0"/>
              </a:rPr>
              <a:t>, C. </a:t>
            </a:r>
            <a:r>
              <a:rPr lang="en-US" sz="2200" dirty="0" err="1">
                <a:solidFill>
                  <a:schemeClr val="bg1"/>
                </a:solidFill>
                <a:latin typeface="Times New Roman" panose="02020603050405020304" pitchFamily="18" charset="0"/>
                <a:cs typeface="Times New Roman" panose="02020603050405020304" pitchFamily="18" charset="0"/>
              </a:rPr>
              <a:t>Kruegel</a:t>
            </a:r>
            <a:r>
              <a:rPr lang="en-US" sz="2200" dirty="0">
                <a:solidFill>
                  <a:schemeClr val="bg1"/>
                </a:solidFill>
                <a:latin typeface="Times New Roman" panose="02020603050405020304" pitchFamily="18" charset="0"/>
                <a:cs typeface="Times New Roman" panose="02020603050405020304" pitchFamily="18" charset="0"/>
              </a:rPr>
              <a:t> and E. </a:t>
            </a:r>
            <a:r>
              <a:rPr lang="en-US" sz="2200" dirty="0" err="1">
                <a:solidFill>
                  <a:schemeClr val="bg1"/>
                </a:solidFill>
                <a:latin typeface="Times New Roman" panose="02020603050405020304" pitchFamily="18" charset="0"/>
                <a:cs typeface="Times New Roman" panose="02020603050405020304" pitchFamily="18" charset="0"/>
              </a:rPr>
              <a:t>Kirda</a:t>
            </a:r>
            <a:r>
              <a:rPr lang="en-US" sz="2200" dirty="0">
                <a:solidFill>
                  <a:schemeClr val="bg1"/>
                </a:solidFill>
                <a:latin typeface="Times New Roman" panose="02020603050405020304" pitchFamily="18" charset="0"/>
                <a:cs typeface="Times New Roman" panose="02020603050405020304" pitchFamily="18" charset="0"/>
              </a:rPr>
              <a:t>, “Scalable, Behavior-Based Malware Clustering,” Proc. Network and Distributed System Security Symposium (NDSS), 2009.</a:t>
            </a:r>
          </a:p>
          <a:p>
            <a:pPr algn="just"/>
            <a:r>
              <a:rPr lang="en-US" sz="2200" dirty="0">
                <a:solidFill>
                  <a:schemeClr val="bg1"/>
                </a:solidFill>
                <a:latin typeface="Times New Roman" panose="02020603050405020304" pitchFamily="18" charset="0"/>
                <a:cs typeface="Times New Roman" panose="02020603050405020304" pitchFamily="18" charset="0"/>
              </a:rPr>
              <a:t>2. R. Saxe and K. Berlin, “Deep Neural Network Based Malware Detection Using Two Dimensional Binary Program Features,” Proc. 10th Int. Conf. on Malicious and Unwanted Software (MALWARE), IEEE, 2015.</a:t>
            </a:r>
          </a:p>
          <a:p>
            <a:pPr algn="just"/>
            <a:r>
              <a:rPr lang="en-US" sz="2200" dirty="0">
                <a:solidFill>
                  <a:schemeClr val="bg1"/>
                </a:solidFill>
                <a:latin typeface="Times New Roman" panose="02020603050405020304" pitchFamily="18" charset="0"/>
                <a:cs typeface="Times New Roman" panose="02020603050405020304" pitchFamily="18" charset="0"/>
              </a:rPr>
              <a:t>3. Y. </a:t>
            </a:r>
            <a:r>
              <a:rPr lang="en-US" sz="2200" dirty="0" err="1">
                <a:solidFill>
                  <a:schemeClr val="bg1"/>
                </a:solidFill>
                <a:latin typeface="Times New Roman" panose="02020603050405020304" pitchFamily="18" charset="0"/>
                <a:cs typeface="Times New Roman" panose="02020603050405020304" pitchFamily="18" charset="0"/>
              </a:rPr>
              <a:t>LeCun</a:t>
            </a:r>
            <a:r>
              <a:rPr lang="en-US" sz="2200" dirty="0">
                <a:solidFill>
                  <a:schemeClr val="bg1"/>
                </a:solidFill>
                <a:latin typeface="Times New Roman" panose="02020603050405020304" pitchFamily="18" charset="0"/>
                <a:cs typeface="Times New Roman" panose="02020603050405020304" pitchFamily="18" charset="0"/>
              </a:rPr>
              <a:t>, Y. </a:t>
            </a:r>
            <a:r>
              <a:rPr lang="en-US" sz="2200" dirty="0" err="1">
                <a:solidFill>
                  <a:schemeClr val="bg1"/>
                </a:solidFill>
                <a:latin typeface="Times New Roman" panose="02020603050405020304" pitchFamily="18" charset="0"/>
                <a:cs typeface="Times New Roman" panose="02020603050405020304" pitchFamily="18" charset="0"/>
              </a:rPr>
              <a:t>Bengio</a:t>
            </a:r>
            <a:r>
              <a:rPr lang="en-US" sz="2200" dirty="0">
                <a:solidFill>
                  <a:schemeClr val="bg1"/>
                </a:solidFill>
                <a:latin typeface="Times New Roman" panose="02020603050405020304" pitchFamily="18" charset="0"/>
                <a:cs typeface="Times New Roman" panose="02020603050405020304" pitchFamily="18" charset="0"/>
              </a:rPr>
              <a:t> and G. Hinton, “Deep Learning,” Nature, vol. 521, no. 7553, pp. 436–444, 2015.</a:t>
            </a:r>
          </a:p>
          <a:p>
            <a:pPr algn="just"/>
            <a:r>
              <a:rPr lang="en-US" sz="2200" dirty="0">
                <a:solidFill>
                  <a:schemeClr val="bg1"/>
                </a:solidFill>
                <a:latin typeface="Times New Roman" panose="02020603050405020304" pitchFamily="18" charset="0"/>
                <a:cs typeface="Times New Roman" panose="02020603050405020304" pitchFamily="18" charset="0"/>
              </a:rPr>
              <a:t>4. I. </a:t>
            </a:r>
            <a:r>
              <a:rPr lang="en-US" sz="2200" dirty="0" err="1">
                <a:solidFill>
                  <a:schemeClr val="bg1"/>
                </a:solidFill>
                <a:latin typeface="Times New Roman" panose="02020603050405020304" pitchFamily="18" charset="0"/>
                <a:cs typeface="Times New Roman" panose="02020603050405020304" pitchFamily="18" charset="0"/>
              </a:rPr>
              <a:t>Goodfellow</a:t>
            </a:r>
            <a:r>
              <a:rPr lang="en-US" sz="2200" dirty="0">
                <a:solidFill>
                  <a:schemeClr val="bg1"/>
                </a:solidFill>
                <a:latin typeface="Times New Roman" panose="02020603050405020304" pitchFamily="18" charset="0"/>
                <a:cs typeface="Times New Roman" panose="02020603050405020304" pitchFamily="18" charset="0"/>
              </a:rPr>
              <a:t>, Y. </a:t>
            </a:r>
            <a:r>
              <a:rPr lang="en-US" sz="2200" dirty="0" err="1">
                <a:solidFill>
                  <a:schemeClr val="bg1"/>
                </a:solidFill>
                <a:latin typeface="Times New Roman" panose="02020603050405020304" pitchFamily="18" charset="0"/>
                <a:cs typeface="Times New Roman" panose="02020603050405020304" pitchFamily="18" charset="0"/>
              </a:rPr>
              <a:t>Bengio</a:t>
            </a:r>
            <a:r>
              <a:rPr lang="en-US" sz="2200" dirty="0">
                <a:solidFill>
                  <a:schemeClr val="bg1"/>
                </a:solidFill>
                <a:latin typeface="Times New Roman" panose="02020603050405020304" pitchFamily="18" charset="0"/>
                <a:cs typeface="Times New Roman" panose="02020603050405020304" pitchFamily="18" charset="0"/>
              </a:rPr>
              <a:t> and A. </a:t>
            </a:r>
            <a:r>
              <a:rPr lang="en-US" sz="2200" dirty="0" err="1">
                <a:solidFill>
                  <a:schemeClr val="bg1"/>
                </a:solidFill>
                <a:latin typeface="Times New Roman" panose="02020603050405020304" pitchFamily="18" charset="0"/>
                <a:cs typeface="Times New Roman" panose="02020603050405020304" pitchFamily="18" charset="0"/>
              </a:rPr>
              <a:t>Courville</a:t>
            </a:r>
            <a:r>
              <a:rPr lang="en-US" sz="2200" dirty="0">
                <a:solidFill>
                  <a:schemeClr val="bg1"/>
                </a:solidFill>
                <a:latin typeface="Times New Roman" panose="02020603050405020304" pitchFamily="18" charset="0"/>
                <a:cs typeface="Times New Roman" panose="02020603050405020304" pitchFamily="18" charset="0"/>
              </a:rPr>
              <a:t>, Deep Learning, MIT Press, 2016.</a:t>
            </a:r>
          </a:p>
          <a:p>
            <a:pPr algn="just"/>
            <a:r>
              <a:rPr lang="en-US" sz="2200" dirty="0">
                <a:solidFill>
                  <a:schemeClr val="bg1"/>
                </a:solidFill>
                <a:latin typeface="Times New Roman" panose="02020603050405020304" pitchFamily="18" charset="0"/>
                <a:cs typeface="Times New Roman" panose="02020603050405020304" pitchFamily="18" charset="0"/>
              </a:rPr>
              <a:t>5. M. </a:t>
            </a:r>
            <a:r>
              <a:rPr lang="en-US" sz="2200" dirty="0" err="1">
                <a:solidFill>
                  <a:schemeClr val="bg1"/>
                </a:solidFill>
                <a:latin typeface="Times New Roman" panose="02020603050405020304" pitchFamily="18" charset="0"/>
                <a:cs typeface="Times New Roman" panose="02020603050405020304" pitchFamily="18" charset="0"/>
              </a:rPr>
              <a:t>Yousefi-Azar</a:t>
            </a:r>
            <a:r>
              <a:rPr lang="en-US" sz="2200" dirty="0">
                <a:solidFill>
                  <a:schemeClr val="bg1"/>
                </a:solidFill>
                <a:latin typeface="Times New Roman" panose="02020603050405020304" pitchFamily="18" charset="0"/>
                <a:cs typeface="Times New Roman" panose="02020603050405020304" pitchFamily="18" charset="0"/>
              </a:rPr>
              <a:t>, L. G. C. </a:t>
            </a:r>
            <a:r>
              <a:rPr lang="en-US" sz="2200" dirty="0" err="1">
                <a:solidFill>
                  <a:schemeClr val="bg1"/>
                </a:solidFill>
                <a:latin typeface="Times New Roman" panose="02020603050405020304" pitchFamily="18" charset="0"/>
                <a:cs typeface="Times New Roman" panose="02020603050405020304" pitchFamily="18" charset="0"/>
              </a:rPr>
              <a:t>Hamey</a:t>
            </a:r>
            <a:r>
              <a:rPr lang="en-US" sz="2200" dirty="0">
                <a:solidFill>
                  <a:schemeClr val="bg1"/>
                </a:solidFill>
                <a:latin typeface="Times New Roman" panose="02020603050405020304" pitchFamily="18" charset="0"/>
                <a:cs typeface="Times New Roman" panose="02020603050405020304" pitchFamily="18" charset="0"/>
              </a:rPr>
              <a:t>, V. </a:t>
            </a:r>
            <a:r>
              <a:rPr lang="en-US" sz="2200" dirty="0" err="1">
                <a:solidFill>
                  <a:schemeClr val="bg1"/>
                </a:solidFill>
                <a:latin typeface="Times New Roman" panose="02020603050405020304" pitchFamily="18" charset="0"/>
                <a:cs typeface="Times New Roman" panose="02020603050405020304" pitchFamily="18" charset="0"/>
              </a:rPr>
              <a:t>Varadharajan</a:t>
            </a:r>
            <a:r>
              <a:rPr lang="en-US" sz="2200" dirty="0">
                <a:solidFill>
                  <a:schemeClr val="bg1"/>
                </a:solidFill>
                <a:latin typeface="Times New Roman" panose="02020603050405020304" pitchFamily="18" charset="0"/>
                <a:cs typeface="Times New Roman" panose="02020603050405020304" pitchFamily="18" charset="0"/>
              </a:rPr>
              <a:t>, “</a:t>
            </a:r>
            <a:r>
              <a:rPr lang="en-US" sz="2200" dirty="0" err="1">
                <a:solidFill>
                  <a:schemeClr val="bg1"/>
                </a:solidFill>
                <a:latin typeface="Times New Roman" panose="02020603050405020304" pitchFamily="18" charset="0"/>
                <a:cs typeface="Times New Roman" panose="02020603050405020304" pitchFamily="18" charset="0"/>
              </a:rPr>
              <a:t>Autoencoder</a:t>
            </a:r>
            <a:r>
              <a:rPr lang="en-US" sz="2200" dirty="0">
                <a:solidFill>
                  <a:schemeClr val="bg1"/>
                </a:solidFill>
                <a:latin typeface="Times New Roman" panose="02020603050405020304" pitchFamily="18" charset="0"/>
                <a:cs typeface="Times New Roman" panose="02020603050405020304" pitchFamily="18" charset="0"/>
              </a:rPr>
              <a:t>-Based Feature Learning for </a:t>
            </a:r>
            <a:r>
              <a:rPr lang="en-US" sz="2200" dirty="0" err="1">
                <a:solidFill>
                  <a:schemeClr val="bg1"/>
                </a:solidFill>
                <a:latin typeface="Times New Roman" panose="02020603050405020304" pitchFamily="18" charset="0"/>
                <a:cs typeface="Times New Roman" panose="02020603050405020304" pitchFamily="18" charset="0"/>
              </a:rPr>
              <a:t>Cybersecurity</a:t>
            </a:r>
            <a:r>
              <a:rPr lang="en-US" sz="2200" dirty="0">
                <a:solidFill>
                  <a:schemeClr val="bg1"/>
                </a:solidFill>
                <a:latin typeface="Times New Roman" panose="02020603050405020304" pitchFamily="18" charset="0"/>
                <a:cs typeface="Times New Roman" panose="02020603050405020304" pitchFamily="18" charset="0"/>
              </a:rPr>
              <a:t> Applications,” Proc. Int. Joint Conf. on Neural Networks (IJCNN), IEEE, 2017.</a:t>
            </a:r>
          </a:p>
          <a:p>
            <a:pPr algn="just"/>
            <a:r>
              <a:rPr lang="en-US" sz="2200" dirty="0">
                <a:solidFill>
                  <a:schemeClr val="bg1"/>
                </a:solidFill>
                <a:latin typeface="Times New Roman" panose="02020603050405020304" pitchFamily="18" charset="0"/>
                <a:cs typeface="Times New Roman" panose="02020603050405020304" pitchFamily="18" charset="0"/>
              </a:rPr>
              <a:t>6. A. </a:t>
            </a:r>
            <a:r>
              <a:rPr lang="en-US" sz="2200" dirty="0" err="1">
                <a:solidFill>
                  <a:schemeClr val="bg1"/>
                </a:solidFill>
                <a:latin typeface="Times New Roman" panose="02020603050405020304" pitchFamily="18" charset="0"/>
                <a:cs typeface="Times New Roman" panose="02020603050405020304" pitchFamily="18" charset="0"/>
              </a:rPr>
              <a:t>Kolosnjaji</a:t>
            </a:r>
            <a:r>
              <a:rPr lang="en-US" sz="2200" dirty="0">
                <a:solidFill>
                  <a:schemeClr val="bg1"/>
                </a:solidFill>
                <a:latin typeface="Times New Roman" panose="02020603050405020304" pitchFamily="18" charset="0"/>
                <a:cs typeface="Times New Roman" panose="02020603050405020304" pitchFamily="18" charset="0"/>
              </a:rPr>
              <a:t>, A. </a:t>
            </a:r>
            <a:r>
              <a:rPr lang="en-US" sz="2200" dirty="0" err="1">
                <a:solidFill>
                  <a:schemeClr val="bg1"/>
                </a:solidFill>
                <a:latin typeface="Times New Roman" panose="02020603050405020304" pitchFamily="18" charset="0"/>
                <a:cs typeface="Times New Roman" panose="02020603050405020304" pitchFamily="18" charset="0"/>
              </a:rPr>
              <a:t>Zarras</a:t>
            </a:r>
            <a:r>
              <a:rPr lang="en-US" sz="2200" dirty="0">
                <a:solidFill>
                  <a:schemeClr val="bg1"/>
                </a:solidFill>
                <a:latin typeface="Times New Roman" panose="02020603050405020304" pitchFamily="18" charset="0"/>
                <a:cs typeface="Times New Roman" panose="02020603050405020304" pitchFamily="18" charset="0"/>
              </a:rPr>
              <a:t>, G. Webster and C. Eckert, “Deep Learning for Classification of Malware System Call Sequences,” Australasian Joint Conf. on Artificial Intelligence, 2016.</a:t>
            </a:r>
          </a:p>
          <a:p>
            <a:pPr algn="just"/>
            <a:r>
              <a:rPr lang="en-US" sz="2200" dirty="0">
                <a:solidFill>
                  <a:schemeClr val="bg1"/>
                </a:solidFill>
                <a:latin typeface="Times New Roman" panose="02020603050405020304" pitchFamily="18" charset="0"/>
                <a:cs typeface="Times New Roman" panose="02020603050405020304" pitchFamily="18" charset="0"/>
              </a:rPr>
              <a:t>7. M. Schultz, E. </a:t>
            </a:r>
            <a:r>
              <a:rPr lang="en-US" sz="2200" dirty="0" err="1">
                <a:solidFill>
                  <a:schemeClr val="bg1"/>
                </a:solidFill>
                <a:latin typeface="Times New Roman" panose="02020603050405020304" pitchFamily="18" charset="0"/>
                <a:cs typeface="Times New Roman" panose="02020603050405020304" pitchFamily="18" charset="0"/>
              </a:rPr>
              <a:t>Eskin</a:t>
            </a:r>
            <a:r>
              <a:rPr lang="en-US" sz="2200" dirty="0">
                <a:solidFill>
                  <a:schemeClr val="bg1"/>
                </a:solidFill>
                <a:latin typeface="Times New Roman" panose="02020603050405020304" pitchFamily="18" charset="0"/>
                <a:cs typeface="Times New Roman" panose="02020603050405020304" pitchFamily="18" charset="0"/>
              </a:rPr>
              <a:t>, E. </a:t>
            </a:r>
            <a:r>
              <a:rPr lang="en-US" sz="2200" dirty="0" err="1">
                <a:solidFill>
                  <a:schemeClr val="bg1"/>
                </a:solidFill>
                <a:latin typeface="Times New Roman" panose="02020603050405020304" pitchFamily="18" charset="0"/>
                <a:cs typeface="Times New Roman" panose="02020603050405020304" pitchFamily="18" charset="0"/>
              </a:rPr>
              <a:t>Zadok</a:t>
            </a:r>
            <a:r>
              <a:rPr lang="en-US" sz="2200" dirty="0">
                <a:solidFill>
                  <a:schemeClr val="bg1"/>
                </a:solidFill>
                <a:latin typeface="Times New Roman" panose="02020603050405020304" pitchFamily="18" charset="0"/>
                <a:cs typeface="Times New Roman" panose="02020603050405020304" pitchFamily="18" charset="0"/>
              </a:rPr>
              <a:t> and S. </a:t>
            </a:r>
            <a:r>
              <a:rPr lang="en-US" sz="2200" dirty="0" err="1">
                <a:solidFill>
                  <a:schemeClr val="bg1"/>
                </a:solidFill>
                <a:latin typeface="Times New Roman" panose="02020603050405020304" pitchFamily="18" charset="0"/>
                <a:cs typeface="Times New Roman" panose="02020603050405020304" pitchFamily="18" charset="0"/>
              </a:rPr>
              <a:t>Stolfo</a:t>
            </a:r>
            <a:r>
              <a:rPr lang="en-US" sz="2200" dirty="0">
                <a:solidFill>
                  <a:schemeClr val="bg1"/>
                </a:solidFill>
                <a:latin typeface="Times New Roman" panose="02020603050405020304" pitchFamily="18" charset="0"/>
                <a:cs typeface="Times New Roman" panose="02020603050405020304" pitchFamily="18" charset="0"/>
              </a:rPr>
              <a:t>, “Data Mining Methods for Detection of New Malicious </a:t>
            </a:r>
            <a:r>
              <a:rPr lang="en-US" sz="2200" dirty="0" err="1">
                <a:solidFill>
                  <a:schemeClr val="bg1"/>
                </a:solidFill>
                <a:latin typeface="Times New Roman" panose="02020603050405020304" pitchFamily="18" charset="0"/>
                <a:cs typeface="Times New Roman" panose="02020603050405020304" pitchFamily="18" charset="0"/>
              </a:rPr>
              <a:t>Executables</a:t>
            </a:r>
            <a:r>
              <a:rPr lang="en-US" sz="2200" dirty="0">
                <a:solidFill>
                  <a:schemeClr val="bg1"/>
                </a:solidFill>
                <a:latin typeface="Times New Roman" panose="02020603050405020304" pitchFamily="18" charset="0"/>
                <a:cs typeface="Times New Roman" panose="02020603050405020304" pitchFamily="18" charset="0"/>
              </a:rPr>
              <a:t>,” Proc. IEEE Symposium on Security and Privacy, 2001.</a:t>
            </a:r>
          </a:p>
          <a:p>
            <a:pPr algn="just"/>
            <a:r>
              <a:rPr lang="en-US" sz="2200" dirty="0">
                <a:solidFill>
                  <a:schemeClr val="bg1"/>
                </a:solidFill>
                <a:latin typeface="Times New Roman" panose="02020603050405020304" pitchFamily="18" charset="0"/>
                <a:cs typeface="Times New Roman" panose="02020603050405020304" pitchFamily="18" charset="0"/>
              </a:rPr>
              <a:t>8. J. Z. </a:t>
            </a:r>
            <a:r>
              <a:rPr lang="en-US" sz="2200" dirty="0" err="1">
                <a:solidFill>
                  <a:schemeClr val="bg1"/>
                </a:solidFill>
                <a:latin typeface="Times New Roman" panose="02020603050405020304" pitchFamily="18" charset="0"/>
                <a:cs typeface="Times New Roman" panose="02020603050405020304" pitchFamily="18" charset="0"/>
              </a:rPr>
              <a:t>Kolter</a:t>
            </a:r>
            <a:r>
              <a:rPr lang="en-US" sz="2200" dirty="0">
                <a:solidFill>
                  <a:schemeClr val="bg1"/>
                </a:solidFill>
                <a:latin typeface="Times New Roman" panose="02020603050405020304" pitchFamily="18" charset="0"/>
                <a:cs typeface="Times New Roman" panose="02020603050405020304" pitchFamily="18" charset="0"/>
              </a:rPr>
              <a:t> and M. A. </a:t>
            </a:r>
            <a:r>
              <a:rPr lang="en-US" sz="2200" dirty="0" err="1">
                <a:solidFill>
                  <a:schemeClr val="bg1"/>
                </a:solidFill>
                <a:latin typeface="Times New Roman" panose="02020603050405020304" pitchFamily="18" charset="0"/>
                <a:cs typeface="Times New Roman" panose="02020603050405020304" pitchFamily="18" charset="0"/>
              </a:rPr>
              <a:t>Maloof</a:t>
            </a:r>
            <a:r>
              <a:rPr lang="en-US" sz="2200" dirty="0">
                <a:solidFill>
                  <a:schemeClr val="bg1"/>
                </a:solidFill>
                <a:latin typeface="Times New Roman" panose="02020603050405020304" pitchFamily="18" charset="0"/>
                <a:cs typeface="Times New Roman" panose="02020603050405020304" pitchFamily="18" charset="0"/>
              </a:rPr>
              <a:t>, “Learning to Detect and Classify Malicious </a:t>
            </a:r>
            <a:r>
              <a:rPr lang="en-US" sz="2200" dirty="0" err="1">
                <a:solidFill>
                  <a:schemeClr val="bg1"/>
                </a:solidFill>
                <a:latin typeface="Times New Roman" panose="02020603050405020304" pitchFamily="18" charset="0"/>
                <a:cs typeface="Times New Roman" panose="02020603050405020304" pitchFamily="18" charset="0"/>
              </a:rPr>
              <a:t>Executables</a:t>
            </a:r>
            <a:r>
              <a:rPr lang="en-US" sz="2200" dirty="0">
                <a:solidFill>
                  <a:schemeClr val="bg1"/>
                </a:solidFill>
                <a:latin typeface="Times New Roman" panose="02020603050405020304" pitchFamily="18" charset="0"/>
                <a:cs typeface="Times New Roman" panose="02020603050405020304" pitchFamily="18" charset="0"/>
              </a:rPr>
              <a:t> in the Wild,” Journal of Machine Learning Research, vol. 7, 2006.</a:t>
            </a:r>
          </a:p>
          <a:p>
            <a:pPr algn="just"/>
            <a:r>
              <a:rPr lang="en-US" sz="2200" dirty="0">
                <a:solidFill>
                  <a:schemeClr val="bg1"/>
                </a:solidFill>
                <a:latin typeface="Times New Roman" panose="02020603050405020304" pitchFamily="18" charset="0"/>
                <a:cs typeface="Times New Roman" panose="02020603050405020304" pitchFamily="18" charset="0"/>
              </a:rPr>
              <a:t>9. B. Anderson and D. McGrew, “Machine Learning for Encrypted Malware Traffic Classification,” Proc. ACM CCS Workshop, 2016.</a:t>
            </a:r>
          </a:p>
          <a:p>
            <a:pPr algn="just"/>
            <a:r>
              <a:rPr lang="en-US" sz="2200" dirty="0">
                <a:solidFill>
                  <a:schemeClr val="bg1"/>
                </a:solidFill>
                <a:latin typeface="Times New Roman" panose="02020603050405020304" pitchFamily="18" charset="0"/>
                <a:cs typeface="Times New Roman" panose="02020603050405020304" pitchFamily="18" charset="0"/>
              </a:rPr>
              <a:t>10. H. S. Anderson, A. </a:t>
            </a:r>
            <a:r>
              <a:rPr lang="en-US" sz="2200" dirty="0" err="1">
                <a:solidFill>
                  <a:schemeClr val="bg1"/>
                </a:solidFill>
                <a:latin typeface="Times New Roman" panose="02020603050405020304" pitchFamily="18" charset="0"/>
                <a:cs typeface="Times New Roman" panose="02020603050405020304" pitchFamily="18" charset="0"/>
              </a:rPr>
              <a:t>Kharkar</a:t>
            </a:r>
            <a:r>
              <a:rPr lang="en-US" sz="2200" dirty="0">
                <a:solidFill>
                  <a:schemeClr val="bg1"/>
                </a:solidFill>
                <a:latin typeface="Times New Roman" panose="02020603050405020304" pitchFamily="18" charset="0"/>
                <a:cs typeface="Times New Roman" panose="02020603050405020304" pitchFamily="18" charset="0"/>
              </a:rPr>
              <a:t>, B. </a:t>
            </a:r>
            <a:r>
              <a:rPr lang="en-US" sz="2200" dirty="0" err="1">
                <a:solidFill>
                  <a:schemeClr val="bg1"/>
                </a:solidFill>
                <a:latin typeface="Times New Roman" panose="02020603050405020304" pitchFamily="18" charset="0"/>
                <a:cs typeface="Times New Roman" panose="02020603050405020304" pitchFamily="18" charset="0"/>
              </a:rPr>
              <a:t>Filar</a:t>
            </a:r>
            <a:r>
              <a:rPr lang="en-US" sz="2200" dirty="0">
                <a:solidFill>
                  <a:schemeClr val="bg1"/>
                </a:solidFill>
                <a:latin typeface="Times New Roman" panose="02020603050405020304" pitchFamily="18" charset="0"/>
                <a:cs typeface="Times New Roman" panose="02020603050405020304" pitchFamily="18" charset="0"/>
              </a:rPr>
              <a:t> et al., “EMBER: An Open Dataset for Training Static PE Malware Machine Learning Models,” </a:t>
            </a:r>
            <a:r>
              <a:rPr lang="en-US" sz="2200" dirty="0" err="1">
                <a:solidFill>
                  <a:schemeClr val="bg1"/>
                </a:solidFill>
                <a:latin typeface="Times New Roman" panose="02020603050405020304" pitchFamily="18" charset="0"/>
                <a:cs typeface="Times New Roman" panose="02020603050405020304" pitchFamily="18" charset="0"/>
              </a:rPr>
              <a:t>arXiv</a:t>
            </a:r>
            <a:r>
              <a:rPr lang="en-US" sz="2200" dirty="0">
                <a:solidFill>
                  <a:schemeClr val="bg1"/>
                </a:solidFill>
                <a:latin typeface="Times New Roman" panose="02020603050405020304" pitchFamily="18" charset="0"/>
                <a:cs typeface="Times New Roman" panose="02020603050405020304" pitchFamily="18" charset="0"/>
              </a:rPr>
              <a:t> preprint arXiv:1804.04637, 2018.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19590" y="-3315433"/>
            <a:ext cx="26727180" cy="16917866"/>
          </a:xfrm>
          <a:prstGeom prst="rect">
            <a:avLst/>
          </a:prstGeom>
        </p:spPr>
      </p:pic>
      <p:sp>
        <p:nvSpPr>
          <p:cNvPr id="3" name="TextBox 2"/>
          <p:cNvSpPr txBox="1"/>
          <p:nvPr/>
        </p:nvSpPr>
        <p:spPr>
          <a:xfrm>
            <a:off x="1219200" y="2019300"/>
            <a:ext cx="15163800" cy="5509200"/>
          </a:xfrm>
          <a:prstGeom prst="rect">
            <a:avLst/>
          </a:prstGeom>
          <a:noFill/>
        </p:spPr>
        <p:txBody>
          <a:bodyPr wrap="square" rtlCol="0">
            <a:spAutoFit/>
          </a:bodyPr>
          <a:lstStyle/>
          <a:p>
            <a:pPr algn="just"/>
            <a:r>
              <a:rPr lang="en-US" sz="2200" dirty="0">
                <a:solidFill>
                  <a:schemeClr val="bg1"/>
                </a:solidFill>
                <a:latin typeface="Times New Roman" panose="02020603050405020304" pitchFamily="18" charset="0"/>
                <a:cs typeface="Times New Roman" panose="02020603050405020304" pitchFamily="18" charset="0"/>
              </a:rPr>
              <a:t>11. S. Raff, J. Barker, J. Sylvester et al., “Malware Detection by Eating a Whole EXE,” </a:t>
            </a:r>
          </a:p>
          <a:p>
            <a:pPr algn="just"/>
            <a:r>
              <a:rPr lang="en-US" sz="2200" dirty="0">
                <a:solidFill>
                  <a:schemeClr val="bg1"/>
                </a:solidFill>
                <a:latin typeface="Times New Roman" panose="02020603050405020304" pitchFamily="18" charset="0"/>
                <a:cs typeface="Times New Roman" panose="02020603050405020304" pitchFamily="18" charset="0"/>
              </a:rPr>
              <a:t>Workshops at AAAI Conference on Artificial Intelligence, 2018.</a:t>
            </a:r>
          </a:p>
          <a:p>
            <a:pPr algn="just"/>
            <a:r>
              <a:rPr lang="en-US" sz="2200" dirty="0">
                <a:solidFill>
                  <a:schemeClr val="bg1"/>
                </a:solidFill>
                <a:latin typeface="Times New Roman" panose="02020603050405020304" pitchFamily="18" charset="0"/>
                <a:cs typeface="Times New Roman" panose="02020603050405020304" pitchFamily="18" charset="0"/>
              </a:rPr>
              <a:t>12. A. </a:t>
            </a:r>
            <a:r>
              <a:rPr lang="en-US" sz="2200" dirty="0" err="1">
                <a:solidFill>
                  <a:schemeClr val="bg1"/>
                </a:solidFill>
                <a:latin typeface="Times New Roman" panose="02020603050405020304" pitchFamily="18" charset="0"/>
                <a:cs typeface="Times New Roman" panose="02020603050405020304" pitchFamily="18" charset="0"/>
              </a:rPr>
              <a:t>Krizhevsky</a:t>
            </a:r>
            <a:r>
              <a:rPr lang="en-US" sz="2200" dirty="0">
                <a:solidFill>
                  <a:schemeClr val="bg1"/>
                </a:solidFill>
                <a:latin typeface="Times New Roman" panose="02020603050405020304" pitchFamily="18" charset="0"/>
                <a:cs typeface="Times New Roman" panose="02020603050405020304" pitchFamily="18" charset="0"/>
              </a:rPr>
              <a:t>, I. </a:t>
            </a:r>
            <a:r>
              <a:rPr lang="en-US" sz="2200" dirty="0" err="1">
                <a:solidFill>
                  <a:schemeClr val="bg1"/>
                </a:solidFill>
                <a:latin typeface="Times New Roman" panose="02020603050405020304" pitchFamily="18" charset="0"/>
                <a:cs typeface="Times New Roman" panose="02020603050405020304" pitchFamily="18" charset="0"/>
              </a:rPr>
              <a:t>Sutskever</a:t>
            </a:r>
            <a:r>
              <a:rPr lang="en-US" sz="2200" dirty="0">
                <a:solidFill>
                  <a:schemeClr val="bg1"/>
                </a:solidFill>
                <a:latin typeface="Times New Roman" panose="02020603050405020304" pitchFamily="18" charset="0"/>
                <a:cs typeface="Times New Roman" panose="02020603050405020304" pitchFamily="18" charset="0"/>
              </a:rPr>
              <a:t> and G. Hinton, “</a:t>
            </a:r>
            <a:r>
              <a:rPr lang="en-US" sz="2200" dirty="0" err="1">
                <a:solidFill>
                  <a:schemeClr val="bg1"/>
                </a:solidFill>
                <a:latin typeface="Times New Roman" panose="02020603050405020304" pitchFamily="18" charset="0"/>
                <a:cs typeface="Times New Roman" panose="02020603050405020304" pitchFamily="18" charset="0"/>
              </a:rPr>
              <a:t>ImageNet</a:t>
            </a:r>
            <a:r>
              <a:rPr lang="en-US" sz="2200" dirty="0">
                <a:solidFill>
                  <a:schemeClr val="bg1"/>
                </a:solidFill>
                <a:latin typeface="Times New Roman" panose="02020603050405020304" pitchFamily="18" charset="0"/>
                <a:cs typeface="Times New Roman" panose="02020603050405020304" pitchFamily="18" charset="0"/>
              </a:rPr>
              <a:t> Classification with Deep Convolutional Neural Networks,” NIPS, 2012</a:t>
            </a:r>
            <a:r>
              <a:rPr lang="en-US" sz="2200" dirty="0" smtClean="0">
                <a:solidFill>
                  <a:schemeClr val="bg1"/>
                </a:solidFill>
                <a:latin typeface="Times New Roman" panose="02020603050405020304" pitchFamily="18" charset="0"/>
                <a:cs typeface="Times New Roman" panose="02020603050405020304" pitchFamily="18" charset="0"/>
              </a:rPr>
              <a:t>.</a:t>
            </a:r>
          </a:p>
          <a:p>
            <a:pPr algn="just"/>
            <a:r>
              <a:rPr lang="en-US" sz="2200" dirty="0">
                <a:solidFill>
                  <a:schemeClr val="bg1"/>
                </a:solidFill>
                <a:latin typeface="Times New Roman" panose="02020603050405020304" pitchFamily="18" charset="0"/>
                <a:cs typeface="Times New Roman" panose="02020603050405020304" pitchFamily="18" charset="0"/>
              </a:rPr>
              <a:t>13. K. He, X. Zhang, S. </a:t>
            </a:r>
            <a:r>
              <a:rPr lang="en-US" sz="2200" dirty="0" err="1">
                <a:solidFill>
                  <a:schemeClr val="bg1"/>
                </a:solidFill>
                <a:latin typeface="Times New Roman" panose="02020603050405020304" pitchFamily="18" charset="0"/>
                <a:cs typeface="Times New Roman" panose="02020603050405020304" pitchFamily="18" charset="0"/>
              </a:rPr>
              <a:t>Ren</a:t>
            </a:r>
            <a:r>
              <a:rPr lang="en-US" sz="2200" dirty="0">
                <a:solidFill>
                  <a:schemeClr val="bg1"/>
                </a:solidFill>
                <a:latin typeface="Times New Roman" panose="02020603050405020304" pitchFamily="18" charset="0"/>
                <a:cs typeface="Times New Roman" panose="02020603050405020304" pitchFamily="18" charset="0"/>
              </a:rPr>
              <a:t> and J. Sun, “Deep Residual Learning for Image Recognition,” IEEE CVPR, 2016.</a:t>
            </a:r>
          </a:p>
          <a:p>
            <a:pPr algn="just"/>
            <a:r>
              <a:rPr lang="en-US" sz="2200" dirty="0">
                <a:solidFill>
                  <a:schemeClr val="bg1"/>
                </a:solidFill>
                <a:latin typeface="Times New Roman" panose="02020603050405020304" pitchFamily="18" charset="0"/>
                <a:cs typeface="Times New Roman" panose="02020603050405020304" pitchFamily="18" charset="0"/>
              </a:rPr>
              <a:t>14. W. Hardy, L. Chen, S. </a:t>
            </a:r>
            <a:r>
              <a:rPr lang="en-US" sz="2200" dirty="0" err="1">
                <a:solidFill>
                  <a:schemeClr val="bg1"/>
                </a:solidFill>
                <a:latin typeface="Times New Roman" panose="02020603050405020304" pitchFamily="18" charset="0"/>
                <a:cs typeface="Times New Roman" panose="02020603050405020304" pitchFamily="18" charset="0"/>
              </a:rPr>
              <a:t>Hou</a:t>
            </a:r>
            <a:r>
              <a:rPr lang="en-US" sz="2200" dirty="0">
                <a:solidFill>
                  <a:schemeClr val="bg1"/>
                </a:solidFill>
                <a:latin typeface="Times New Roman" panose="02020603050405020304" pitchFamily="18" charset="0"/>
                <a:cs typeface="Times New Roman" panose="02020603050405020304" pitchFamily="18" charset="0"/>
              </a:rPr>
              <a:t>, Y. Ye and X. Li, “DL4MD: A Deep Learning Framework for Intelligent Malware Detection,” Proc. Int. Conf. on Data Mining (DMIN), 2016.</a:t>
            </a:r>
          </a:p>
          <a:p>
            <a:pPr algn="just"/>
            <a:r>
              <a:rPr lang="en-US" sz="2200" dirty="0">
                <a:solidFill>
                  <a:schemeClr val="bg1"/>
                </a:solidFill>
                <a:latin typeface="Times New Roman" panose="02020603050405020304" pitchFamily="18" charset="0"/>
                <a:cs typeface="Times New Roman" panose="02020603050405020304" pitchFamily="18" charset="0"/>
              </a:rPr>
              <a:t>15. N. McLaughlin, J. Martinez del Rincon, B. Kang et al., “Deep Android Malware Detection,” Proc. ACM CODASPY, 2017.</a:t>
            </a:r>
          </a:p>
          <a:p>
            <a:pPr algn="just"/>
            <a:r>
              <a:rPr lang="en-US" sz="2200" dirty="0">
                <a:solidFill>
                  <a:schemeClr val="bg1"/>
                </a:solidFill>
                <a:latin typeface="Times New Roman" panose="02020603050405020304" pitchFamily="18" charset="0"/>
                <a:cs typeface="Times New Roman" panose="02020603050405020304" pitchFamily="18" charset="0"/>
              </a:rPr>
              <a:t>16. D. Arp, M. </a:t>
            </a:r>
            <a:r>
              <a:rPr lang="en-US" sz="2200" dirty="0" err="1">
                <a:solidFill>
                  <a:schemeClr val="bg1"/>
                </a:solidFill>
                <a:latin typeface="Times New Roman" panose="02020603050405020304" pitchFamily="18" charset="0"/>
                <a:cs typeface="Times New Roman" panose="02020603050405020304" pitchFamily="18" charset="0"/>
              </a:rPr>
              <a:t>Spreitzenbarth</a:t>
            </a:r>
            <a:r>
              <a:rPr lang="en-US" sz="2200" dirty="0">
                <a:solidFill>
                  <a:schemeClr val="bg1"/>
                </a:solidFill>
                <a:latin typeface="Times New Roman" panose="02020603050405020304" pitchFamily="18" charset="0"/>
                <a:cs typeface="Times New Roman" panose="02020603050405020304" pitchFamily="18" charset="0"/>
              </a:rPr>
              <a:t>, M. </a:t>
            </a:r>
            <a:r>
              <a:rPr lang="en-US" sz="2200" dirty="0" err="1">
                <a:solidFill>
                  <a:schemeClr val="bg1"/>
                </a:solidFill>
                <a:latin typeface="Times New Roman" panose="02020603050405020304" pitchFamily="18" charset="0"/>
                <a:cs typeface="Times New Roman" panose="02020603050405020304" pitchFamily="18" charset="0"/>
              </a:rPr>
              <a:t>Hübner</a:t>
            </a:r>
            <a:r>
              <a:rPr lang="en-US" sz="2200" dirty="0">
                <a:solidFill>
                  <a:schemeClr val="bg1"/>
                </a:solidFill>
                <a:latin typeface="Times New Roman" panose="02020603050405020304" pitchFamily="18" charset="0"/>
                <a:cs typeface="Times New Roman" panose="02020603050405020304" pitchFamily="18" charset="0"/>
              </a:rPr>
              <a:t> et al., “DREBIN: Effective and Explainable Detection of Android Malware,” NDSS, 2014.</a:t>
            </a:r>
          </a:p>
          <a:p>
            <a:pPr algn="just"/>
            <a:r>
              <a:rPr lang="en-US" sz="2200" dirty="0">
                <a:solidFill>
                  <a:schemeClr val="bg1"/>
                </a:solidFill>
                <a:latin typeface="Times New Roman" panose="02020603050405020304" pitchFamily="18" charset="0"/>
                <a:cs typeface="Times New Roman" panose="02020603050405020304" pitchFamily="18" charset="0"/>
              </a:rPr>
              <a:t>17. S. </a:t>
            </a:r>
            <a:r>
              <a:rPr lang="en-US" sz="2200" dirty="0" err="1">
                <a:solidFill>
                  <a:schemeClr val="bg1"/>
                </a:solidFill>
                <a:latin typeface="Times New Roman" panose="02020603050405020304" pitchFamily="18" charset="0"/>
                <a:cs typeface="Times New Roman" panose="02020603050405020304" pitchFamily="18" charset="0"/>
              </a:rPr>
              <a:t>Hou</a:t>
            </a:r>
            <a:r>
              <a:rPr lang="en-US" sz="2200" dirty="0">
                <a:solidFill>
                  <a:schemeClr val="bg1"/>
                </a:solidFill>
                <a:latin typeface="Times New Roman" panose="02020603050405020304" pitchFamily="18" charset="0"/>
                <a:cs typeface="Times New Roman" panose="02020603050405020304" pitchFamily="18" charset="0"/>
              </a:rPr>
              <a:t>, Y. Ye, Y. Song and M. </a:t>
            </a:r>
            <a:r>
              <a:rPr lang="en-US" sz="2200" dirty="0" err="1">
                <a:solidFill>
                  <a:schemeClr val="bg1"/>
                </a:solidFill>
                <a:latin typeface="Times New Roman" panose="02020603050405020304" pitchFamily="18" charset="0"/>
                <a:cs typeface="Times New Roman" panose="02020603050405020304" pitchFamily="18" charset="0"/>
              </a:rPr>
              <a:t>Abdulhayoglu</a:t>
            </a:r>
            <a:r>
              <a:rPr lang="en-US" sz="2200" dirty="0">
                <a:solidFill>
                  <a:schemeClr val="bg1"/>
                </a:solidFill>
                <a:latin typeface="Times New Roman" panose="02020603050405020304" pitchFamily="18" charset="0"/>
                <a:cs typeface="Times New Roman" panose="02020603050405020304" pitchFamily="18" charset="0"/>
              </a:rPr>
              <a:t>, “</a:t>
            </a:r>
            <a:r>
              <a:rPr lang="en-US" sz="2200" dirty="0" err="1">
                <a:solidFill>
                  <a:schemeClr val="bg1"/>
                </a:solidFill>
                <a:latin typeface="Times New Roman" panose="02020603050405020304" pitchFamily="18" charset="0"/>
                <a:cs typeface="Times New Roman" panose="02020603050405020304" pitchFamily="18" charset="0"/>
              </a:rPr>
              <a:t>Hindroid</a:t>
            </a:r>
            <a:r>
              <a:rPr lang="en-US" sz="2200" dirty="0">
                <a:solidFill>
                  <a:schemeClr val="bg1"/>
                </a:solidFill>
                <a:latin typeface="Times New Roman" panose="02020603050405020304" pitchFamily="18" charset="0"/>
                <a:cs typeface="Times New Roman" panose="02020603050405020304" pitchFamily="18" charset="0"/>
              </a:rPr>
              <a:t>: An Intelligent Android Malware Detection System,” Proc. ACM SIGKDD, 2016.</a:t>
            </a:r>
          </a:p>
          <a:p>
            <a:pPr algn="just"/>
            <a:r>
              <a:rPr lang="en-US" sz="2200" dirty="0">
                <a:solidFill>
                  <a:schemeClr val="bg1"/>
                </a:solidFill>
                <a:latin typeface="Times New Roman" panose="02020603050405020304" pitchFamily="18" charset="0"/>
                <a:cs typeface="Times New Roman" panose="02020603050405020304" pitchFamily="18" charset="0"/>
              </a:rPr>
              <a:t>18. B. </a:t>
            </a:r>
            <a:r>
              <a:rPr lang="en-US" sz="2200" dirty="0" err="1">
                <a:solidFill>
                  <a:schemeClr val="bg1"/>
                </a:solidFill>
                <a:latin typeface="Times New Roman" panose="02020603050405020304" pitchFamily="18" charset="0"/>
                <a:cs typeface="Times New Roman" panose="02020603050405020304" pitchFamily="18" charset="0"/>
              </a:rPr>
              <a:t>Biggio</a:t>
            </a:r>
            <a:r>
              <a:rPr lang="en-US" sz="2200" dirty="0">
                <a:solidFill>
                  <a:schemeClr val="bg1"/>
                </a:solidFill>
                <a:latin typeface="Times New Roman" panose="02020603050405020304" pitchFamily="18" charset="0"/>
                <a:cs typeface="Times New Roman" panose="02020603050405020304" pitchFamily="18" charset="0"/>
              </a:rPr>
              <a:t> and F. </a:t>
            </a:r>
            <a:r>
              <a:rPr lang="en-US" sz="2200" dirty="0" err="1">
                <a:solidFill>
                  <a:schemeClr val="bg1"/>
                </a:solidFill>
                <a:latin typeface="Times New Roman" panose="02020603050405020304" pitchFamily="18" charset="0"/>
                <a:cs typeface="Times New Roman" panose="02020603050405020304" pitchFamily="18" charset="0"/>
              </a:rPr>
              <a:t>Roli</a:t>
            </a:r>
            <a:r>
              <a:rPr lang="en-US" sz="2200" dirty="0">
                <a:solidFill>
                  <a:schemeClr val="bg1"/>
                </a:solidFill>
                <a:latin typeface="Times New Roman" panose="02020603050405020304" pitchFamily="18" charset="0"/>
                <a:cs typeface="Times New Roman" panose="02020603050405020304" pitchFamily="18" charset="0"/>
              </a:rPr>
              <a:t>, “Wild Patterns: Ten Years After the Rise of Adversarial Machine Learning,” Pattern Recognition, 2018.</a:t>
            </a:r>
          </a:p>
          <a:p>
            <a:pPr algn="just"/>
            <a:r>
              <a:rPr lang="en-US" sz="2200" dirty="0">
                <a:solidFill>
                  <a:schemeClr val="bg1"/>
                </a:solidFill>
                <a:latin typeface="Times New Roman" panose="02020603050405020304" pitchFamily="18" charset="0"/>
                <a:cs typeface="Times New Roman" panose="02020603050405020304" pitchFamily="18" charset="0"/>
              </a:rPr>
              <a:t>19. N. </a:t>
            </a:r>
            <a:r>
              <a:rPr lang="en-US" sz="2200" dirty="0" err="1">
                <a:solidFill>
                  <a:schemeClr val="bg1"/>
                </a:solidFill>
                <a:latin typeface="Times New Roman" panose="02020603050405020304" pitchFamily="18" charset="0"/>
                <a:cs typeface="Times New Roman" panose="02020603050405020304" pitchFamily="18" charset="0"/>
              </a:rPr>
              <a:t>Papernot</a:t>
            </a:r>
            <a:r>
              <a:rPr lang="en-US" sz="2200" dirty="0">
                <a:solidFill>
                  <a:schemeClr val="bg1"/>
                </a:solidFill>
                <a:latin typeface="Times New Roman" panose="02020603050405020304" pitchFamily="18" charset="0"/>
                <a:cs typeface="Times New Roman" panose="02020603050405020304" pitchFamily="18" charset="0"/>
              </a:rPr>
              <a:t>, P. McDaniel, I. </a:t>
            </a:r>
            <a:r>
              <a:rPr lang="en-US" sz="2200" dirty="0" err="1">
                <a:solidFill>
                  <a:schemeClr val="bg1"/>
                </a:solidFill>
                <a:latin typeface="Times New Roman" panose="02020603050405020304" pitchFamily="18" charset="0"/>
                <a:cs typeface="Times New Roman" panose="02020603050405020304" pitchFamily="18" charset="0"/>
              </a:rPr>
              <a:t>Goodfellow</a:t>
            </a:r>
            <a:r>
              <a:rPr lang="en-US" sz="2200" dirty="0">
                <a:solidFill>
                  <a:schemeClr val="bg1"/>
                </a:solidFill>
                <a:latin typeface="Times New Roman" panose="02020603050405020304" pitchFamily="18" charset="0"/>
                <a:cs typeface="Times New Roman" panose="02020603050405020304" pitchFamily="18" charset="0"/>
              </a:rPr>
              <a:t> et al., “Practical Black-Box Attacks Against Machine Learning,” Proc. ACM </a:t>
            </a:r>
            <a:r>
              <a:rPr lang="en-US" sz="2200" dirty="0" err="1">
                <a:solidFill>
                  <a:schemeClr val="bg1"/>
                </a:solidFill>
                <a:latin typeface="Times New Roman" panose="02020603050405020304" pitchFamily="18" charset="0"/>
                <a:cs typeface="Times New Roman" panose="02020603050405020304" pitchFamily="18" charset="0"/>
              </a:rPr>
              <a:t>AsiaCCS</a:t>
            </a:r>
            <a:r>
              <a:rPr lang="en-US" sz="2200" dirty="0">
                <a:solidFill>
                  <a:schemeClr val="bg1"/>
                </a:solidFill>
                <a:latin typeface="Times New Roman" panose="02020603050405020304" pitchFamily="18" charset="0"/>
                <a:cs typeface="Times New Roman" panose="02020603050405020304" pitchFamily="18" charset="0"/>
              </a:rPr>
              <a:t>, 2017.</a:t>
            </a:r>
          </a:p>
          <a:p>
            <a:pPr algn="just"/>
            <a:r>
              <a:rPr lang="en-US" sz="2200" dirty="0">
                <a:solidFill>
                  <a:schemeClr val="bg1"/>
                </a:solidFill>
                <a:latin typeface="Times New Roman" panose="02020603050405020304" pitchFamily="18" charset="0"/>
                <a:cs typeface="Times New Roman" panose="02020603050405020304" pitchFamily="18" charset="0"/>
              </a:rPr>
              <a:t>20. M. </a:t>
            </a:r>
            <a:r>
              <a:rPr lang="en-US" sz="2200" dirty="0" err="1">
                <a:solidFill>
                  <a:schemeClr val="bg1"/>
                </a:solidFill>
                <a:latin typeface="Times New Roman" panose="02020603050405020304" pitchFamily="18" charset="0"/>
                <a:cs typeface="Times New Roman" panose="02020603050405020304" pitchFamily="18" charset="0"/>
              </a:rPr>
              <a:t>Rigaki</a:t>
            </a:r>
            <a:r>
              <a:rPr lang="en-US" sz="2200" dirty="0">
                <a:solidFill>
                  <a:schemeClr val="bg1"/>
                </a:solidFill>
                <a:latin typeface="Times New Roman" panose="02020603050405020304" pitchFamily="18" charset="0"/>
                <a:cs typeface="Times New Roman" panose="02020603050405020304" pitchFamily="18" charset="0"/>
              </a:rPr>
              <a:t> and S. Garcia, “Bringing a GAN to a Knife-Fight: Adapting Malware Communication to Avoid Detection,” IEEE Security Workshops, 2018.</a:t>
            </a:r>
          </a:p>
          <a:p>
            <a:pPr algn="just"/>
            <a:endParaRPr lang="en-US" sz="2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8225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sp>
      <p:sp>
        <p:nvSpPr>
          <p:cNvPr id="3" name="Freeform 3"/>
          <p:cNvSpPr/>
          <p:nvPr/>
        </p:nvSpPr>
        <p:spPr>
          <a:xfrm rot="5400000">
            <a:off x="-3928774" y="4614303"/>
            <a:ext cx="8289535" cy="9287994"/>
          </a:xfrm>
          <a:custGeom>
            <a:avLst/>
            <a:gdLst/>
            <a:ahLst/>
            <a:cxnLst/>
            <a:rect l="l" t="t" r="r" b="b"/>
            <a:pathLst>
              <a:path w="8289535" h="9287994">
                <a:moveTo>
                  <a:pt x="0" y="0"/>
                </a:moveTo>
                <a:lnTo>
                  <a:pt x="8289534" y="0"/>
                </a:lnTo>
                <a:lnTo>
                  <a:pt x="8289534" y="9287994"/>
                </a:lnTo>
                <a:lnTo>
                  <a:pt x="0" y="9287994"/>
                </a:lnTo>
                <a:lnTo>
                  <a:pt x="0" y="0"/>
                </a:lnTo>
                <a:close/>
              </a:path>
            </a:pathLst>
          </a:custGeom>
          <a:blipFill>
            <a:blip r:embed="rId3">
              <a:alphaModFix amt="80000"/>
            </a:blip>
            <a:stretch>
              <a:fillRect/>
            </a:stretch>
          </a:blipFill>
        </p:spPr>
      </p:sp>
      <p:sp>
        <p:nvSpPr>
          <p:cNvPr id="4" name="Freeform 4"/>
          <p:cNvSpPr/>
          <p:nvPr/>
        </p:nvSpPr>
        <p:spPr>
          <a:xfrm>
            <a:off x="13076648" y="-3116067"/>
            <a:ext cx="9639356" cy="8229600"/>
          </a:xfrm>
          <a:custGeom>
            <a:avLst/>
            <a:gdLst/>
            <a:ahLst/>
            <a:cxnLst/>
            <a:rect l="l" t="t" r="r" b="b"/>
            <a:pathLst>
              <a:path w="9639356" h="8229600">
                <a:moveTo>
                  <a:pt x="0" y="0"/>
                </a:moveTo>
                <a:lnTo>
                  <a:pt x="9639356" y="0"/>
                </a:lnTo>
                <a:lnTo>
                  <a:pt x="9639356" y="8229600"/>
                </a:lnTo>
                <a:lnTo>
                  <a:pt x="0" y="8229600"/>
                </a:lnTo>
                <a:lnTo>
                  <a:pt x="0" y="0"/>
                </a:lnTo>
                <a:close/>
              </a:path>
            </a:pathLst>
          </a:custGeom>
          <a:blipFill>
            <a:blip r:embed="rId4">
              <a:alphaModFix amt="80000"/>
            </a:blip>
            <a:stretch>
              <a:fillRect/>
            </a:stretch>
          </a:blipFill>
        </p:spPr>
      </p:sp>
      <p:sp>
        <p:nvSpPr>
          <p:cNvPr id="5" name="TextBox 5"/>
          <p:cNvSpPr txBox="1"/>
          <p:nvPr/>
        </p:nvSpPr>
        <p:spPr>
          <a:xfrm>
            <a:off x="5884329" y="3178782"/>
            <a:ext cx="6519342" cy="3834187"/>
          </a:xfrm>
          <a:prstGeom prst="rect">
            <a:avLst/>
          </a:prstGeom>
        </p:spPr>
        <p:txBody>
          <a:bodyPr lIns="0" tIns="0" rIns="0" bIns="0" rtlCol="0" anchor="t">
            <a:spAutoFit/>
          </a:bodyPr>
          <a:lstStyle/>
          <a:p>
            <a:pPr marL="0" lvl="0" indent="0" algn="ctr">
              <a:lnSpc>
                <a:spcPts val="13913"/>
              </a:lnSpc>
            </a:pPr>
            <a:r>
              <a:rPr lang="en-US" sz="13003" b="1">
                <a:solidFill>
                  <a:srgbClr val="FFFFFF"/>
                </a:solidFill>
                <a:latin typeface="Neo Tech Bold"/>
                <a:ea typeface="Neo Tech Bold"/>
                <a:cs typeface="Neo Tech Bold"/>
                <a:sym typeface="Neo Tech Bold"/>
              </a:rPr>
              <a:t>THANK YOU!</a:t>
            </a:r>
          </a:p>
        </p:txBody>
      </p:sp>
      <p:sp>
        <p:nvSpPr>
          <p:cNvPr id="7" name="Freeform 7"/>
          <p:cNvSpPr/>
          <p:nvPr/>
        </p:nvSpPr>
        <p:spPr>
          <a:xfrm>
            <a:off x="-1448181" y="-1104614"/>
            <a:ext cx="2896362" cy="2896362"/>
          </a:xfrm>
          <a:custGeom>
            <a:avLst/>
            <a:gdLst/>
            <a:ahLst/>
            <a:cxnLst/>
            <a:rect l="l" t="t" r="r" b="b"/>
            <a:pathLst>
              <a:path w="2896362" h="2896362">
                <a:moveTo>
                  <a:pt x="0" y="0"/>
                </a:moveTo>
                <a:lnTo>
                  <a:pt x="2896362" y="0"/>
                </a:lnTo>
                <a:lnTo>
                  <a:pt x="2896362" y="2896361"/>
                </a:lnTo>
                <a:lnTo>
                  <a:pt x="0" y="2896361"/>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Freeform 8"/>
          <p:cNvSpPr/>
          <p:nvPr/>
        </p:nvSpPr>
        <p:spPr>
          <a:xfrm>
            <a:off x="16523882" y="8403861"/>
            <a:ext cx="2896362" cy="2896362"/>
          </a:xfrm>
          <a:custGeom>
            <a:avLst/>
            <a:gdLst/>
            <a:ahLst/>
            <a:cxnLst/>
            <a:rect l="l" t="t" r="r" b="b"/>
            <a:pathLst>
              <a:path w="2896362" h="2896362">
                <a:moveTo>
                  <a:pt x="0" y="0"/>
                </a:moveTo>
                <a:lnTo>
                  <a:pt x="2896361" y="0"/>
                </a:lnTo>
                <a:lnTo>
                  <a:pt x="2896361" y="2896362"/>
                </a:lnTo>
                <a:lnTo>
                  <a:pt x="0" y="289636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9" name="Freeform 5"/>
          <p:cNvSpPr/>
          <p:nvPr/>
        </p:nvSpPr>
        <p:spPr>
          <a:xfrm>
            <a:off x="10995704" y="1088583"/>
            <a:ext cx="5723575" cy="8208841"/>
          </a:xfrm>
          <a:custGeom>
            <a:avLst/>
            <a:gdLst/>
            <a:ahLst/>
            <a:cxnLst/>
            <a:rect l="l" t="t" r="r" b="b"/>
            <a:pathLst>
              <a:path w="5531178" h="6424133">
                <a:moveTo>
                  <a:pt x="0" y="0"/>
                </a:moveTo>
                <a:lnTo>
                  <a:pt x="5531178" y="0"/>
                </a:lnTo>
                <a:lnTo>
                  <a:pt x="5531178" y="6424132"/>
                </a:lnTo>
                <a:lnTo>
                  <a:pt x="0" y="6424132"/>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0" name="Freeform 6"/>
          <p:cNvSpPr/>
          <p:nvPr/>
        </p:nvSpPr>
        <p:spPr>
          <a:xfrm>
            <a:off x="4201958" y="1088584"/>
            <a:ext cx="1546747" cy="2090198"/>
          </a:xfrm>
          <a:custGeom>
            <a:avLst/>
            <a:gdLst/>
            <a:ahLst/>
            <a:cxnLst/>
            <a:rect l="l" t="t" r="r" b="b"/>
            <a:pathLst>
              <a:path w="1546747" h="2090198">
                <a:moveTo>
                  <a:pt x="0" y="0"/>
                </a:moveTo>
                <a:lnTo>
                  <a:pt x="1546746" y="0"/>
                </a:lnTo>
                <a:lnTo>
                  <a:pt x="1546746" y="2090198"/>
                </a:lnTo>
                <a:lnTo>
                  <a:pt x="0" y="2090198"/>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1" name="Freeform 8"/>
          <p:cNvSpPr/>
          <p:nvPr/>
        </p:nvSpPr>
        <p:spPr>
          <a:xfrm>
            <a:off x="4066336" y="3381417"/>
            <a:ext cx="1817993" cy="2057400"/>
          </a:xfrm>
          <a:custGeom>
            <a:avLst/>
            <a:gdLst/>
            <a:ahLst/>
            <a:cxnLst/>
            <a:rect l="l" t="t" r="r" b="b"/>
            <a:pathLst>
              <a:path w="1817993" h="2057400">
                <a:moveTo>
                  <a:pt x="0" y="0"/>
                </a:moveTo>
                <a:lnTo>
                  <a:pt x="1817994" y="0"/>
                </a:lnTo>
                <a:lnTo>
                  <a:pt x="1817994" y="2057400"/>
                </a:lnTo>
                <a:lnTo>
                  <a:pt x="0" y="2057400"/>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sp>
      <p:sp>
        <p:nvSpPr>
          <p:cNvPr id="12" name="Freeform 5"/>
          <p:cNvSpPr/>
          <p:nvPr/>
        </p:nvSpPr>
        <p:spPr>
          <a:xfrm>
            <a:off x="3855739" y="5641451"/>
            <a:ext cx="2711961" cy="1671554"/>
          </a:xfrm>
          <a:custGeom>
            <a:avLst/>
            <a:gdLst/>
            <a:ahLst/>
            <a:cxnLst/>
            <a:rect l="l" t="t" r="r" b="b"/>
            <a:pathLst>
              <a:path w="2711961" h="1671554">
                <a:moveTo>
                  <a:pt x="0" y="0"/>
                </a:moveTo>
                <a:lnTo>
                  <a:pt x="2711962" y="0"/>
                </a:lnTo>
                <a:lnTo>
                  <a:pt x="2711962" y="1671555"/>
                </a:lnTo>
                <a:lnTo>
                  <a:pt x="0" y="1671555"/>
                </a:lnTo>
                <a:lnTo>
                  <a:pt x="0" y="0"/>
                </a:lnTo>
                <a:close/>
              </a:path>
            </a:pathLst>
          </a:custGeom>
          <a:blipFill>
            <a:blip r:embed="rId13">
              <a:extLst>
                <a:ext uri="{96DAC541-7B7A-43D3-8B79-37D633B846F1}">
                  <asvg:svgBlip xmlns:asvg="http://schemas.microsoft.com/office/drawing/2016/SVG/main" xmlns="" r:embed="rId14"/>
                </a:ext>
              </a:extLst>
            </a:blip>
            <a:stretch>
              <a:fillRect/>
            </a:stretch>
          </a:blipFill>
        </p:spPr>
      </p:sp>
      <p:sp>
        <p:nvSpPr>
          <p:cNvPr id="13" name="Freeform 7"/>
          <p:cNvSpPr/>
          <p:nvPr/>
        </p:nvSpPr>
        <p:spPr>
          <a:xfrm>
            <a:off x="3964953" y="7840924"/>
            <a:ext cx="2493532" cy="1759073"/>
          </a:xfrm>
          <a:custGeom>
            <a:avLst/>
            <a:gdLst/>
            <a:ahLst/>
            <a:cxnLst/>
            <a:rect l="l" t="t" r="r" b="b"/>
            <a:pathLst>
              <a:path w="2493532" h="1759073">
                <a:moveTo>
                  <a:pt x="0" y="0"/>
                </a:moveTo>
                <a:lnTo>
                  <a:pt x="2493532" y="0"/>
                </a:lnTo>
                <a:lnTo>
                  <a:pt x="2493532" y="1759074"/>
                </a:lnTo>
                <a:lnTo>
                  <a:pt x="0" y="1759074"/>
                </a:lnTo>
                <a:lnTo>
                  <a:pt x="0" y="0"/>
                </a:lnTo>
                <a:close/>
              </a:path>
            </a:pathLst>
          </a:custGeom>
          <a:blipFill>
            <a:blip r:embed="rId15">
              <a:extLst>
                <a:ext uri="{96DAC541-7B7A-43D3-8B79-37D633B846F1}">
                  <asvg:svgBlip xmlns:asvg="http://schemas.microsoft.com/office/drawing/2016/SVG/main" xmlns="" r:embed="rId16"/>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808</TotalTime>
  <Words>2070</Words>
  <Application>Microsoft Office PowerPoint</Application>
  <PresentationFormat>Custom</PresentationFormat>
  <Paragraphs>244</Paragraphs>
  <Slides>22</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Vrinda</vt:lpstr>
      <vt:lpstr>Cambria</vt:lpstr>
      <vt:lpstr>Calibri</vt:lpstr>
      <vt:lpstr>MS Mincho</vt:lpstr>
      <vt:lpstr>Courier New</vt:lpstr>
      <vt:lpstr>Neo Tech Bold</vt:lpstr>
      <vt:lpstr>Wingdings</vt:lpstr>
      <vt:lpstr>Times New Roman</vt:lpstr>
      <vt:lpstr>Neo Tech</vt:lpstr>
      <vt:lpstr>Symbol</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98</cp:revision>
  <dcterms:created xsi:type="dcterms:W3CDTF">2006-08-16T00:00:00Z</dcterms:created>
  <dcterms:modified xsi:type="dcterms:W3CDTF">2026-05-04T05:17:24Z</dcterms:modified>
  <dc:identifier>DAHGps9r7Lo</dc:identifier>
</cp:coreProperties>
</file>